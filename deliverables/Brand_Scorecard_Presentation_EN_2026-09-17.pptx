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236affefe145ad" /><Relationship Type="http://schemas.openxmlformats.org/officeDocument/2006/relationships/extended-properties" Target="/docProps/app.xml" Id="R256cb3cc5357427a" /><Relationship Type="http://schemas.openxmlformats.org/officeDocument/2006/relationships/officeDocument" Target="/ppt/presentation.xml" Id="R90160f166ad34292" /></Relationships>
</file>

<file path=ppt/presentation.xml><?xml version="1.0" encoding="utf-8"?>
<p:presentation xmlns:p="http://schemas.openxmlformats.org/presentationml/2006/main">
  <p:sldMasterIdLst>
    <p:sldMasterId xmlns:r="http://schemas.openxmlformats.org/officeDocument/2006/relationships" id="2147483648" r:id="Ra6f2994f64f74a6b"/>
  </p:sldMasterIdLst>
  <p:notesMasterIdLst>
    <p:notesMasterId xmlns:r="http://schemas.openxmlformats.org/officeDocument/2006/relationships" r:id="Rf94d659300184a0b"/>
  </p:notesMasterIdLst>
  <p:sldIdLst>
    <p:sldId xmlns:r="http://schemas.openxmlformats.org/officeDocument/2006/relationships" id="256" r:id="R6b20cd1375fe461a"/>
    <p:sldId xmlns:r="http://schemas.openxmlformats.org/officeDocument/2006/relationships" id="257" r:id="Rbae47bab8ed148a0"/>
    <p:sldId xmlns:r="http://schemas.openxmlformats.org/officeDocument/2006/relationships" id="258" r:id="Rddf6385baa2247ad"/>
    <p:sldId xmlns:r="http://schemas.openxmlformats.org/officeDocument/2006/relationships" id="259" r:id="R85ada034cf4a4e32"/>
    <p:sldId xmlns:r="http://schemas.openxmlformats.org/officeDocument/2006/relationships" id="260" r:id="R62adf50907dc444c"/>
    <p:sldId xmlns:r="http://schemas.openxmlformats.org/officeDocument/2006/relationships" id="261" r:id="Rce756201ef234de5"/>
    <p:sldId xmlns:r="http://schemas.openxmlformats.org/officeDocument/2006/relationships" id="262" r:id="Refb2ca51d5b346e4"/>
    <p:sldId xmlns:r="http://schemas.openxmlformats.org/officeDocument/2006/relationships" id="263" r:id="R5f2589aacab9487b"/>
    <p:sldId xmlns:r="http://schemas.openxmlformats.org/officeDocument/2006/relationships" id="264" r:id="Re8ae04b37f424c2f"/>
    <p:sldId xmlns:r="http://schemas.openxmlformats.org/officeDocument/2006/relationships" id="265" r:id="Rb967af0fb9c544ac"/>
    <p:sldId xmlns:r="http://schemas.openxmlformats.org/officeDocument/2006/relationships" id="266" r:id="R241d3f0de84f4a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cda3d2ff054bf6" /><Relationship Type="http://schemas.openxmlformats.org/officeDocument/2006/relationships/slideMaster" Target="/ppt/slideMasters/slideMaster1.xml" Id="Ra6f2994f64f74a6b" /><Relationship Type="http://schemas.openxmlformats.org/officeDocument/2006/relationships/notesMaster" Target="/ppt/notesMasters/notesMaster1.xml" Id="Rf94d659300184a0b" /><Relationship Type="http://schemas.openxmlformats.org/officeDocument/2006/relationships/presProps" Target="/ppt/presProps.xml" Id="R78e6c16c88b04205" /><Relationship Type="http://schemas.openxmlformats.org/officeDocument/2006/relationships/tableStyles" Target="/ppt/tableStyles.xml" Id="R5eb78cbed6fc400e" /><Relationship Type="http://schemas.openxmlformats.org/officeDocument/2006/relationships/slide" Target="/ppt/slides/slide1.xml" Id="R6b20cd1375fe461a" /><Relationship Type="http://schemas.openxmlformats.org/officeDocument/2006/relationships/slide" Target="/ppt/slides/slide2.xml" Id="Rbae47bab8ed148a0" /><Relationship Type="http://schemas.openxmlformats.org/officeDocument/2006/relationships/slide" Target="/ppt/slides/slide3.xml" Id="Rddf6385baa2247ad" /><Relationship Type="http://schemas.openxmlformats.org/officeDocument/2006/relationships/slide" Target="/ppt/slides/slide4.xml" Id="R85ada034cf4a4e32" /><Relationship Type="http://schemas.openxmlformats.org/officeDocument/2006/relationships/slide" Target="/ppt/slides/slide5.xml" Id="R62adf50907dc444c" /><Relationship Type="http://schemas.openxmlformats.org/officeDocument/2006/relationships/slide" Target="/ppt/slides/slide6.xml" Id="Rce756201ef234de5" /><Relationship Type="http://schemas.openxmlformats.org/officeDocument/2006/relationships/slide" Target="/ppt/slides/slide7.xml" Id="Refb2ca51d5b346e4" /><Relationship Type="http://schemas.openxmlformats.org/officeDocument/2006/relationships/slide" Target="/ppt/slides/slide8.xml" Id="R5f2589aacab9487b" /><Relationship Type="http://schemas.openxmlformats.org/officeDocument/2006/relationships/slide" Target="/ppt/slides/slide9.xml" Id="Re8ae04b37f424c2f" /><Relationship Type="http://schemas.openxmlformats.org/officeDocument/2006/relationships/slide" Target="/ppt/slides/slide10.xml" Id="Rb967af0fb9c544ac" /><Relationship Type="http://schemas.openxmlformats.org/officeDocument/2006/relationships/slide" Target="/ppt/slides/slide11.xml" Id="R241d3f0de84f4a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6dd32bf9b445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80975" dist="69343" dir="4443276">
              <a:srgbClr val="182541">
                <a:alpha val="1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2ccae6540e4142" /><Relationship Type="http://schemas.openxmlformats.org/officeDocument/2006/relationships/notesMaster" Target="/ppt/notesMasters/notesMaster1.xml" Id="Rf700eca33c884b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33a388458a48e0" /><Relationship Type="http://schemas.openxmlformats.org/officeDocument/2006/relationships/notesMaster" Target="/ppt/notesMasters/notesMaster1.xml" Id="R0206941e8f304d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99ca5ae8f74fe5" /><Relationship Type="http://schemas.openxmlformats.org/officeDocument/2006/relationships/notesMaster" Target="/ppt/notesMasters/notesMaster1.xml" Id="R20545d87400c43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7b6b0b238e46fe" /><Relationship Type="http://schemas.openxmlformats.org/officeDocument/2006/relationships/notesMaster" Target="/ppt/notesMasters/notesMaster1.xml" Id="R985c449e9f8449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5ba880e63f4ee5" /><Relationship Type="http://schemas.openxmlformats.org/officeDocument/2006/relationships/notesMaster" Target="/ppt/notesMasters/notesMaster1.xml" Id="R17e6ec1aadf942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477e72d4ac4933" /><Relationship Type="http://schemas.openxmlformats.org/officeDocument/2006/relationships/notesMaster" Target="/ppt/notesMasters/notesMaster1.xml" Id="R723e162a566343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853c6a86c54e06" /><Relationship Type="http://schemas.openxmlformats.org/officeDocument/2006/relationships/notesMaster" Target="/ppt/notesMasters/notesMaster1.xml" Id="Re3cb2239b18a47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38fb256af34f55" /><Relationship Type="http://schemas.openxmlformats.org/officeDocument/2006/relationships/notesMaster" Target="/ppt/notesMasters/notesMaster1.xml" Id="Rf4be5f0afd7c48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c84ba3c7f446df" /><Relationship Type="http://schemas.openxmlformats.org/officeDocument/2006/relationships/notesMaster" Target="/ppt/notesMasters/notesMaster1.xml" Id="R743df602c0604b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fa5413b0ca4ebb" /><Relationship Type="http://schemas.openxmlformats.org/officeDocument/2006/relationships/notesMaster" Target="/ppt/notesMasters/notesMaster1.xml" Id="Re8bababf406b4b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ecc234032344f8" /><Relationship Type="http://schemas.openxmlformats.org/officeDocument/2006/relationships/notesMaster" Target="/ppt/notesMasters/notesMaster1.xml" Id="R7408cd7fdcd341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will present the Brand Scorecard. It gives the commercial team one place to assess brands, compare results, and support portfolio decisions. The tool combines a clear scoring method with a database, dashboards, and export options. I will show the full user journey and explain how the data stays available between sessions.</a:t>
            </a:r>
          </a:p>
          <a:p xmlns:a="http://schemas.openxmlformats.org/drawingml/2006/main">
            <a:r>
              <a:t/>
            </a:r>
          </a:p>
          <a:p xmlns:a="http://schemas.openxmlformats.org/drawingml/2006/main">
            <a:r>
              <a:t>Source: Brand Scorecard application v2.5.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started with a simple business problem. Brand information was stored in different files, and it was hard to compare brands in the same way. The new application creates one structured process. It keeps the data, calculates the scores, and gives management a clear view of each brand. This reduces manual work and makes discussions more consistent.</a:t>
            </a:r>
          </a:p>
          <a:p xmlns:a="http://schemas.openxmlformats.org/drawingml/2006/main">
            <a:r>
              <a:t/>
            </a:r>
          </a:p>
          <a:p xmlns:a="http://schemas.openxmlformats.org/drawingml/2006/main">
            <a:r>
              <a:t>Source: project workflow and Brand Scorecard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assessment screen. The user first selects the categories and brand families. A brand can belong to more than one category or family. The commercial owner and status make responsibility clear. The assessment is divided into sections, so the user can work through the criteria in a logical order. When the user saves, the complete record goes to the database.</a:t>
            </a:r>
          </a:p>
          <a:p xmlns:a="http://schemas.openxmlformats.org/drawingml/2006/main">
            <a:r>
              <a:t/>
            </a:r>
          </a:p>
          <a:p xmlns:a="http://schemas.openxmlformats.org/drawingml/2006/main">
            <a:r>
              <a:t>Source: Brand Scorecard application v2.5.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scoring method stays visible inside the application. There are seven descriptive criteria and twenty strategic criteria. The descriptive scale runs from one to four. The strategic scale runs from minus two to plus two. Each definition can be reviewed in the Scoring Framework page. If a criterion is not assessed, it remains blank and does not reduce or increase the average.</a:t>
            </a:r>
          </a:p>
          <a:p xmlns:a="http://schemas.openxmlformats.org/drawingml/2006/main">
            <a:r>
              <a:t/>
            </a:r>
          </a:p>
          <a:p xmlns:a="http://schemas.openxmlformats.org/drawingml/2006/main">
            <a:r>
              <a:t>Source: Brand Scorecard scoring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Overview now works at brand level. The user can select one or several brands. Each selected brand has its own expandable section with descriptive score, strategic score, completeness, recommendation, and status. The same filter also updates the charts and the recommendation table. This makes the page useful for both a focused brand review and a wider portfolio discussion.</a:t>
            </a:r>
          </a:p>
          <a:p xmlns:a="http://schemas.openxmlformats.org/drawingml/2006/main">
            <a:r>
              <a:t/>
            </a:r>
          </a:p>
          <a:p xmlns:a="http://schemas.openxmlformats.org/drawingml/2006/main">
            <a:r>
              <a:t>Source: Brand Scorecard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Portfolio page gives the team one operating list. Users can filter by category, brand family, commercial owner, recommendation, and status. This helps the team prepare review meetings and focus on the records that need action. The table also shows completeness, which makes missing work easy to see. Users return to the assessment page when they need to update a brand.</a:t>
            </a:r>
          </a:p>
          <a:p xmlns:a="http://schemas.openxmlformats.org/drawingml/2006/main">
            <a:r>
              <a:t/>
            </a:r>
          </a:p>
          <a:p xmlns:a="http://schemas.openxmlformats.org/drawingml/2006/main">
            <a:r>
              <a:t>Source: Brand Scorecard Portfolio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Comparative Analysis page supports several views. This example shows the strategic profile radar. The user can select several brands, and each brand receives a different color. The chart compares attractiveness, operations, relationships, solvability, and execution fit. The other tabs provide a ranking, detailed descriptive scores, and strategic pillar heatmaps.</a:t>
            </a:r>
          </a:p>
          <a:p xmlns:a="http://schemas.openxmlformats.org/drawingml/2006/main">
            <a:r>
              <a:t/>
            </a:r>
          </a:p>
          <a:p xmlns:a="http://schemas.openxmlformats.org/drawingml/2006/main">
            <a:r>
              <a:t>Source: Brand Scorecard Comparative Analysis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uses SQLite for persistent storage. There is no separate database server to start. The database file opens automatically when the app starts. Each save writes the full brand assessment, and the settings are stored in a separate table. DB Browser can open the file for inspection. Normal changes should still be made through the application, because the app protects the expected data structure.</a:t>
            </a:r>
          </a:p>
          <a:p xmlns:a="http://schemas.openxmlformats.org/drawingml/2006/main">
            <a:r>
              <a:t/>
            </a:r>
          </a:p>
          <a:p xmlns:a="http://schemas.openxmlformats.org/drawingml/2006/main">
            <a:r>
              <a:t>Source: database.py and local DB Browser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and export remain available around the database. Import is useful for historical data or larger updates. The application then becomes the main place for daily work. Export creates a simple CSV file or a complete Excel review pack with scores, rankings, settings, and methodology. This gives the team flexibility without losing the persistent database.</a:t>
            </a:r>
          </a:p>
          <a:p xmlns:a="http://schemas.openxmlformats.org/drawingml/2006/main">
            <a:r>
              <a:t/>
            </a:r>
          </a:p>
          <a:p xmlns:a="http://schemas.openxmlformats.org/drawingml/2006/main">
            <a:r>
              <a:t>Source: Brand Scorecard Exports page and import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includes basic controls for safe daily use. Saving is automatic, and updates reuse the same brand record. Deleting a brand requires an explicit confirmation. Export files can support review meetings and backup routines. The recommended rule is simple: users should make changes in the application and use DB Browser only to inspect the database.</a:t>
            </a:r>
          </a:p>
          <a:p xmlns:a="http://schemas.openxmlformats.org/drawingml/2006/main">
            <a:r>
              <a:t/>
            </a:r>
          </a:p>
          <a:p xmlns:a="http://schemas.openxmlformats.org/drawingml/2006/main">
            <a:r>
              <a:t>Source: Brand Scorecard database and delete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value is a faster and more consistent review process. The team can compare brands using the same method, see who owns each assessment, and reuse the data for reporting. The next step is to agree on the users, choose the shared deployment, define a review and backup cycle, and train the team with a small group of real brands. This will turn the tool into a regular commercial process.</a:t>
            </a:r>
          </a:p>
          <a:p xmlns:a="http://schemas.openxmlformats.org/drawingml/2006/main">
            <a:r>
              <a:t/>
            </a:r>
          </a:p>
          <a:p xmlns:a="http://schemas.openxmlformats.org/drawingml/2006/main">
            <a:r>
              <a:t>Source: project scope and recommended implementation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8f5cbc8a5044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a0bdad55204682" /><Relationship Type="http://schemas.openxmlformats.org/officeDocument/2006/relationships/slideLayout" Target="/ppt/slideLayouts/slideLayout1.xml" Id="R51891eaa2d854e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891eaa2d854e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80975" dist="69343" dir="4443276">
              <a:srgbClr val="182541">
                <a:alpha val="1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41ebcb943949e9" /><Relationship Type="http://schemas.openxmlformats.org/officeDocument/2006/relationships/image" Target="/ppt/media/image.png" Id="Rca58de84124a4906" /><Relationship Type="http://schemas.openxmlformats.org/officeDocument/2006/relationships/notesSlide" Target="/ppt/notesSlides/notesSlide1.xml" Id="R943b26967f3841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aee00f05c749ad" /><Relationship Type="http://schemas.openxmlformats.org/officeDocument/2006/relationships/notesSlide" Target="/ppt/notesSlides/notesSlide2.xml" Id="Rfc7669cce54d48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7713a8fb824218" /><Relationship Type="http://schemas.openxmlformats.org/officeDocument/2006/relationships/image" Target="/ppt/media/image2.png" Id="Ra19ed4b3d2594418" /><Relationship Type="http://schemas.openxmlformats.org/officeDocument/2006/relationships/notesSlide" Target="/ppt/notesSlides/notesSlide3.xml" Id="R963f6545a02046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e738108a3244bd" /><Relationship Type="http://schemas.openxmlformats.org/officeDocument/2006/relationships/image" Target="/ppt/media/image3.png" Id="Rd9218aa5afc34459" /><Relationship Type="http://schemas.openxmlformats.org/officeDocument/2006/relationships/notesSlide" Target="/ppt/notesSlides/notesSlide4.xml" Id="R1ea0e9704a2342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ec292cb1dd4652" /><Relationship Type="http://schemas.openxmlformats.org/officeDocument/2006/relationships/image" Target="/ppt/media/image4.png" Id="Rb929e90028eb4737" /><Relationship Type="http://schemas.openxmlformats.org/officeDocument/2006/relationships/notesSlide" Target="/ppt/notesSlides/notesSlide5.xml" Id="R3511c45e5f2540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8cb5af83d449b4" /><Relationship Type="http://schemas.openxmlformats.org/officeDocument/2006/relationships/image" Target="/ppt/media/image5.png" Id="R08ca9b55deb14c6d" /><Relationship Type="http://schemas.openxmlformats.org/officeDocument/2006/relationships/notesSlide" Target="/ppt/notesSlides/notesSlide6.xml" Id="R4aa7658980cc48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8171132ac34efb" /><Relationship Type="http://schemas.openxmlformats.org/officeDocument/2006/relationships/image" Target="/ppt/media/image6.png" Id="R4111e2d654524f05" /><Relationship Type="http://schemas.openxmlformats.org/officeDocument/2006/relationships/notesSlide" Target="/ppt/notesSlides/notesSlide7.xml" Id="Rc0b3ec08e0ce49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087735553a4757" /><Relationship Type="http://schemas.openxmlformats.org/officeDocument/2006/relationships/image" Target="/ppt/media/image7.png" Id="R98fbe41b26b64bd0" /><Relationship Type="http://schemas.openxmlformats.org/officeDocument/2006/relationships/notesSlide" Target="/ppt/notesSlides/notesSlide8.xml" Id="Rd948cf107b6244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624db470be418b" /><Relationship Type="http://schemas.openxmlformats.org/officeDocument/2006/relationships/image" Target="/ppt/media/image8.png" Id="Rb0f2f7636df44286" /><Relationship Type="http://schemas.openxmlformats.org/officeDocument/2006/relationships/notesSlide" Target="/ppt/notesSlides/notesSlide9.xml" Id="R20627ec09e5640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46059488df48a7" /><Relationship Type="http://schemas.openxmlformats.org/officeDocument/2006/relationships/notesSlide" Target="/ppt/notesSlides/notesSlide10.xml" Id="R491f1363cd4a40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45df14ee1f541af" /><Relationship Type="http://schemas.openxmlformats.org/officeDocument/2006/relationships/notesSlide" Target="/ppt/notesSlides/notesSlide11.xml" Id="R117451182b2a4dc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FD011D-66A8-4DE3-905D-211142B5A65D}"/>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182541"/>
          </a:solidFill>
          <a:ln xmlns:a="http://schemas.openxmlformats.org/drawingml/2006/main" w="0">
            <a:no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a58de84124a4906"/>
          <a:stretch xmlns:a="http://schemas.openxmlformats.org/drawingml/2006/main"/>
        </p:blipFill>
        <p:spPr>
          <a:xfrm xmlns:a="http://schemas.openxmlformats.org/drawingml/2006/main">
            <a:off x="590550" y="560187"/>
            <a:ext cx="2857500" cy="55602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F80C7F-2948-4B35-B1EF-9F8608817B96}"/>
              </a:ext>
            </a:extLst>
          </p:cNvPr>
          <p:cNvSpPr>
            <a:spLocks xmlns:a="http://schemas.openxmlformats.org/drawingml/2006/main" noGrp="1"/>
          </p:cNvSpPr>
          <p:nvPr/>
        </p:nvSpPr>
        <p:spPr>
          <a:xfrm xmlns:a="http://schemas.openxmlformats.org/drawingml/2006/main">
            <a:off x="590550" y="2019300"/>
            <a:ext cx="619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82541"/>
                </a:solidFill>
                <a:latin typeface="Arial"/>
                <a:ea typeface="Arial"/>
                <a:cs typeface="Arial"/>
              </a:defRPr>
            </a:pPr>
            <a:r>
              <a:rPr sz="5100" b="1">
                <a:solidFill>
                  <a:srgbClr val="182541"/>
                </a:solidFill>
                <a:latin typeface="Arial"/>
                <a:ea typeface="Arial"/>
                <a:cs typeface="Arial"/>
              </a:rPr>
              <a:t>Brand Scorecard</a:t>
            </a:r>
          </a:p>
        </p:txBody>
      </p:sp>
      <p:sp>
        <p:nvSpPr>
          <p:cNvPr id="4" name="">
            <a:extLst xmlns:a="http://schemas.openxmlformats.org/drawingml/2006/main">
              <a:ext uri="{FF2B5EF4-FFF2-40B4-BE49-F238E27FC236}">
                <a16:creationId xmlns:a16="http://schemas.microsoft.com/office/drawing/2014/main" id="{B69F60B6-AC97-400E-802E-5B8A1C15FA9F}"/>
              </a:ext>
            </a:extLst>
          </p:cNvPr>
          <p:cNvSpPr>
            <a:spLocks xmlns:a="http://schemas.openxmlformats.org/drawingml/2006/main" noGrp="1"/>
          </p:cNvSpPr>
          <p:nvPr/>
        </p:nvSpPr>
        <p:spPr>
          <a:xfrm xmlns:a="http://schemas.openxmlformats.org/drawingml/2006/main">
            <a:off x="609600" y="301942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4748B"/>
                </a:solidFill>
                <a:latin typeface="Arial"/>
                <a:ea typeface="Arial"/>
                <a:cs typeface="Arial"/>
              </a:defRPr>
            </a:pPr>
            <a:r>
              <a:rPr sz="2250" b="0">
                <a:solidFill>
                  <a:srgbClr val="64748B"/>
                </a:solidFill>
                <a:latin typeface="Arial"/>
                <a:ea typeface="Arial"/>
                <a:cs typeface="Arial"/>
              </a:rPr>
              <a:t>A practical tool for brand assessment and portfolio decisions</a:t>
            </a:r>
          </a:p>
        </p:txBody>
      </p:sp>
      <p:sp>
        <p:nvSpPr>
          <p:cNvPr id="5" name="">
            <a:extLst xmlns:a="http://schemas.openxmlformats.org/drawingml/2006/main">
              <a:ext uri="{FF2B5EF4-FFF2-40B4-BE49-F238E27FC236}">
                <a16:creationId xmlns:a16="http://schemas.microsoft.com/office/drawing/2014/main" id="{50A648B7-4AE2-4589-A159-845823A7F6B8}"/>
              </a:ext>
            </a:extLst>
          </p:cNvPr>
          <p:cNvSpPr>
            <a:spLocks xmlns:a="http://schemas.openxmlformats.org/drawingml/2006/main" noGrp="1"/>
          </p:cNvSpPr>
          <p:nvPr/>
        </p:nvSpPr>
        <p:spPr>
          <a:xfrm xmlns:a="http://schemas.openxmlformats.org/drawingml/2006/main">
            <a:off x="609600" y="52197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C4694"/>
                </a:solidFill>
                <a:latin typeface="Arial"/>
                <a:ea typeface="Arial"/>
                <a:cs typeface="Arial"/>
              </a:defRPr>
            </a:pPr>
            <a:r>
              <a:rPr sz="1500" b="1">
                <a:solidFill>
                  <a:srgbClr val="2C4694"/>
                </a:solidFill>
                <a:latin typeface="Arial"/>
                <a:ea typeface="Arial"/>
                <a:cs typeface="Arial"/>
              </a:rPr>
              <a:t>Project presentation</a:t>
            </a:r>
          </a:p>
        </p:txBody>
      </p:sp>
      <p:sp>
        <p:nvSpPr>
          <p:cNvPr id="6" name="">
            <a:extLst xmlns:a="http://schemas.openxmlformats.org/drawingml/2006/main">
              <a:ext uri="{FF2B5EF4-FFF2-40B4-BE49-F238E27FC236}">
                <a16:creationId xmlns:a16="http://schemas.microsoft.com/office/drawing/2014/main" id="{AC23B789-4BA0-4E59-81C7-2EDB33F64195}"/>
              </a:ext>
            </a:extLst>
          </p:cNvPr>
          <p:cNvSpPr>
            <a:spLocks xmlns:a="http://schemas.openxmlformats.org/drawingml/2006/main" noGrp="1"/>
          </p:cNvSpPr>
          <p:nvPr/>
        </p:nvSpPr>
        <p:spPr>
          <a:xfrm xmlns:a="http://schemas.openxmlformats.org/drawingml/2006/main">
            <a:off x="609600" y="5600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September 2026</a:t>
            </a:r>
          </a:p>
        </p:txBody>
      </p:sp>
      <p:sp>
        <p:nvSpPr>
          <p:cNvPr id="7" name="">
            <a:extLst xmlns:a="http://schemas.openxmlformats.org/drawingml/2006/main">
              <a:ext uri="{FF2B5EF4-FFF2-40B4-BE49-F238E27FC236}">
                <a16:creationId xmlns:a16="http://schemas.microsoft.com/office/drawing/2014/main" id="{C21BC6C4-0FDC-40BC-9298-6C9F98969141}"/>
              </a:ext>
            </a:extLst>
          </p:cNvPr>
          <p:cNvSpPr>
            <a:spLocks xmlns:a="http://schemas.openxmlformats.org/drawingml/2006/main" noGrp="1"/>
          </p:cNvSpPr>
          <p:nvPr/>
        </p:nvSpPr>
        <p:spPr>
          <a:xfrm xmlns:a="http://schemas.openxmlformats.org/drawingml/2006/main">
            <a:off x="7791450" y="1733550"/>
            <a:ext cx="3619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ASSESS</a:t>
            </a:r>
          </a:p>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COMPARE</a:t>
            </a:r>
          </a:p>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DECIDE</a:t>
            </a:r>
          </a:p>
        </p:txBody>
      </p:sp>
      <p:sp>
        <p:nvSpPr>
          <p:cNvPr id="8" name="">
            <a:extLst xmlns:a="http://schemas.openxmlformats.org/drawingml/2006/main">
              <a:ext uri="{FF2B5EF4-FFF2-40B4-BE49-F238E27FC236}">
                <a16:creationId xmlns:a16="http://schemas.microsoft.com/office/drawing/2014/main" id="{EF98136D-401E-4171-A282-B443E5BB4194}"/>
              </a:ext>
            </a:extLst>
          </p:cNvPr>
          <p:cNvSpPr>
            <a:spLocks xmlns:a="http://schemas.openxmlformats.org/drawingml/2006/main" noGrp="1"/>
          </p:cNvSpPr>
          <p:nvPr/>
        </p:nvSpPr>
        <p:spPr>
          <a:xfrm xmlns:a="http://schemas.openxmlformats.org/drawingml/2006/main">
            <a:off x="7791450" y="4552950"/>
            <a:ext cx="2190750" cy="38100"/>
          </a:xfrm>
          <a:prstGeom xmlns:a="http://schemas.openxmlformats.org/drawingml/2006/main" prst="rect">
            <a:avLst/>
          </a:prstGeom>
          <a:solidFill xmlns:a="http://schemas.openxmlformats.org/drawingml/2006/main">
            <a:srgbClr val="506BB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33388F2-C9F7-4B3E-9C15-9AD775C08C53}"/>
              </a:ext>
            </a:extLst>
          </p:cNvPr>
          <p:cNvSpPr>
            <a:spLocks xmlns:a="http://schemas.openxmlformats.org/drawingml/2006/main" noGrp="1"/>
          </p:cNvSpPr>
          <p:nvPr/>
        </p:nvSpPr>
        <p:spPr>
          <a:xfrm xmlns:a="http://schemas.openxmlformats.org/drawingml/2006/main">
            <a:off x="7791450" y="4810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CE5FF"/>
                </a:solidFill>
                <a:latin typeface="Arial"/>
                <a:ea typeface="Arial"/>
                <a:cs typeface="Arial"/>
              </a:defRPr>
            </a:pPr>
            <a:r>
              <a:rPr sz="1650" b="0">
                <a:solidFill>
                  <a:srgbClr val="DCE5FF"/>
                </a:solidFill>
                <a:latin typeface="Arial"/>
                <a:ea typeface="Arial"/>
                <a:cs typeface="Arial"/>
              </a:rPr>
              <a:t>One shared scoring method</a:t>
            </a:r>
          </a:p>
          <a:p xmlns:a="http://schemas.openxmlformats.org/drawingml/2006/main">
            <a:pPr>
              <a:defRPr sz="1650" b="0">
                <a:solidFill>
                  <a:srgbClr val="DCE5FF"/>
                </a:solidFill>
                <a:latin typeface="Arial"/>
                <a:ea typeface="Arial"/>
                <a:cs typeface="Arial"/>
              </a:defRPr>
            </a:pPr>
            <a:r>
              <a:rPr sz="1650" b="0">
                <a:solidFill>
                  <a:srgbClr val="DCE5FF"/>
                </a:solidFill>
                <a:latin typeface="Arial"/>
                <a:ea typeface="Arial"/>
                <a:cs typeface="Arial"/>
              </a:rPr>
              <a:t>One persistent data source</a:t>
            </a:r>
          </a:p>
        </p:txBody>
      </p:sp>
    </p:spTree>
    <p:extLst>
      <p:ext uri="{BB962C8B-B14F-4D97-AF65-F5344CB8AC3E}">
        <p14:creationId xmlns:p14="http://schemas.microsoft.com/office/powerpoint/2010/main" val="382785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4B5531-CDDB-44D6-B960-3FD37035509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217C2B-8203-4BEA-8B9B-0EB590A20D5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06BB4"/>
                </a:solidFill>
                <a:latin typeface="Arial"/>
                <a:ea typeface="Arial"/>
                <a:cs typeface="Arial"/>
              </a:defRPr>
            </a:pPr>
            <a:r>
              <a:rPr sz="1125" b="1">
                <a:solidFill>
                  <a:srgbClr val="506BB4"/>
                </a:solidFill>
                <a:latin typeface="Arial"/>
                <a:ea typeface="Arial"/>
                <a:cs typeface="Arial"/>
              </a:rPr>
              <a:t>BUSINESS NEED</a:t>
            </a:r>
          </a:p>
        </p:txBody>
      </p:sp>
      <p:sp>
        <p:nvSpPr>
          <p:cNvPr id="3" name="">
            <a:extLst xmlns:a="http://schemas.openxmlformats.org/drawingml/2006/main">
              <a:ext uri="{FF2B5EF4-FFF2-40B4-BE49-F238E27FC236}">
                <a16:creationId xmlns:a16="http://schemas.microsoft.com/office/drawing/2014/main" id="{ECAF11D4-C844-4083-9FE2-F143B17249D5}"/>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541"/>
                </a:solidFill>
                <a:latin typeface="Arial"/>
                <a:ea typeface="Arial"/>
                <a:cs typeface="Arial"/>
              </a:defRPr>
            </a:pPr>
            <a:r>
              <a:rPr sz="3300" b="1">
                <a:solidFill>
                  <a:srgbClr val="182541"/>
                </a:solidFill>
                <a:latin typeface="Arial"/>
                <a:ea typeface="Arial"/>
                <a:cs typeface="Arial"/>
              </a:rPr>
              <a:t>Why the project was needed</a:t>
            </a:r>
          </a:p>
        </p:txBody>
      </p:sp>
      <p:sp>
        <p:nvSpPr>
          <p:cNvPr id="4" name="">
            <a:extLst xmlns:a="http://schemas.openxmlformats.org/drawingml/2006/main">
              <a:ext uri="{FF2B5EF4-FFF2-40B4-BE49-F238E27FC236}">
                <a16:creationId xmlns:a16="http://schemas.microsoft.com/office/drawing/2014/main" id="{370FB31A-DD15-4632-A77A-7AF08DF65105}"/>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6384BF-B565-4057-B6D0-753A27A73CDC}"/>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48B"/>
                </a:solidFill>
                <a:latin typeface="Arial"/>
                <a:ea typeface="Arial"/>
                <a:cs typeface="Arial"/>
              </a:defRPr>
            </a:pPr>
            <a:r>
              <a:rPr sz="1050" b="0">
                <a:solidFill>
                  <a:srgbClr val="64748B"/>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CC2FFFAD-BDDB-4CF6-8857-B2B432D956B3}"/>
              </a:ext>
            </a:extLst>
          </p:cNvPr>
          <p:cNvSpPr>
            <a:spLocks xmlns:a="http://schemas.openxmlformats.org/drawingml/2006/main" noGrp="1"/>
          </p:cNvSpPr>
          <p:nvPr/>
        </p:nvSpPr>
        <p:spPr>
          <a:xfrm xmlns:a="http://schemas.openxmlformats.org/drawingml/2006/main">
            <a:off x="666750" y="15716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541"/>
                </a:solidFill>
                <a:latin typeface="Arial"/>
                <a:ea typeface="Arial"/>
                <a:cs typeface="Arial"/>
              </a:defRPr>
            </a:pPr>
            <a:r>
              <a:rPr sz="2100" b="1">
                <a:solidFill>
                  <a:srgbClr val="182541"/>
                </a:solidFill>
                <a:latin typeface="Arial"/>
                <a:ea typeface="Arial"/>
                <a:cs typeface="Arial"/>
              </a:rPr>
              <a:t>The starting point</a:t>
            </a:r>
          </a:p>
        </p:txBody>
      </p:sp>
      <p:sp>
        <p:nvSpPr>
          <p:cNvPr id="7" name="">
            <a:extLst xmlns:a="http://schemas.openxmlformats.org/drawingml/2006/main">
              <a:ext uri="{FF2B5EF4-FFF2-40B4-BE49-F238E27FC236}">
                <a16:creationId xmlns:a16="http://schemas.microsoft.com/office/drawing/2014/main" id="{76DC4C8A-7489-4083-B77C-5CDE46A29CFA}"/>
              </a:ext>
            </a:extLst>
          </p:cNvPr>
          <p:cNvSpPr>
            <a:spLocks xmlns:a="http://schemas.openxmlformats.org/drawingml/2006/main" noGrp="1"/>
          </p:cNvSpPr>
          <p:nvPr/>
        </p:nvSpPr>
        <p:spPr>
          <a:xfrm xmlns:a="http://schemas.openxmlformats.org/drawingml/2006/main">
            <a:off x="666750" y="2076450"/>
            <a:ext cx="4857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800">
                <a:solidFill>
                  <a:srgbClr val="152039"/>
                </a:solidFill>
                <a:latin typeface="Arial"/>
                <a:ea typeface="Arial"/>
                <a:cs typeface="Arial"/>
              </a:defRPr>
            </a:pPr>
            <a:r>
              <a:rPr sz="1800">
                <a:solidFill>
                  <a:srgbClr val="152039"/>
                </a:solidFill>
                <a:latin typeface="Arial"/>
                <a:ea typeface="Arial"/>
                <a:cs typeface="Arial"/>
              </a:rPr>
              <a:t>Brand information was spread across files and personal notes.</a:t>
            </a:r>
          </a:p>
          <a:p xmlns:a="http://schemas.openxmlformats.org/drawingml/2006/main">
            <a:pPr marL="228600" indent="-114300">
              <a:spcAft>
                <a:spcPts val="1200"/>
              </a:spcAft>
              <a:buChar char="•"/>
              <a:defRPr sz="1800">
                <a:solidFill>
                  <a:srgbClr val="152039"/>
                </a:solidFill>
                <a:latin typeface="Arial"/>
                <a:ea typeface="Arial"/>
                <a:cs typeface="Arial"/>
              </a:defRPr>
            </a:pPr>
            <a:r>
              <a:rPr sz="1800">
                <a:solidFill>
                  <a:srgbClr val="152039"/>
                </a:solidFill>
                <a:latin typeface="Arial"/>
                <a:ea typeface="Arial"/>
                <a:cs typeface="Arial"/>
              </a:rPr>
              <a:t>Teams needed a consistent way to compare very different brands.</a:t>
            </a:r>
          </a:p>
          <a:p xmlns:a="http://schemas.openxmlformats.org/drawingml/2006/main">
            <a:pPr marL="228600" indent="-114300">
              <a:spcAft>
                <a:spcPts val="1200"/>
              </a:spcAft>
              <a:buChar char="•"/>
              <a:defRPr sz="1800">
                <a:solidFill>
                  <a:srgbClr val="152039"/>
                </a:solidFill>
                <a:latin typeface="Arial"/>
                <a:ea typeface="Arial"/>
                <a:cs typeface="Arial"/>
              </a:defRPr>
            </a:pPr>
            <a:r>
              <a:rPr sz="1800">
                <a:solidFill>
                  <a:srgbClr val="152039"/>
                </a:solidFill>
                <a:latin typeface="Arial"/>
                <a:ea typeface="Arial"/>
                <a:cs typeface="Arial"/>
              </a:rPr>
              <a:t>Manual updates made follow-up slow and difficult to trace.</a:t>
            </a:r>
          </a:p>
          <a:p xmlns:a="http://schemas.openxmlformats.org/drawingml/2006/main">
            <a:pPr marL="228600" indent="-114300">
              <a:spcAft>
                <a:spcPts val="1200"/>
              </a:spcAft>
              <a:buChar char="•"/>
              <a:defRPr sz="1800">
                <a:solidFill>
                  <a:srgbClr val="152039"/>
                </a:solidFill>
                <a:latin typeface="Arial"/>
                <a:ea typeface="Arial"/>
                <a:cs typeface="Arial"/>
              </a:defRPr>
            </a:pPr>
            <a:r>
              <a:rPr sz="1800">
                <a:solidFill>
                  <a:srgbClr val="152039"/>
                </a:solidFill>
                <a:latin typeface="Arial"/>
                <a:ea typeface="Arial"/>
                <a:cs typeface="Arial"/>
              </a:rPr>
              <a:t>Management needed a clear view of priorities and risks.</a:t>
            </a:r>
          </a:p>
        </p:txBody>
      </p:sp>
      <p:sp>
        <p:nvSpPr>
          <p:cNvPr id="8" name="">
            <a:extLst xmlns:a="http://schemas.openxmlformats.org/drawingml/2006/main">
              <a:ext uri="{FF2B5EF4-FFF2-40B4-BE49-F238E27FC236}">
                <a16:creationId xmlns:a16="http://schemas.microsoft.com/office/drawing/2014/main" id="{C103ED16-028A-46D6-B1E0-C14040BF9472}"/>
              </a:ext>
            </a:extLst>
          </p:cNvPr>
          <p:cNvSpPr>
            <a:spLocks xmlns:a="http://schemas.openxmlformats.org/drawingml/2006/main" noGrp="1"/>
          </p:cNvSpPr>
          <p:nvPr/>
        </p:nvSpPr>
        <p:spPr>
          <a:xfrm xmlns:a="http://schemas.openxmlformats.org/drawingml/2006/main">
            <a:off x="6000750" y="1524000"/>
            <a:ext cx="19050" cy="40957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7799F1E-6C14-421E-B86B-1D99EB50075D}"/>
              </a:ext>
            </a:extLst>
          </p:cNvPr>
          <p:cNvSpPr>
            <a:spLocks xmlns:a="http://schemas.openxmlformats.org/drawingml/2006/main" noGrp="1"/>
          </p:cNvSpPr>
          <p:nvPr/>
        </p:nvSpPr>
        <p:spPr>
          <a:xfrm xmlns:a="http://schemas.openxmlformats.org/drawingml/2006/main">
            <a:off x="6572250" y="15716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541"/>
                </a:solidFill>
                <a:latin typeface="Arial"/>
                <a:ea typeface="Arial"/>
                <a:cs typeface="Arial"/>
              </a:defRPr>
            </a:pPr>
            <a:r>
              <a:rPr sz="2100" b="1">
                <a:solidFill>
                  <a:srgbClr val="182541"/>
                </a:solidFill>
                <a:latin typeface="Arial"/>
                <a:ea typeface="Arial"/>
                <a:cs typeface="Arial"/>
              </a:rPr>
              <a:t>The project response</a:t>
            </a:r>
          </a:p>
        </p:txBody>
      </p:sp>
      <p:sp>
        <p:nvSpPr>
          <p:cNvPr id="10" name="">
            <a:extLst xmlns:a="http://schemas.openxmlformats.org/drawingml/2006/main">
              <a:ext uri="{FF2B5EF4-FFF2-40B4-BE49-F238E27FC236}">
                <a16:creationId xmlns:a16="http://schemas.microsoft.com/office/drawing/2014/main" id="{8527FA0B-8F0C-42D4-9049-CDFB556F3A45}"/>
              </a:ext>
            </a:extLst>
          </p:cNvPr>
          <p:cNvSpPr>
            <a:spLocks xmlns:a="http://schemas.openxmlformats.org/drawingml/2006/main" noGrp="1"/>
          </p:cNvSpPr>
          <p:nvPr/>
        </p:nvSpPr>
        <p:spPr>
          <a:xfrm xmlns:a="http://schemas.openxmlformats.org/drawingml/2006/main">
            <a:off x="6572250" y="21431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506BB4"/>
                </a:solidFill>
                <a:latin typeface="Arial"/>
                <a:ea typeface="Arial"/>
                <a:cs typeface="Arial"/>
              </a:defRPr>
            </a:pPr>
            <a:r>
              <a:rPr sz="2400" b="1">
                <a:solidFill>
                  <a:srgbClr val="506BB4"/>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C2A57C6C-0686-4779-943E-3D15AB170AC2}"/>
              </a:ext>
            </a:extLst>
          </p:cNvPr>
          <p:cNvSpPr>
            <a:spLocks xmlns:a="http://schemas.openxmlformats.org/drawingml/2006/main" noGrp="1"/>
          </p:cNvSpPr>
          <p:nvPr/>
        </p:nvSpPr>
        <p:spPr>
          <a:xfrm xmlns:a="http://schemas.openxmlformats.org/drawingml/2006/main">
            <a:off x="7334250" y="21431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2039"/>
                </a:solidFill>
                <a:latin typeface="Arial"/>
                <a:ea typeface="Arial"/>
                <a:cs typeface="Arial"/>
              </a:defRPr>
            </a:pPr>
            <a:r>
              <a:rPr sz="1875" b="1">
                <a:solidFill>
                  <a:srgbClr val="152039"/>
                </a:solidFill>
                <a:latin typeface="Arial"/>
                <a:ea typeface="Arial"/>
                <a:cs typeface="Arial"/>
              </a:rPr>
              <a:t>Structured assessment</a:t>
            </a:r>
          </a:p>
        </p:txBody>
      </p:sp>
      <p:sp>
        <p:nvSpPr>
          <p:cNvPr id="12" name="">
            <a:extLst xmlns:a="http://schemas.openxmlformats.org/drawingml/2006/main">
              <a:ext uri="{FF2B5EF4-FFF2-40B4-BE49-F238E27FC236}">
                <a16:creationId xmlns:a16="http://schemas.microsoft.com/office/drawing/2014/main" id="{BA160026-6987-4526-B911-B7004304752E}"/>
              </a:ext>
            </a:extLst>
          </p:cNvPr>
          <p:cNvSpPr>
            <a:spLocks xmlns:a="http://schemas.openxmlformats.org/drawingml/2006/main" noGrp="1"/>
          </p:cNvSpPr>
          <p:nvPr/>
        </p:nvSpPr>
        <p:spPr>
          <a:xfrm xmlns:a="http://schemas.openxmlformats.org/drawingml/2006/main">
            <a:off x="7334250" y="250507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48B"/>
                </a:solidFill>
                <a:latin typeface="Arial"/>
                <a:ea typeface="Arial"/>
                <a:cs typeface="Arial"/>
              </a:defRPr>
            </a:pPr>
            <a:r>
              <a:rPr sz="1500" b="0">
                <a:solidFill>
                  <a:srgbClr val="64748B"/>
                </a:solidFill>
                <a:latin typeface="Arial"/>
                <a:ea typeface="Arial"/>
                <a:cs typeface="Arial"/>
              </a:rPr>
              <a:t>The same questions and scales for every brand.</a:t>
            </a:r>
          </a:p>
        </p:txBody>
      </p:sp>
      <p:sp>
        <p:nvSpPr>
          <p:cNvPr id="13" name="">
            <a:extLst xmlns:a="http://schemas.openxmlformats.org/drawingml/2006/main">
              <a:ext uri="{FF2B5EF4-FFF2-40B4-BE49-F238E27FC236}">
                <a16:creationId xmlns:a16="http://schemas.microsoft.com/office/drawing/2014/main" id="{920A906F-3507-4919-AB0F-DFF605EB2248}"/>
              </a:ext>
            </a:extLst>
          </p:cNvPr>
          <p:cNvSpPr>
            <a:spLocks xmlns:a="http://schemas.openxmlformats.org/drawingml/2006/main" noGrp="1"/>
          </p:cNvSpPr>
          <p:nvPr/>
        </p:nvSpPr>
        <p:spPr>
          <a:xfrm xmlns:a="http://schemas.openxmlformats.org/drawingml/2006/main">
            <a:off x="6572250" y="326707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506BB4"/>
                </a:solidFill>
                <a:latin typeface="Arial"/>
                <a:ea typeface="Arial"/>
                <a:cs typeface="Arial"/>
              </a:defRPr>
            </a:pPr>
            <a:r>
              <a:rPr sz="2400" b="1">
                <a:solidFill>
                  <a:srgbClr val="506BB4"/>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7520AA69-E2D6-4479-976F-5B3F8321CFE2}"/>
              </a:ext>
            </a:extLst>
          </p:cNvPr>
          <p:cNvSpPr>
            <a:spLocks xmlns:a="http://schemas.openxmlformats.org/drawingml/2006/main" noGrp="1"/>
          </p:cNvSpPr>
          <p:nvPr/>
        </p:nvSpPr>
        <p:spPr>
          <a:xfrm xmlns:a="http://schemas.openxmlformats.org/drawingml/2006/main">
            <a:off x="7334250" y="32670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2039"/>
                </a:solidFill>
                <a:latin typeface="Arial"/>
                <a:ea typeface="Arial"/>
                <a:cs typeface="Arial"/>
              </a:defRPr>
            </a:pPr>
            <a:r>
              <a:rPr sz="1875" b="1">
                <a:solidFill>
                  <a:srgbClr val="152039"/>
                </a:solidFill>
                <a:latin typeface="Arial"/>
                <a:ea typeface="Arial"/>
                <a:cs typeface="Arial"/>
              </a:rPr>
              <a:t>Persistent data</a:t>
            </a:r>
          </a:p>
        </p:txBody>
      </p:sp>
      <p:sp>
        <p:nvSpPr>
          <p:cNvPr id="15" name="">
            <a:extLst xmlns:a="http://schemas.openxmlformats.org/drawingml/2006/main">
              <a:ext uri="{FF2B5EF4-FFF2-40B4-BE49-F238E27FC236}">
                <a16:creationId xmlns:a16="http://schemas.microsoft.com/office/drawing/2014/main" id="{8A3215A3-B14B-4349-9717-93B30F7E3FDB}"/>
              </a:ext>
            </a:extLst>
          </p:cNvPr>
          <p:cNvSpPr>
            <a:spLocks xmlns:a="http://schemas.openxmlformats.org/drawingml/2006/main" noGrp="1"/>
          </p:cNvSpPr>
          <p:nvPr/>
        </p:nvSpPr>
        <p:spPr>
          <a:xfrm xmlns:a="http://schemas.openxmlformats.org/drawingml/2006/main">
            <a:off x="7334250" y="362902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48B"/>
                </a:solidFill>
                <a:latin typeface="Arial"/>
                <a:ea typeface="Arial"/>
                <a:cs typeface="Arial"/>
              </a:defRPr>
            </a:pPr>
            <a:r>
              <a:rPr sz="1500" b="0">
                <a:solidFill>
                  <a:srgbClr val="64748B"/>
                </a:solidFill>
                <a:latin typeface="Arial"/>
                <a:ea typeface="Arial"/>
                <a:cs typeface="Arial"/>
              </a:rPr>
              <a:t>Every saved assessment returns in the next session.</a:t>
            </a:r>
          </a:p>
        </p:txBody>
      </p:sp>
      <p:sp>
        <p:nvSpPr>
          <p:cNvPr id="16" name="">
            <a:extLst xmlns:a="http://schemas.openxmlformats.org/drawingml/2006/main">
              <a:ext uri="{FF2B5EF4-FFF2-40B4-BE49-F238E27FC236}">
                <a16:creationId xmlns:a16="http://schemas.microsoft.com/office/drawing/2014/main" id="{326A4605-B414-4FB1-BEFF-232B90CA19C7}"/>
              </a:ext>
            </a:extLst>
          </p:cNvPr>
          <p:cNvSpPr>
            <a:spLocks xmlns:a="http://schemas.openxmlformats.org/drawingml/2006/main" noGrp="1"/>
          </p:cNvSpPr>
          <p:nvPr/>
        </p:nvSpPr>
        <p:spPr>
          <a:xfrm xmlns:a="http://schemas.openxmlformats.org/drawingml/2006/main">
            <a:off x="6572250" y="43910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506BB4"/>
                </a:solidFill>
                <a:latin typeface="Arial"/>
                <a:ea typeface="Arial"/>
                <a:cs typeface="Arial"/>
              </a:defRPr>
            </a:pPr>
            <a:r>
              <a:rPr sz="2400" b="1">
                <a:solidFill>
                  <a:srgbClr val="506BB4"/>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408192F9-C982-4119-AAB6-9502BAA17A83}"/>
              </a:ext>
            </a:extLst>
          </p:cNvPr>
          <p:cNvSpPr>
            <a:spLocks xmlns:a="http://schemas.openxmlformats.org/drawingml/2006/main" noGrp="1"/>
          </p:cNvSpPr>
          <p:nvPr/>
        </p:nvSpPr>
        <p:spPr>
          <a:xfrm xmlns:a="http://schemas.openxmlformats.org/drawingml/2006/main">
            <a:off x="7334250" y="43910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2039"/>
                </a:solidFill>
                <a:latin typeface="Arial"/>
                <a:ea typeface="Arial"/>
                <a:cs typeface="Arial"/>
              </a:defRPr>
            </a:pPr>
            <a:r>
              <a:rPr sz="1875" b="1">
                <a:solidFill>
                  <a:srgbClr val="152039"/>
                </a:solidFill>
                <a:latin typeface="Arial"/>
                <a:ea typeface="Arial"/>
                <a:cs typeface="Arial"/>
              </a:rPr>
              <a:t>Decision views</a:t>
            </a:r>
          </a:p>
        </p:txBody>
      </p:sp>
      <p:sp>
        <p:nvSpPr>
          <p:cNvPr id="18" name="">
            <a:extLst xmlns:a="http://schemas.openxmlformats.org/drawingml/2006/main">
              <a:ext uri="{FF2B5EF4-FFF2-40B4-BE49-F238E27FC236}">
                <a16:creationId xmlns:a16="http://schemas.microsoft.com/office/drawing/2014/main" id="{CE4792C3-B926-488E-A54C-79499C7E8E8C}"/>
              </a:ext>
            </a:extLst>
          </p:cNvPr>
          <p:cNvSpPr>
            <a:spLocks xmlns:a="http://schemas.openxmlformats.org/drawingml/2006/main" noGrp="1"/>
          </p:cNvSpPr>
          <p:nvPr/>
        </p:nvSpPr>
        <p:spPr>
          <a:xfrm xmlns:a="http://schemas.openxmlformats.org/drawingml/2006/main">
            <a:off x="7334250" y="475297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48B"/>
                </a:solidFill>
                <a:latin typeface="Arial"/>
                <a:ea typeface="Arial"/>
                <a:cs typeface="Arial"/>
              </a:defRPr>
            </a:pPr>
            <a:r>
              <a:rPr sz="1500" b="0">
                <a:solidFill>
                  <a:srgbClr val="64748B"/>
                </a:solidFill>
                <a:latin typeface="Arial"/>
                <a:ea typeface="Arial"/>
                <a:cs typeface="Arial"/>
              </a:rPr>
              <a:t>Scores, recommendations, comparisons, and exports.</a:t>
            </a:r>
          </a:p>
        </p:txBody>
      </p:sp>
    </p:spTree>
    <p:extLst>
      <p:ext uri="{BB962C8B-B14F-4D97-AF65-F5344CB8AC3E}">
        <p14:creationId xmlns:p14="http://schemas.microsoft.com/office/powerpoint/2010/main" val="3343186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E7837A-CA2C-4ECB-934C-36D6258F627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B47ABB-2BAF-4078-84D9-E2082B8239A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06BB4"/>
                </a:solidFill>
                <a:latin typeface="Arial"/>
                <a:ea typeface="Arial"/>
                <a:cs typeface="Arial"/>
              </a:defRPr>
            </a:pPr>
            <a:r>
              <a:rPr sz="1125" b="1">
                <a:solidFill>
                  <a:srgbClr val="506BB4"/>
                </a:solidFill>
                <a:latin typeface="Arial"/>
                <a:ea typeface="Arial"/>
                <a:cs typeface="Arial"/>
              </a:rPr>
              <a:t>DATA CAPTURE</a:t>
            </a:r>
          </a:p>
        </p:txBody>
      </p:sp>
      <p:sp>
        <p:nvSpPr>
          <p:cNvPr id="3" name="">
            <a:extLst xmlns:a="http://schemas.openxmlformats.org/drawingml/2006/main">
              <a:ext uri="{FF2B5EF4-FFF2-40B4-BE49-F238E27FC236}">
                <a16:creationId xmlns:a16="http://schemas.microsoft.com/office/drawing/2014/main" id="{4BDFC12B-2051-45EF-9737-D101B719DE9D}"/>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541"/>
                </a:solidFill>
                <a:latin typeface="Arial"/>
                <a:ea typeface="Arial"/>
                <a:cs typeface="Arial"/>
              </a:defRPr>
            </a:pPr>
            <a:r>
              <a:rPr sz="3300" b="1">
                <a:solidFill>
                  <a:srgbClr val="182541"/>
                </a:solidFill>
                <a:latin typeface="Arial"/>
                <a:ea typeface="Arial"/>
                <a:cs typeface="Arial"/>
              </a:rPr>
              <a:t>Guided brand assessment</a:t>
            </a:r>
          </a:p>
        </p:txBody>
      </p:sp>
      <p:sp>
        <p:nvSpPr>
          <p:cNvPr id="4" name="">
            <a:extLst xmlns:a="http://schemas.openxmlformats.org/drawingml/2006/main">
              <a:ext uri="{FF2B5EF4-FFF2-40B4-BE49-F238E27FC236}">
                <a16:creationId xmlns:a16="http://schemas.microsoft.com/office/drawing/2014/main" id="{5AFE799F-C41C-4D42-AFDB-6B4A5D771323}"/>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ECA3FD7-A2D6-4A74-9F52-BE9F5D92C171}"/>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48B"/>
                </a:solidFill>
                <a:latin typeface="Arial"/>
                <a:ea typeface="Arial"/>
                <a:cs typeface="Arial"/>
              </a:defRPr>
            </a:pPr>
            <a:r>
              <a:rPr sz="1050" b="0">
                <a:solidFill>
                  <a:srgbClr val="64748B"/>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5636A8AA-8DFA-4690-B02D-84C13300F20F}"/>
              </a:ext>
            </a:extLst>
          </p:cNvPr>
          <p:cNvSpPr>
            <a:spLocks xmlns:a="http://schemas.openxmlformats.org/drawingml/2006/main" noGrp="1"/>
          </p:cNvSpPr>
          <p:nvPr/>
        </p:nvSpPr>
        <p:spPr>
          <a:xfrm xmlns:a="http://schemas.openxmlformats.org/drawingml/2006/main">
            <a:off x="609600" y="1485900"/>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2541"/>
                </a:solidFill>
                <a:latin typeface="Arial"/>
                <a:ea typeface="Arial"/>
                <a:cs typeface="Arial"/>
              </a:defRPr>
            </a:pPr>
            <a:r>
              <a:rPr sz="2325" b="1">
                <a:solidFill>
                  <a:srgbClr val="182541"/>
                </a:solidFill>
                <a:latin typeface="Arial"/>
                <a:ea typeface="Arial"/>
                <a:cs typeface="Arial"/>
              </a:rPr>
              <a:t>One form covers the full assessment</a:t>
            </a:r>
          </a:p>
        </p:txBody>
      </p:sp>
      <p:sp>
        <p:nvSpPr>
          <p:cNvPr id="7" name="">
            <a:extLst xmlns:a="http://schemas.openxmlformats.org/drawingml/2006/main">
              <a:ext uri="{FF2B5EF4-FFF2-40B4-BE49-F238E27FC236}">
                <a16:creationId xmlns:a16="http://schemas.microsoft.com/office/drawing/2014/main" id="{26DF5EA7-1B30-4A5E-9554-8323740C0588}"/>
              </a:ext>
            </a:extLst>
          </p:cNvPr>
          <p:cNvSpPr>
            <a:spLocks xmlns:a="http://schemas.openxmlformats.org/drawingml/2006/main" noGrp="1"/>
          </p:cNvSpPr>
          <p:nvPr/>
        </p:nvSpPr>
        <p:spPr>
          <a:xfrm xmlns:a="http://schemas.openxmlformats.org/drawingml/2006/main">
            <a:off x="609600" y="2352675"/>
            <a:ext cx="3714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Select one or more strategic categories and brand families.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Assign a commercial owner and an assessment status.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Complete descriptive and strategic criteria in clear sections.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Add comments and evidence before saving the assessment.</a:t>
            </a:r>
          </a:p>
        </p:txBody>
      </p:sp>
      <p:sp>
        <p:nvSpPr>
          <p:cNvPr id="8" name="">
            <a:extLst xmlns:a="http://schemas.openxmlformats.org/drawingml/2006/main">
              <a:ext uri="{FF2B5EF4-FFF2-40B4-BE49-F238E27FC236}">
                <a16:creationId xmlns:a16="http://schemas.microsoft.com/office/drawing/2014/main" id="{13C3FF75-3C44-4FDA-B27A-3F1410DB3DA5}"/>
              </a:ext>
            </a:extLst>
          </p:cNvPr>
          <p:cNvSpPr>
            <a:spLocks xmlns:a="http://schemas.openxmlformats.org/drawingml/2006/main" noGrp="1"/>
          </p:cNvSpPr>
          <p:nvPr/>
        </p:nvSpPr>
        <p:spPr>
          <a:xfrm xmlns:a="http://schemas.openxmlformats.org/drawingml/2006/main">
            <a:off x="609600" y="5676900"/>
            <a:ext cx="3905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C4694"/>
                </a:solidFill>
                <a:latin typeface="Arial"/>
                <a:ea typeface="Arial"/>
                <a:cs typeface="Arial"/>
              </a:defRPr>
            </a:pPr>
            <a:r>
              <a:rPr sz="1500" b="1">
                <a:solidFill>
                  <a:srgbClr val="2C4694"/>
                </a:solidFill>
                <a:latin typeface="Arial"/>
                <a:ea typeface="Arial"/>
                <a:cs typeface="Arial"/>
              </a:rPr>
              <a:t>The same screen supports new brands and later updates.</a:t>
            </a:r>
          </a:p>
        </p:txBody>
      </p:sp>
      <p:sp>
        <p:nvSpPr>
          <p:cNvPr id="9" name="">
            <a:extLst xmlns:a="http://schemas.openxmlformats.org/drawingml/2006/main">
              <a:ext uri="{FF2B5EF4-FFF2-40B4-BE49-F238E27FC236}">
                <a16:creationId xmlns:a16="http://schemas.microsoft.com/office/drawing/2014/main" id="{79124889-6A77-4956-BC5F-989CD1C76743}"/>
              </a:ext>
            </a:extLst>
          </p:cNvPr>
          <p:cNvSpPr>
            <a:spLocks xmlns:a="http://schemas.openxmlformats.org/drawingml/2006/main" noGrp="1"/>
          </p:cNvSpPr>
          <p:nvPr/>
        </p:nvSpPr>
        <p:spPr>
          <a:xfrm xmlns:a="http://schemas.openxmlformats.org/drawingml/2006/main">
            <a:off x="4638675" y="1381125"/>
            <a:ext cx="69913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19ed4b3d2594418"/>
          <a:stretch xmlns:a="http://schemas.openxmlformats.org/drawingml/2006/main"/>
        </p:blipFill>
        <p:spPr>
          <a:xfrm xmlns:a="http://schemas.openxmlformats.org/drawingml/2006/main">
            <a:off x="4686300" y="1762720"/>
            <a:ext cx="6896100" cy="4094559"/>
          </a:xfrm>
          <a:prstGeom xmlns:a="http://schemas.openxmlformats.org/drawingml/2006/main" prst="roundRect">
            <a:avLst>
              <a:gd name="adj" fmla="val 2400"/>
            </a:avLst>
          </a:prstGeom>
        </p:spPr>
      </p:pic>
    </p:spTree>
    <p:extLst>
      <p:ext uri="{BB962C8B-B14F-4D97-AF65-F5344CB8AC3E}">
        <p14:creationId xmlns:p14="http://schemas.microsoft.com/office/powerpoint/2010/main" val="8292598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CCD071E-FE04-43DD-ADFE-FC4387AE868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BB9DF1-7A84-4D2E-99B8-C16698BE3BA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06BB4"/>
                </a:solidFill>
                <a:latin typeface="Arial"/>
                <a:ea typeface="Arial"/>
                <a:cs typeface="Arial"/>
              </a:defRPr>
            </a:pPr>
            <a:r>
              <a:rPr sz="1125" b="1">
                <a:solidFill>
                  <a:srgbClr val="506BB4"/>
                </a:solidFill>
                <a:latin typeface="Arial"/>
                <a:ea typeface="Arial"/>
                <a:cs typeface="Arial"/>
              </a:rPr>
              <a:t>METHOD</a:t>
            </a:r>
          </a:p>
        </p:txBody>
      </p:sp>
      <p:sp>
        <p:nvSpPr>
          <p:cNvPr id="3" name="">
            <a:extLst xmlns:a="http://schemas.openxmlformats.org/drawingml/2006/main">
              <a:ext uri="{FF2B5EF4-FFF2-40B4-BE49-F238E27FC236}">
                <a16:creationId xmlns:a16="http://schemas.microsoft.com/office/drawing/2014/main" id="{C0AF409B-02A3-407D-8B9F-57D737E7CEA6}"/>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541"/>
                </a:solidFill>
                <a:latin typeface="Arial"/>
                <a:ea typeface="Arial"/>
                <a:cs typeface="Arial"/>
              </a:defRPr>
            </a:pPr>
            <a:r>
              <a:rPr sz="3300" b="1">
                <a:solidFill>
                  <a:srgbClr val="182541"/>
                </a:solidFill>
                <a:latin typeface="Arial"/>
                <a:ea typeface="Arial"/>
                <a:cs typeface="Arial"/>
              </a:rPr>
              <a:t>Transparent scoring framework</a:t>
            </a:r>
          </a:p>
        </p:txBody>
      </p:sp>
      <p:sp>
        <p:nvSpPr>
          <p:cNvPr id="4" name="">
            <a:extLst xmlns:a="http://schemas.openxmlformats.org/drawingml/2006/main">
              <a:ext uri="{FF2B5EF4-FFF2-40B4-BE49-F238E27FC236}">
                <a16:creationId xmlns:a16="http://schemas.microsoft.com/office/drawing/2014/main" id="{8FC6A65F-B38D-4DB5-8322-74BFD6840692}"/>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6B3F0C-530C-4127-97B8-AD29C7752D4E}"/>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48B"/>
                </a:solidFill>
                <a:latin typeface="Arial"/>
                <a:ea typeface="Arial"/>
                <a:cs typeface="Arial"/>
              </a:defRPr>
            </a:pPr>
            <a:r>
              <a:rPr sz="1050" b="0">
                <a:solidFill>
                  <a:srgbClr val="64748B"/>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85D51926-9889-4BC4-BAAB-AA0E4B61C828}"/>
              </a:ext>
            </a:extLst>
          </p:cNvPr>
          <p:cNvSpPr>
            <a:spLocks xmlns:a="http://schemas.openxmlformats.org/drawingml/2006/main" noGrp="1"/>
          </p:cNvSpPr>
          <p:nvPr/>
        </p:nvSpPr>
        <p:spPr>
          <a:xfrm xmlns:a="http://schemas.openxmlformats.org/drawingml/2006/main">
            <a:off x="561975" y="1381125"/>
            <a:ext cx="69532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9218aa5afc34459"/>
          <a:stretch xmlns:a="http://schemas.openxmlformats.org/drawingml/2006/main"/>
        </p:blipFill>
        <p:spPr>
          <a:xfrm xmlns:a="http://schemas.openxmlformats.org/drawingml/2006/main">
            <a:off x="609600" y="1774031"/>
            <a:ext cx="6858000" cy="4071938"/>
          </a:xfrm>
          <a:prstGeom xmlns:a="http://schemas.openxmlformats.org/drawingml/2006/main" prst="roundRect">
            <a:avLst>
              <a:gd name="adj" fmla="val 2400"/>
            </a:avLst>
          </a:prstGeom>
        </p:spPr>
      </p:pic>
      <p:sp>
        <p:nvSpPr>
          <p:cNvPr id="8" name="">
            <a:extLst xmlns:a="http://schemas.openxmlformats.org/drawingml/2006/main">
              <a:ext uri="{FF2B5EF4-FFF2-40B4-BE49-F238E27FC236}">
                <a16:creationId xmlns:a16="http://schemas.microsoft.com/office/drawing/2014/main" id="{EAAFEE5A-4393-49CA-ABE7-325C481E58A0}"/>
              </a:ext>
            </a:extLst>
          </p:cNvPr>
          <p:cNvSpPr>
            <a:spLocks xmlns:a="http://schemas.openxmlformats.org/drawingml/2006/main" noGrp="1"/>
          </p:cNvSpPr>
          <p:nvPr/>
        </p:nvSpPr>
        <p:spPr>
          <a:xfrm xmlns:a="http://schemas.openxmlformats.org/drawingml/2006/main">
            <a:off x="7953375" y="1600200"/>
            <a:ext cx="142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C4694"/>
                </a:solidFill>
                <a:latin typeface="Arial"/>
                <a:ea typeface="Arial"/>
                <a:cs typeface="Arial"/>
              </a:defRPr>
            </a:pPr>
            <a:r>
              <a:rPr sz="4050" b="1">
                <a:solidFill>
                  <a:srgbClr val="2C4694"/>
                </a:solidFill>
                <a:latin typeface="Arial"/>
                <a:ea typeface="Arial"/>
                <a:cs typeface="Arial"/>
              </a:rPr>
              <a:t>27</a:t>
            </a:r>
          </a:p>
        </p:txBody>
      </p:sp>
      <p:sp>
        <p:nvSpPr>
          <p:cNvPr id="9" name="">
            <a:extLst xmlns:a="http://schemas.openxmlformats.org/drawingml/2006/main">
              <a:ext uri="{FF2B5EF4-FFF2-40B4-BE49-F238E27FC236}">
                <a16:creationId xmlns:a16="http://schemas.microsoft.com/office/drawing/2014/main" id="{D38CBFF6-E29E-4F68-B793-BA164E4A9DF8}"/>
              </a:ext>
            </a:extLst>
          </p:cNvPr>
          <p:cNvSpPr>
            <a:spLocks xmlns:a="http://schemas.openxmlformats.org/drawingml/2006/main" noGrp="1"/>
          </p:cNvSpPr>
          <p:nvPr/>
        </p:nvSpPr>
        <p:spPr>
          <a:xfrm xmlns:a="http://schemas.openxmlformats.org/drawingml/2006/main">
            <a:off x="7953375" y="21717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4748B"/>
                </a:solidFill>
                <a:latin typeface="Arial"/>
                <a:ea typeface="Arial"/>
                <a:cs typeface="Arial"/>
              </a:defRPr>
            </a:pPr>
            <a:r>
              <a:rPr sz="1650" b="0">
                <a:solidFill>
                  <a:srgbClr val="64748B"/>
                </a:solidFill>
                <a:latin typeface="Arial"/>
                <a:ea typeface="Arial"/>
                <a:cs typeface="Arial"/>
              </a:rPr>
              <a:t>criteria in total</a:t>
            </a:r>
          </a:p>
        </p:txBody>
      </p:sp>
      <p:sp>
        <p:nvSpPr>
          <p:cNvPr id="10" name="">
            <a:extLst xmlns:a="http://schemas.openxmlformats.org/drawingml/2006/main">
              <a:ext uri="{FF2B5EF4-FFF2-40B4-BE49-F238E27FC236}">
                <a16:creationId xmlns:a16="http://schemas.microsoft.com/office/drawing/2014/main" id="{4329C70D-FD30-45E7-AFE7-D775DDAF9267}"/>
              </a:ext>
            </a:extLst>
          </p:cNvPr>
          <p:cNvSpPr>
            <a:spLocks xmlns:a="http://schemas.openxmlformats.org/drawingml/2006/main" noGrp="1"/>
          </p:cNvSpPr>
          <p:nvPr/>
        </p:nvSpPr>
        <p:spPr>
          <a:xfrm xmlns:a="http://schemas.openxmlformats.org/drawingml/2006/main">
            <a:off x="7953375" y="28575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2541"/>
                </a:solidFill>
                <a:latin typeface="Arial"/>
                <a:ea typeface="Arial"/>
                <a:cs typeface="Arial"/>
              </a:defRPr>
            </a:pPr>
            <a:r>
              <a:rPr sz="1950" b="1">
                <a:solidFill>
                  <a:srgbClr val="182541"/>
                </a:solidFill>
                <a:latin typeface="Arial"/>
                <a:ea typeface="Arial"/>
                <a:cs typeface="Arial"/>
              </a:rPr>
              <a:t>7 descriptive criteria</a:t>
            </a:r>
          </a:p>
        </p:txBody>
      </p:sp>
      <p:sp>
        <p:nvSpPr>
          <p:cNvPr id="11" name="">
            <a:extLst xmlns:a="http://schemas.openxmlformats.org/drawingml/2006/main">
              <a:ext uri="{FF2B5EF4-FFF2-40B4-BE49-F238E27FC236}">
                <a16:creationId xmlns:a16="http://schemas.microsoft.com/office/drawing/2014/main" id="{F7141B75-3E4E-4D89-9AC3-4816D132A7B4}"/>
              </a:ext>
            </a:extLst>
          </p:cNvPr>
          <p:cNvSpPr>
            <a:spLocks xmlns:a="http://schemas.openxmlformats.org/drawingml/2006/main" noGrp="1"/>
          </p:cNvSpPr>
          <p:nvPr/>
        </p:nvSpPr>
        <p:spPr>
          <a:xfrm xmlns:a="http://schemas.openxmlformats.org/drawingml/2006/main">
            <a:off x="7953375" y="32575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4748B"/>
                </a:solidFill>
                <a:latin typeface="Arial"/>
                <a:ea typeface="Arial"/>
                <a:cs typeface="Arial"/>
              </a:defRPr>
            </a:pPr>
            <a:r>
              <a:rPr sz="1575" b="0">
                <a:solidFill>
                  <a:srgbClr val="64748B"/>
                </a:solidFill>
                <a:latin typeface="Arial"/>
                <a:ea typeface="Arial"/>
                <a:cs typeface="Arial"/>
              </a:rPr>
              <a:t>Scores from 1 to 4</a:t>
            </a:r>
          </a:p>
        </p:txBody>
      </p:sp>
      <p:sp>
        <p:nvSpPr>
          <p:cNvPr id="12" name="">
            <a:extLst xmlns:a="http://schemas.openxmlformats.org/drawingml/2006/main">
              <a:ext uri="{FF2B5EF4-FFF2-40B4-BE49-F238E27FC236}">
                <a16:creationId xmlns:a16="http://schemas.microsoft.com/office/drawing/2014/main" id="{C01ADCD1-625B-448C-9C97-88F461C98FCA}"/>
              </a:ext>
            </a:extLst>
          </p:cNvPr>
          <p:cNvSpPr>
            <a:spLocks xmlns:a="http://schemas.openxmlformats.org/drawingml/2006/main" noGrp="1"/>
          </p:cNvSpPr>
          <p:nvPr/>
        </p:nvSpPr>
        <p:spPr>
          <a:xfrm xmlns:a="http://schemas.openxmlformats.org/drawingml/2006/main">
            <a:off x="7953375" y="39433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2541"/>
                </a:solidFill>
                <a:latin typeface="Arial"/>
                <a:ea typeface="Arial"/>
                <a:cs typeface="Arial"/>
              </a:defRPr>
            </a:pPr>
            <a:r>
              <a:rPr sz="1950" b="1">
                <a:solidFill>
                  <a:srgbClr val="182541"/>
                </a:solidFill>
                <a:latin typeface="Arial"/>
                <a:ea typeface="Arial"/>
                <a:cs typeface="Arial"/>
              </a:rPr>
              <a:t>20 strategic criteria</a:t>
            </a:r>
          </a:p>
        </p:txBody>
      </p:sp>
      <p:sp>
        <p:nvSpPr>
          <p:cNvPr id="13" name="">
            <a:extLst xmlns:a="http://schemas.openxmlformats.org/drawingml/2006/main">
              <a:ext uri="{FF2B5EF4-FFF2-40B4-BE49-F238E27FC236}">
                <a16:creationId xmlns:a16="http://schemas.microsoft.com/office/drawing/2014/main" id="{32A08427-3B0F-45FB-B5B4-7E2C499B6DD0}"/>
              </a:ext>
            </a:extLst>
          </p:cNvPr>
          <p:cNvSpPr>
            <a:spLocks xmlns:a="http://schemas.openxmlformats.org/drawingml/2006/main" noGrp="1"/>
          </p:cNvSpPr>
          <p:nvPr/>
        </p:nvSpPr>
        <p:spPr>
          <a:xfrm xmlns:a="http://schemas.openxmlformats.org/drawingml/2006/main">
            <a:off x="7953375" y="43434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4748B"/>
                </a:solidFill>
                <a:latin typeface="Arial"/>
                <a:ea typeface="Arial"/>
                <a:cs typeface="Arial"/>
              </a:defRPr>
            </a:pPr>
            <a:r>
              <a:rPr sz="1575" b="0">
                <a:solidFill>
                  <a:srgbClr val="64748B"/>
                </a:solidFill>
                <a:latin typeface="Arial"/>
                <a:ea typeface="Arial"/>
                <a:cs typeface="Arial"/>
              </a:rPr>
              <a:t>Scores from -2 to +2</a:t>
            </a:r>
          </a:p>
        </p:txBody>
      </p:sp>
      <p:sp>
        <p:nvSpPr>
          <p:cNvPr id="14" name="">
            <a:extLst xmlns:a="http://schemas.openxmlformats.org/drawingml/2006/main">
              <a:ext uri="{FF2B5EF4-FFF2-40B4-BE49-F238E27FC236}">
                <a16:creationId xmlns:a16="http://schemas.microsoft.com/office/drawing/2014/main" id="{2A554E7E-CAD3-4C8E-902D-C8D35B8BEEA4}"/>
              </a:ext>
            </a:extLst>
          </p:cNvPr>
          <p:cNvSpPr>
            <a:spLocks xmlns:a="http://schemas.openxmlformats.org/drawingml/2006/main" noGrp="1"/>
          </p:cNvSpPr>
          <p:nvPr/>
        </p:nvSpPr>
        <p:spPr>
          <a:xfrm xmlns:a="http://schemas.openxmlformats.org/drawingml/2006/main">
            <a:off x="7953375" y="5095875"/>
            <a:ext cx="333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6856A"/>
                </a:solidFill>
                <a:latin typeface="Arial"/>
                <a:ea typeface="Arial"/>
                <a:cs typeface="Arial"/>
              </a:defRPr>
            </a:pPr>
            <a:r>
              <a:rPr sz="1575" b="1">
                <a:solidFill>
                  <a:srgbClr val="16856A"/>
                </a:solidFill>
                <a:latin typeface="Arial"/>
                <a:ea typeface="Arial"/>
                <a:cs typeface="Arial"/>
              </a:rPr>
              <a:t>Missing answers stay blank and do not change the average.</a:t>
            </a:r>
          </a:p>
        </p:txBody>
      </p:sp>
    </p:spTree>
    <p:extLst>
      <p:ext uri="{BB962C8B-B14F-4D97-AF65-F5344CB8AC3E}">
        <p14:creationId xmlns:p14="http://schemas.microsoft.com/office/powerpoint/2010/main" val="11109024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2F3A04-9011-4884-9FF5-4CF53F37485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841FAE-F18A-4129-8F2D-290C7F9299F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06BB4"/>
                </a:solidFill>
                <a:latin typeface="Arial"/>
                <a:ea typeface="Arial"/>
                <a:cs typeface="Arial"/>
              </a:defRPr>
            </a:pPr>
            <a:r>
              <a:rPr sz="1125" b="1">
                <a:solidFill>
                  <a:srgbClr val="506BB4"/>
                </a:solidFill>
                <a:latin typeface="Arial"/>
                <a:ea typeface="Arial"/>
                <a:cs typeface="Arial"/>
              </a:rPr>
              <a:t>DASHBOARD</a:t>
            </a:r>
          </a:p>
        </p:txBody>
      </p:sp>
      <p:sp>
        <p:nvSpPr>
          <p:cNvPr id="3" name="">
            <a:extLst xmlns:a="http://schemas.openxmlformats.org/drawingml/2006/main">
              <a:ext uri="{FF2B5EF4-FFF2-40B4-BE49-F238E27FC236}">
                <a16:creationId xmlns:a16="http://schemas.microsoft.com/office/drawing/2014/main" id="{7A033B05-C066-4481-85D1-3DFDD9BF2E5A}"/>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541"/>
                </a:solidFill>
                <a:latin typeface="Arial"/>
                <a:ea typeface="Arial"/>
                <a:cs typeface="Arial"/>
              </a:defRPr>
            </a:pPr>
            <a:r>
              <a:rPr sz="3300" b="1">
                <a:solidFill>
                  <a:srgbClr val="182541"/>
                </a:solidFill>
                <a:latin typeface="Arial"/>
                <a:ea typeface="Arial"/>
                <a:cs typeface="Arial"/>
              </a:rPr>
              <a:t>Brand level overview</a:t>
            </a:r>
          </a:p>
        </p:txBody>
      </p:sp>
      <p:sp>
        <p:nvSpPr>
          <p:cNvPr id="4" name="">
            <a:extLst xmlns:a="http://schemas.openxmlformats.org/drawingml/2006/main">
              <a:ext uri="{FF2B5EF4-FFF2-40B4-BE49-F238E27FC236}">
                <a16:creationId xmlns:a16="http://schemas.microsoft.com/office/drawing/2014/main" id="{FC651F39-88F8-4308-A6D2-341A067E9F38}"/>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52EFF7-1B64-4EAC-A6DD-470BF868E7A8}"/>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48B"/>
                </a:solidFill>
                <a:latin typeface="Arial"/>
                <a:ea typeface="Arial"/>
                <a:cs typeface="Arial"/>
              </a:defRPr>
            </a:pPr>
            <a:r>
              <a:rPr sz="1050" b="0">
                <a:solidFill>
                  <a:srgbClr val="64748B"/>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29252DBA-AC64-4821-80AA-DB868B8806DF}"/>
              </a:ext>
            </a:extLst>
          </p:cNvPr>
          <p:cNvSpPr>
            <a:spLocks xmlns:a="http://schemas.openxmlformats.org/drawingml/2006/main" noGrp="1"/>
          </p:cNvSpPr>
          <p:nvPr/>
        </p:nvSpPr>
        <p:spPr>
          <a:xfrm xmlns:a="http://schemas.openxmlformats.org/drawingml/2006/main">
            <a:off x="561975" y="1362075"/>
            <a:ext cx="110680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929e90028eb4737"/>
          <a:stretch xmlns:a="http://schemas.openxmlformats.org/drawingml/2006/main"/>
        </p:blipFill>
        <p:spPr>
          <a:xfrm xmlns:a="http://schemas.openxmlformats.org/drawingml/2006/main">
            <a:off x="2085474" y="1409700"/>
            <a:ext cx="8021053" cy="4762500"/>
          </a:xfrm>
          <a:prstGeom xmlns:a="http://schemas.openxmlformats.org/drawingml/2006/main" prst="roundRect">
            <a:avLst>
              <a:gd name="adj" fmla="val 2400"/>
            </a:avLst>
          </a:prstGeom>
        </p:spPr>
      </p:pic>
      <p:sp>
        <p:nvSpPr>
          <p:cNvPr id="8" name="">
            <a:extLst xmlns:a="http://schemas.openxmlformats.org/drawingml/2006/main">
              <a:ext uri="{FF2B5EF4-FFF2-40B4-BE49-F238E27FC236}">
                <a16:creationId xmlns:a16="http://schemas.microsoft.com/office/drawing/2014/main" id="{16EDAC99-B5AD-47BA-BF78-275EBA4E591E}"/>
              </a:ext>
            </a:extLst>
          </p:cNvPr>
          <p:cNvSpPr>
            <a:spLocks xmlns:a="http://schemas.openxmlformats.org/drawingml/2006/main" noGrp="1"/>
          </p:cNvSpPr>
          <p:nvPr/>
        </p:nvSpPr>
        <p:spPr>
          <a:xfrm xmlns:a="http://schemas.openxmlformats.org/drawingml/2006/main">
            <a:off x="1123950" y="628650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4694"/>
                </a:solidFill>
                <a:latin typeface="Arial"/>
                <a:ea typeface="Arial"/>
                <a:cs typeface="Arial"/>
              </a:defRPr>
            </a:pPr>
            <a:r>
              <a:rPr sz="1575" b="1">
                <a:solidFill>
                  <a:srgbClr val="2C4694"/>
                </a:solidFill>
                <a:latin typeface="Arial"/>
                <a:ea typeface="Arial"/>
                <a:cs typeface="Arial"/>
              </a:rPr>
              <a:t>The selector controls the indicators, decision matrix, recommendations, and table.</a:t>
            </a:r>
          </a:p>
        </p:txBody>
      </p:sp>
    </p:spTree>
    <p:extLst>
      <p:ext uri="{BB962C8B-B14F-4D97-AF65-F5344CB8AC3E}">
        <p14:creationId xmlns:p14="http://schemas.microsoft.com/office/powerpoint/2010/main" val="17737303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906052-E4DE-47D4-B15A-A2BE3E2648A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2256F9-57FC-40D3-97C9-04AACCFA691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06BB4"/>
                </a:solidFill>
                <a:latin typeface="Arial"/>
                <a:ea typeface="Arial"/>
                <a:cs typeface="Arial"/>
              </a:defRPr>
            </a:pPr>
            <a:r>
              <a:rPr sz="1125" b="1">
                <a:solidFill>
                  <a:srgbClr val="506BB4"/>
                </a:solidFill>
                <a:latin typeface="Arial"/>
                <a:ea typeface="Arial"/>
                <a:cs typeface="Arial"/>
              </a:rPr>
              <a:t>PORTFOLIO CONTROL</a:t>
            </a:r>
          </a:p>
        </p:txBody>
      </p:sp>
      <p:sp>
        <p:nvSpPr>
          <p:cNvPr id="3" name="">
            <a:extLst xmlns:a="http://schemas.openxmlformats.org/drawingml/2006/main">
              <a:ext uri="{FF2B5EF4-FFF2-40B4-BE49-F238E27FC236}">
                <a16:creationId xmlns:a16="http://schemas.microsoft.com/office/drawing/2014/main" id="{FC325753-2789-4CA9-A514-EA1B112EF9A7}"/>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541"/>
                </a:solidFill>
                <a:latin typeface="Arial"/>
                <a:ea typeface="Arial"/>
                <a:cs typeface="Arial"/>
              </a:defRPr>
            </a:pPr>
            <a:r>
              <a:rPr sz="3300" b="1">
                <a:solidFill>
                  <a:srgbClr val="182541"/>
                </a:solidFill>
                <a:latin typeface="Arial"/>
                <a:ea typeface="Arial"/>
                <a:cs typeface="Arial"/>
              </a:rPr>
              <a:t>Portfolio register</a:t>
            </a:r>
          </a:p>
        </p:txBody>
      </p:sp>
      <p:sp>
        <p:nvSpPr>
          <p:cNvPr id="4" name="">
            <a:extLst xmlns:a="http://schemas.openxmlformats.org/drawingml/2006/main">
              <a:ext uri="{FF2B5EF4-FFF2-40B4-BE49-F238E27FC236}">
                <a16:creationId xmlns:a16="http://schemas.microsoft.com/office/drawing/2014/main" id="{88E8243E-E185-4927-A2D1-3FB7E7FD7AE5}"/>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695788-C77E-434B-9D1B-BF564146ED0A}"/>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48B"/>
                </a:solidFill>
                <a:latin typeface="Arial"/>
                <a:ea typeface="Arial"/>
                <a:cs typeface="Arial"/>
              </a:defRPr>
            </a:pPr>
            <a:r>
              <a:rPr sz="1050" b="0">
                <a:solidFill>
                  <a:srgbClr val="64748B"/>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DD10BB61-AA94-4002-B50B-43177505991A}"/>
              </a:ext>
            </a:extLst>
          </p:cNvPr>
          <p:cNvSpPr>
            <a:spLocks xmlns:a="http://schemas.openxmlformats.org/drawingml/2006/main" noGrp="1"/>
          </p:cNvSpPr>
          <p:nvPr/>
        </p:nvSpPr>
        <p:spPr>
          <a:xfrm xmlns:a="http://schemas.openxmlformats.org/drawingml/2006/main">
            <a:off x="609600" y="1504950"/>
            <a:ext cx="371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2541"/>
                </a:solidFill>
                <a:latin typeface="Arial"/>
                <a:ea typeface="Arial"/>
                <a:cs typeface="Arial"/>
              </a:defRPr>
            </a:pPr>
            <a:r>
              <a:rPr sz="2325" b="1">
                <a:solidFill>
                  <a:srgbClr val="182541"/>
                </a:solidFill>
                <a:latin typeface="Arial"/>
                <a:ea typeface="Arial"/>
                <a:cs typeface="Arial"/>
              </a:rPr>
              <a:t>A shared view of all active brands</a:t>
            </a:r>
          </a:p>
        </p:txBody>
      </p:sp>
      <p:sp>
        <p:nvSpPr>
          <p:cNvPr id="7" name="">
            <a:extLst xmlns:a="http://schemas.openxmlformats.org/drawingml/2006/main">
              <a:ext uri="{FF2B5EF4-FFF2-40B4-BE49-F238E27FC236}">
                <a16:creationId xmlns:a16="http://schemas.microsoft.com/office/drawing/2014/main" id="{CA4F7952-8524-4FCF-89F8-1C4C3C5D340B}"/>
              </a:ext>
            </a:extLst>
          </p:cNvPr>
          <p:cNvSpPr>
            <a:spLocks xmlns:a="http://schemas.openxmlformats.org/drawingml/2006/main" noGrp="1"/>
          </p:cNvSpPr>
          <p:nvPr/>
        </p:nvSpPr>
        <p:spPr>
          <a:xfrm xmlns:a="http://schemas.openxmlformats.org/drawingml/2006/main">
            <a:off x="609600" y="2362200"/>
            <a:ext cx="3714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Filter by category, family, commercial owner, recommendation, or status.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Compare completeness before a review meeting.</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See the main scores and comments in one table.</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Open the assessment page to update a record.</a:t>
            </a:r>
          </a:p>
        </p:txBody>
      </p:sp>
      <p:sp>
        <p:nvSpPr>
          <p:cNvPr id="8" name="">
            <a:extLst xmlns:a="http://schemas.openxmlformats.org/drawingml/2006/main">
              <a:ext uri="{FF2B5EF4-FFF2-40B4-BE49-F238E27FC236}">
                <a16:creationId xmlns:a16="http://schemas.microsoft.com/office/drawing/2014/main" id="{46F4F325-EA17-4299-8BBF-424D869FE350}"/>
              </a:ext>
            </a:extLst>
          </p:cNvPr>
          <p:cNvSpPr>
            <a:spLocks xmlns:a="http://schemas.openxmlformats.org/drawingml/2006/main" noGrp="1"/>
          </p:cNvSpPr>
          <p:nvPr/>
        </p:nvSpPr>
        <p:spPr>
          <a:xfrm xmlns:a="http://schemas.openxmlformats.org/drawingml/2006/main">
            <a:off x="609600" y="55626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56A"/>
                </a:solidFill>
                <a:latin typeface="Arial"/>
                <a:ea typeface="Arial"/>
                <a:cs typeface="Arial"/>
              </a:defRPr>
            </a:pPr>
            <a:r>
              <a:rPr sz="1500" b="1">
                <a:solidFill>
                  <a:srgbClr val="16856A"/>
                </a:solidFill>
                <a:latin typeface="Arial"/>
                <a:ea typeface="Arial"/>
                <a:cs typeface="Arial"/>
              </a:rPr>
              <a:t>This screen creates a simple operating list for the commercial team.</a:t>
            </a:r>
          </a:p>
        </p:txBody>
      </p:sp>
      <p:sp>
        <p:nvSpPr>
          <p:cNvPr id="9" name="">
            <a:extLst xmlns:a="http://schemas.openxmlformats.org/drawingml/2006/main">
              <a:ext uri="{FF2B5EF4-FFF2-40B4-BE49-F238E27FC236}">
                <a16:creationId xmlns:a16="http://schemas.microsoft.com/office/drawing/2014/main" id="{29973B16-620F-4D2A-AA39-C711078D45CA}"/>
              </a:ext>
            </a:extLst>
          </p:cNvPr>
          <p:cNvSpPr>
            <a:spLocks xmlns:a="http://schemas.openxmlformats.org/drawingml/2006/main" noGrp="1"/>
          </p:cNvSpPr>
          <p:nvPr/>
        </p:nvSpPr>
        <p:spPr>
          <a:xfrm xmlns:a="http://schemas.openxmlformats.org/drawingml/2006/main">
            <a:off x="4638675" y="1381125"/>
            <a:ext cx="69913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8ca9b55deb14c6d"/>
          <a:stretch xmlns:a="http://schemas.openxmlformats.org/drawingml/2006/main"/>
        </p:blipFill>
        <p:spPr>
          <a:xfrm xmlns:a="http://schemas.openxmlformats.org/drawingml/2006/main">
            <a:off x="4686300" y="1762720"/>
            <a:ext cx="6896100" cy="4094559"/>
          </a:xfrm>
          <a:prstGeom xmlns:a="http://schemas.openxmlformats.org/drawingml/2006/main" prst="roundRect">
            <a:avLst>
              <a:gd name="adj" fmla="val 2400"/>
            </a:avLst>
          </a:prstGeom>
        </p:spPr>
      </p:pic>
    </p:spTree>
    <p:extLst>
      <p:ext uri="{BB962C8B-B14F-4D97-AF65-F5344CB8AC3E}">
        <p14:creationId xmlns:p14="http://schemas.microsoft.com/office/powerpoint/2010/main" val="17679571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7D6C39-2A4D-4181-A13D-7D6A1CCE66B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3335E5-7268-42CE-B7B2-94CD01A3D06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06BB4"/>
                </a:solidFill>
                <a:latin typeface="Arial"/>
                <a:ea typeface="Arial"/>
                <a:cs typeface="Arial"/>
              </a:defRPr>
            </a:pPr>
            <a:r>
              <a:rPr sz="1125" b="1">
                <a:solidFill>
                  <a:srgbClr val="506BB4"/>
                </a:solidFill>
                <a:latin typeface="Arial"/>
                <a:ea typeface="Arial"/>
                <a:cs typeface="Arial"/>
              </a:rPr>
              <a:t>ANALYSIS</a:t>
            </a:r>
          </a:p>
        </p:txBody>
      </p:sp>
      <p:sp>
        <p:nvSpPr>
          <p:cNvPr id="3" name="">
            <a:extLst xmlns:a="http://schemas.openxmlformats.org/drawingml/2006/main">
              <a:ext uri="{FF2B5EF4-FFF2-40B4-BE49-F238E27FC236}">
                <a16:creationId xmlns:a16="http://schemas.microsoft.com/office/drawing/2014/main" id="{F1FE7BA9-3825-4373-BFEB-B628122DCF1B}"/>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541"/>
                </a:solidFill>
                <a:latin typeface="Arial"/>
                <a:ea typeface="Arial"/>
                <a:cs typeface="Arial"/>
              </a:defRPr>
            </a:pPr>
            <a:r>
              <a:rPr sz="3300" b="1">
                <a:solidFill>
                  <a:srgbClr val="182541"/>
                </a:solidFill>
                <a:latin typeface="Arial"/>
                <a:ea typeface="Arial"/>
                <a:cs typeface="Arial"/>
              </a:rPr>
              <a:t>Multi-brand comparison</a:t>
            </a:r>
          </a:p>
        </p:txBody>
      </p:sp>
      <p:sp>
        <p:nvSpPr>
          <p:cNvPr id="4" name="">
            <a:extLst xmlns:a="http://schemas.openxmlformats.org/drawingml/2006/main">
              <a:ext uri="{FF2B5EF4-FFF2-40B4-BE49-F238E27FC236}">
                <a16:creationId xmlns:a16="http://schemas.microsoft.com/office/drawing/2014/main" id="{E2893C74-E83E-4303-ABA5-E3CAA54BBB77}"/>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E9861A1-270C-4C88-8D52-B0421F6EB345}"/>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48B"/>
                </a:solidFill>
                <a:latin typeface="Arial"/>
                <a:ea typeface="Arial"/>
                <a:cs typeface="Arial"/>
              </a:defRPr>
            </a:pPr>
            <a:r>
              <a:rPr sz="1050" b="0">
                <a:solidFill>
                  <a:srgbClr val="64748B"/>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45988844-43D4-49BD-AAEB-EE03576C8A58}"/>
              </a:ext>
            </a:extLst>
          </p:cNvPr>
          <p:cNvSpPr>
            <a:spLocks xmlns:a="http://schemas.openxmlformats.org/drawingml/2006/main" noGrp="1"/>
          </p:cNvSpPr>
          <p:nvPr/>
        </p:nvSpPr>
        <p:spPr>
          <a:xfrm xmlns:a="http://schemas.openxmlformats.org/drawingml/2006/main">
            <a:off x="561975" y="1381125"/>
            <a:ext cx="73342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111e2d654524f05"/>
          <a:stretch xmlns:a="http://schemas.openxmlformats.org/drawingml/2006/main"/>
        </p:blipFill>
        <p:spPr>
          <a:xfrm xmlns:a="http://schemas.openxmlformats.org/drawingml/2006/main">
            <a:off x="609600" y="1660922"/>
            <a:ext cx="7239000" cy="4298156"/>
          </a:xfrm>
          <a:prstGeom xmlns:a="http://schemas.openxmlformats.org/drawingml/2006/main" prst="roundRect">
            <a:avLst>
              <a:gd name="adj" fmla="val 2400"/>
            </a:avLst>
          </a:prstGeom>
        </p:spPr>
      </p:pic>
      <p:sp>
        <p:nvSpPr>
          <p:cNvPr id="8" name="">
            <a:extLst xmlns:a="http://schemas.openxmlformats.org/drawingml/2006/main">
              <a:ext uri="{FF2B5EF4-FFF2-40B4-BE49-F238E27FC236}">
                <a16:creationId xmlns:a16="http://schemas.microsoft.com/office/drawing/2014/main" id="{229CDD03-DAFC-483F-A0E3-3E60D5B744A7}"/>
              </a:ext>
            </a:extLst>
          </p:cNvPr>
          <p:cNvSpPr>
            <a:spLocks xmlns:a="http://schemas.openxmlformats.org/drawingml/2006/main" noGrp="1"/>
          </p:cNvSpPr>
          <p:nvPr/>
        </p:nvSpPr>
        <p:spPr>
          <a:xfrm xmlns:a="http://schemas.openxmlformats.org/drawingml/2006/main">
            <a:off x="8248650" y="157162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541"/>
                </a:solidFill>
                <a:latin typeface="Arial"/>
                <a:ea typeface="Arial"/>
                <a:cs typeface="Arial"/>
              </a:defRPr>
            </a:pPr>
            <a:r>
              <a:rPr sz="2250" b="1">
                <a:solidFill>
                  <a:srgbClr val="182541"/>
                </a:solidFill>
                <a:latin typeface="Arial"/>
                <a:ea typeface="Arial"/>
                <a:cs typeface="Arial"/>
              </a:rPr>
              <a:t>One chart, several brands</a:t>
            </a:r>
          </a:p>
        </p:txBody>
      </p:sp>
      <p:sp>
        <p:nvSpPr>
          <p:cNvPr id="9" name="">
            <a:extLst xmlns:a="http://schemas.openxmlformats.org/drawingml/2006/main">
              <a:ext uri="{FF2B5EF4-FFF2-40B4-BE49-F238E27FC236}">
                <a16:creationId xmlns:a16="http://schemas.microsoft.com/office/drawing/2014/main" id="{6E02D522-BA06-44A9-B4B0-AE940512CBAC}"/>
              </a:ext>
            </a:extLst>
          </p:cNvPr>
          <p:cNvSpPr>
            <a:spLocks xmlns:a="http://schemas.openxmlformats.org/drawingml/2006/main" noGrp="1"/>
          </p:cNvSpPr>
          <p:nvPr/>
        </p:nvSpPr>
        <p:spPr>
          <a:xfrm xmlns:a="http://schemas.openxmlformats.org/drawingml/2006/main">
            <a:off x="8248650" y="2324100"/>
            <a:ext cx="3048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Select up to eight brands.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Each brand uses a different color.</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Compare five strategic pillars on one radar.</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Use the other tabs for ranking and heatmaps.</a:t>
            </a:r>
          </a:p>
        </p:txBody>
      </p:sp>
      <p:sp>
        <p:nvSpPr>
          <p:cNvPr id="10" name="">
            <a:extLst xmlns:a="http://schemas.openxmlformats.org/drawingml/2006/main">
              <a:ext uri="{FF2B5EF4-FFF2-40B4-BE49-F238E27FC236}">
                <a16:creationId xmlns:a16="http://schemas.microsoft.com/office/drawing/2014/main" id="{334937C5-3A72-4EA1-BB11-4C61842E4FE7}"/>
              </a:ext>
            </a:extLst>
          </p:cNvPr>
          <p:cNvSpPr>
            <a:spLocks xmlns:a="http://schemas.openxmlformats.org/drawingml/2006/main" noGrp="1"/>
          </p:cNvSpPr>
          <p:nvPr/>
        </p:nvSpPr>
        <p:spPr>
          <a:xfrm xmlns:a="http://schemas.openxmlformats.org/drawingml/2006/main">
            <a:off x="8248650" y="5219700"/>
            <a:ext cx="304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C4694"/>
                </a:solidFill>
                <a:latin typeface="Arial"/>
                <a:ea typeface="Arial"/>
                <a:cs typeface="Arial"/>
              </a:defRPr>
            </a:pPr>
            <a:r>
              <a:rPr sz="1500" b="1">
                <a:solidFill>
                  <a:srgbClr val="2C4694"/>
                </a:solidFill>
                <a:latin typeface="Arial"/>
                <a:ea typeface="Arial"/>
                <a:cs typeface="Arial"/>
              </a:rPr>
              <a:t>The legend and hover details make each profile easy to identify.</a:t>
            </a:r>
          </a:p>
        </p:txBody>
      </p:sp>
    </p:spTree>
    <p:extLst>
      <p:ext uri="{BB962C8B-B14F-4D97-AF65-F5344CB8AC3E}">
        <p14:creationId xmlns:p14="http://schemas.microsoft.com/office/powerpoint/2010/main" val="13501715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EBA66D-A17F-41A8-80B7-E842F131640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AC0DF5-0F45-48FC-B3B8-4686A02CB50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06BB4"/>
                </a:solidFill>
                <a:latin typeface="Arial"/>
                <a:ea typeface="Arial"/>
                <a:cs typeface="Arial"/>
              </a:defRPr>
            </a:pPr>
            <a:r>
              <a:rPr sz="1125" b="1">
                <a:solidFill>
                  <a:srgbClr val="506BB4"/>
                </a:solidFill>
                <a:latin typeface="Arial"/>
                <a:ea typeface="Arial"/>
                <a:cs typeface="Arial"/>
              </a:rPr>
              <a:t>DATA STORAGE</a:t>
            </a:r>
          </a:p>
        </p:txBody>
      </p:sp>
      <p:sp>
        <p:nvSpPr>
          <p:cNvPr id="3" name="">
            <a:extLst xmlns:a="http://schemas.openxmlformats.org/drawingml/2006/main">
              <a:ext uri="{FF2B5EF4-FFF2-40B4-BE49-F238E27FC236}">
                <a16:creationId xmlns:a16="http://schemas.microsoft.com/office/drawing/2014/main" id="{3E16FF49-BDF9-458C-AA24-D4838C8F10EF}"/>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541"/>
                </a:solidFill>
                <a:latin typeface="Arial"/>
                <a:ea typeface="Arial"/>
                <a:cs typeface="Arial"/>
              </a:defRPr>
            </a:pPr>
            <a:r>
              <a:rPr sz="3300" b="1">
                <a:solidFill>
                  <a:srgbClr val="182541"/>
                </a:solidFill>
                <a:latin typeface="Arial"/>
                <a:ea typeface="Arial"/>
                <a:cs typeface="Arial"/>
              </a:rPr>
              <a:t>Persistent SQLite database</a:t>
            </a:r>
          </a:p>
        </p:txBody>
      </p:sp>
      <p:sp>
        <p:nvSpPr>
          <p:cNvPr id="4" name="">
            <a:extLst xmlns:a="http://schemas.openxmlformats.org/drawingml/2006/main">
              <a:ext uri="{FF2B5EF4-FFF2-40B4-BE49-F238E27FC236}">
                <a16:creationId xmlns:a16="http://schemas.microsoft.com/office/drawing/2014/main" id="{29881D56-57C0-41FB-A748-AB468638EC1E}"/>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3A445C-6F24-4B3C-A4D8-22BD76AE5E6A}"/>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48B"/>
                </a:solidFill>
                <a:latin typeface="Arial"/>
                <a:ea typeface="Arial"/>
                <a:cs typeface="Arial"/>
              </a:defRPr>
            </a:pPr>
            <a:r>
              <a:rPr sz="1050" b="0">
                <a:solidFill>
                  <a:srgbClr val="64748B"/>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3548B6A3-0077-4B61-BAE9-E159E7D0C483}"/>
              </a:ext>
            </a:extLst>
          </p:cNvPr>
          <p:cNvSpPr>
            <a:spLocks xmlns:a="http://schemas.openxmlformats.org/drawingml/2006/main" noGrp="1"/>
          </p:cNvSpPr>
          <p:nvPr/>
        </p:nvSpPr>
        <p:spPr>
          <a:xfrm xmlns:a="http://schemas.openxmlformats.org/drawingml/2006/main">
            <a:off x="609600" y="14859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2541"/>
                </a:solidFill>
                <a:latin typeface="Arial"/>
                <a:ea typeface="Arial"/>
                <a:cs typeface="Arial"/>
              </a:defRPr>
            </a:pPr>
            <a:r>
              <a:rPr sz="2325" b="1">
                <a:solidFill>
                  <a:srgbClr val="182541"/>
                </a:solidFill>
                <a:latin typeface="Arial"/>
                <a:ea typeface="Arial"/>
                <a:cs typeface="Arial"/>
              </a:rPr>
              <a:t>The database starts automatically with the app</a:t>
            </a:r>
          </a:p>
        </p:txBody>
      </p:sp>
      <p:sp>
        <p:nvSpPr>
          <p:cNvPr id="7" name="">
            <a:extLst xmlns:a="http://schemas.openxmlformats.org/drawingml/2006/main">
              <a:ext uri="{FF2B5EF4-FFF2-40B4-BE49-F238E27FC236}">
                <a16:creationId xmlns:a16="http://schemas.microsoft.com/office/drawing/2014/main" id="{5E265296-0DDA-457F-BBA5-B63FB9E04849}"/>
              </a:ext>
            </a:extLst>
          </p:cNvPr>
          <p:cNvSpPr>
            <a:spLocks xmlns:a="http://schemas.openxmlformats.org/drawingml/2006/main" noGrp="1"/>
          </p:cNvSpPr>
          <p:nvPr/>
        </p:nvSpPr>
        <p:spPr>
          <a:xfrm xmlns:a="http://schemas.openxmlformats.org/drawingml/2006/main">
            <a:off x="609600" y="2428875"/>
            <a:ext cx="4000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Every save or update writes the complete assessment.</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Brand names stay unique in the database.</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The app stores scoring settings as well as brand records.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DB Browser for SQLite provides a direct read-only view.</a:t>
            </a:r>
          </a:p>
        </p:txBody>
      </p:sp>
      <p:sp>
        <p:nvSpPr>
          <p:cNvPr id="8" name="">
            <a:extLst xmlns:a="http://schemas.openxmlformats.org/drawingml/2006/main">
              <a:ext uri="{FF2B5EF4-FFF2-40B4-BE49-F238E27FC236}">
                <a16:creationId xmlns:a16="http://schemas.microsoft.com/office/drawing/2014/main" id="{B3588EA8-A840-4356-9AF5-8BD97FA97973}"/>
              </a:ext>
            </a:extLst>
          </p:cNvPr>
          <p:cNvSpPr>
            <a:spLocks xmlns:a="http://schemas.openxmlformats.org/drawingml/2006/main" noGrp="1"/>
          </p:cNvSpPr>
          <p:nvPr/>
        </p:nvSpPr>
        <p:spPr>
          <a:xfrm xmlns:a="http://schemas.openxmlformats.org/drawingml/2006/main">
            <a:off x="609600" y="54102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06BB4"/>
                </a:solidFill>
                <a:latin typeface="Arial"/>
                <a:ea typeface="Arial"/>
                <a:cs typeface="Arial"/>
              </a:defRPr>
            </a:pPr>
            <a:r>
              <a:rPr sz="1350" b="1">
                <a:solidFill>
                  <a:srgbClr val="506BB4"/>
                </a:solidFill>
                <a:latin typeface="Arial"/>
                <a:ea typeface="Arial"/>
                <a:cs typeface="Arial"/>
              </a:rPr>
              <a:t>Default file</a:t>
            </a:r>
          </a:p>
        </p:txBody>
      </p:sp>
      <p:sp>
        <p:nvSpPr>
          <p:cNvPr id="9" name="">
            <a:extLst xmlns:a="http://schemas.openxmlformats.org/drawingml/2006/main">
              <a:ext uri="{FF2B5EF4-FFF2-40B4-BE49-F238E27FC236}">
                <a16:creationId xmlns:a16="http://schemas.microsoft.com/office/drawing/2014/main" id="{D57A9E60-4F76-4003-8F25-8B44126EFB76}"/>
              </a:ext>
            </a:extLst>
          </p:cNvPr>
          <p:cNvSpPr>
            <a:spLocks xmlns:a="http://schemas.openxmlformats.org/drawingml/2006/main" noGrp="1"/>
          </p:cNvSpPr>
          <p:nvPr/>
        </p:nvSpPr>
        <p:spPr>
          <a:xfrm xmlns:a="http://schemas.openxmlformats.org/drawingml/2006/main">
            <a:off x="609600" y="57340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52039"/>
                </a:solidFill>
                <a:latin typeface="Arial"/>
                <a:ea typeface="Arial"/>
                <a:cs typeface="Arial"/>
              </a:defRPr>
            </a:pPr>
            <a:r>
              <a:rPr sz="1650" b="1">
                <a:solidFill>
                  <a:srgbClr val="152039"/>
                </a:solidFill>
                <a:latin typeface="Arial"/>
                <a:ea typeface="Arial"/>
                <a:cs typeface="Arial"/>
              </a:rPr>
              <a:t>data/brand_scorecard.db</a:t>
            </a:r>
          </a:p>
        </p:txBody>
      </p:sp>
      <p:sp>
        <p:nvSpPr>
          <p:cNvPr id="10" name="">
            <a:extLst xmlns:a="http://schemas.openxmlformats.org/drawingml/2006/main">
              <a:ext uri="{FF2B5EF4-FFF2-40B4-BE49-F238E27FC236}">
                <a16:creationId xmlns:a16="http://schemas.microsoft.com/office/drawing/2014/main" id="{D7D0A00B-FA5B-4FE0-BACE-B20FCEA05CC3}"/>
              </a:ext>
            </a:extLst>
          </p:cNvPr>
          <p:cNvSpPr>
            <a:spLocks xmlns:a="http://schemas.openxmlformats.org/drawingml/2006/main" noGrp="1"/>
          </p:cNvSpPr>
          <p:nvPr/>
        </p:nvSpPr>
        <p:spPr>
          <a:xfrm xmlns:a="http://schemas.openxmlformats.org/drawingml/2006/main">
            <a:off x="4857750" y="1381125"/>
            <a:ext cx="6772275"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8fbe41b26b64bd0"/>
          <a:stretch xmlns:a="http://schemas.openxmlformats.org/drawingml/2006/main"/>
        </p:blipFill>
        <p:spPr>
          <a:xfrm xmlns:a="http://schemas.openxmlformats.org/drawingml/2006/main">
            <a:off x="4905375" y="2123338"/>
            <a:ext cx="6677025" cy="3373325"/>
          </a:xfrm>
          <a:prstGeom xmlns:a="http://schemas.openxmlformats.org/drawingml/2006/main" prst="roundRect">
            <a:avLst>
              <a:gd name="adj" fmla="val 2400"/>
            </a:avLst>
          </a:prstGeom>
        </p:spPr>
      </p:pic>
    </p:spTree>
    <p:extLst>
      <p:ext uri="{BB962C8B-B14F-4D97-AF65-F5344CB8AC3E}">
        <p14:creationId xmlns:p14="http://schemas.microsoft.com/office/powerpoint/2010/main" val="9533514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120F0B3-9F24-4DE1-9C51-2451A732938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A7F3C6-2406-49BD-99E8-A7E895B3305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06BB4"/>
                </a:solidFill>
                <a:latin typeface="Arial"/>
                <a:ea typeface="Arial"/>
                <a:cs typeface="Arial"/>
              </a:defRPr>
            </a:pPr>
            <a:r>
              <a:rPr sz="1125" b="1">
                <a:solidFill>
                  <a:srgbClr val="506BB4"/>
                </a:solidFill>
                <a:latin typeface="Arial"/>
                <a:ea typeface="Arial"/>
                <a:cs typeface="Arial"/>
              </a:rPr>
              <a:t>DATA EXCHANGE</a:t>
            </a:r>
          </a:p>
        </p:txBody>
      </p:sp>
      <p:sp>
        <p:nvSpPr>
          <p:cNvPr id="3" name="">
            <a:extLst xmlns:a="http://schemas.openxmlformats.org/drawingml/2006/main">
              <a:ext uri="{FF2B5EF4-FFF2-40B4-BE49-F238E27FC236}">
                <a16:creationId xmlns:a16="http://schemas.microsoft.com/office/drawing/2014/main" id="{921AA722-7673-4DF5-A634-A5F4C1D6462D}"/>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541"/>
                </a:solidFill>
                <a:latin typeface="Arial"/>
                <a:ea typeface="Arial"/>
                <a:cs typeface="Arial"/>
              </a:defRPr>
            </a:pPr>
            <a:r>
              <a:rPr sz="3300" b="1">
                <a:solidFill>
                  <a:srgbClr val="182541"/>
                </a:solidFill>
                <a:latin typeface="Arial"/>
                <a:ea typeface="Arial"/>
                <a:cs typeface="Arial"/>
              </a:rPr>
              <a:t>Import and export</a:t>
            </a:r>
          </a:p>
        </p:txBody>
      </p:sp>
      <p:sp>
        <p:nvSpPr>
          <p:cNvPr id="4" name="">
            <a:extLst xmlns:a="http://schemas.openxmlformats.org/drawingml/2006/main">
              <a:ext uri="{FF2B5EF4-FFF2-40B4-BE49-F238E27FC236}">
                <a16:creationId xmlns:a16="http://schemas.microsoft.com/office/drawing/2014/main" id="{BFE755BB-B0CB-4FD4-872B-A154703C6F2B}"/>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DCCF43-AF27-4F63-B1EA-29513825C675}"/>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48B"/>
                </a:solidFill>
                <a:latin typeface="Arial"/>
                <a:ea typeface="Arial"/>
                <a:cs typeface="Arial"/>
              </a:defRPr>
            </a:pPr>
            <a:r>
              <a:rPr sz="1050" b="0">
                <a:solidFill>
                  <a:srgbClr val="64748B"/>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87D76659-B963-4C0B-B58A-53BED5D6A55E}"/>
              </a:ext>
            </a:extLst>
          </p:cNvPr>
          <p:cNvSpPr>
            <a:spLocks xmlns:a="http://schemas.openxmlformats.org/drawingml/2006/main" noGrp="1"/>
          </p:cNvSpPr>
          <p:nvPr/>
        </p:nvSpPr>
        <p:spPr>
          <a:xfrm xmlns:a="http://schemas.openxmlformats.org/drawingml/2006/main">
            <a:off x="561975" y="1381125"/>
            <a:ext cx="71437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0f2f7636df44286"/>
          <a:stretch xmlns:a="http://schemas.openxmlformats.org/drawingml/2006/main"/>
        </p:blipFill>
        <p:spPr>
          <a:xfrm xmlns:a="http://schemas.openxmlformats.org/drawingml/2006/main">
            <a:off x="609600" y="1717477"/>
            <a:ext cx="7048500" cy="4185047"/>
          </a:xfrm>
          <a:prstGeom xmlns:a="http://schemas.openxmlformats.org/drawingml/2006/main" prst="roundRect">
            <a:avLst>
              <a:gd name="adj" fmla="val 2400"/>
            </a:avLst>
          </a:prstGeom>
        </p:spPr>
      </p:pic>
      <p:sp>
        <p:nvSpPr>
          <p:cNvPr id="8" name="">
            <a:extLst xmlns:a="http://schemas.openxmlformats.org/drawingml/2006/main">
              <a:ext uri="{FF2B5EF4-FFF2-40B4-BE49-F238E27FC236}">
                <a16:creationId xmlns:a16="http://schemas.microsoft.com/office/drawing/2014/main" id="{59C10ED4-A2DE-4852-98FA-54128F274793}"/>
              </a:ext>
            </a:extLst>
          </p:cNvPr>
          <p:cNvSpPr>
            <a:spLocks xmlns:a="http://schemas.openxmlformats.org/drawingml/2006/main" noGrp="1"/>
          </p:cNvSpPr>
          <p:nvPr/>
        </p:nvSpPr>
        <p:spPr>
          <a:xfrm xmlns:a="http://schemas.openxmlformats.org/drawingml/2006/main">
            <a:off x="8058150" y="15621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541"/>
                </a:solidFill>
                <a:latin typeface="Arial"/>
                <a:ea typeface="Arial"/>
                <a:cs typeface="Arial"/>
              </a:defRPr>
            </a:pPr>
            <a:r>
              <a:rPr sz="2250" b="1">
                <a:solidFill>
                  <a:srgbClr val="182541"/>
                </a:solidFill>
                <a:latin typeface="Arial"/>
                <a:ea typeface="Arial"/>
                <a:cs typeface="Arial"/>
              </a:rPr>
              <a:t>A flexible daily workflow</a:t>
            </a:r>
          </a:p>
        </p:txBody>
      </p:sp>
      <p:sp>
        <p:nvSpPr>
          <p:cNvPr id="9" name="">
            <a:extLst xmlns:a="http://schemas.openxmlformats.org/drawingml/2006/main">
              <a:ext uri="{FF2B5EF4-FFF2-40B4-BE49-F238E27FC236}">
                <a16:creationId xmlns:a16="http://schemas.microsoft.com/office/drawing/2014/main" id="{25E93A0B-696F-4992-8D0F-BC4F6D71D095}"/>
              </a:ext>
            </a:extLst>
          </p:cNvPr>
          <p:cNvSpPr>
            <a:spLocks xmlns:a="http://schemas.openxmlformats.org/drawingml/2006/main" noGrp="1"/>
          </p:cNvSpPr>
          <p:nvPr/>
        </p:nvSpPr>
        <p:spPr>
          <a:xfrm xmlns:a="http://schemas.openxmlformats.org/drawingml/2006/main">
            <a:off x="8058150" y="23241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C4694"/>
                </a:solidFill>
                <a:latin typeface="Arial"/>
                <a:ea typeface="Arial"/>
                <a:cs typeface="Arial"/>
              </a:defRPr>
            </a:pPr>
            <a:r>
              <a:rPr sz="2175" b="1">
                <a:solidFill>
                  <a:srgbClr val="2C4694"/>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3CEA87C8-4364-4127-B9CF-0A5ACD7EFD6F}"/>
              </a:ext>
            </a:extLst>
          </p:cNvPr>
          <p:cNvSpPr>
            <a:spLocks xmlns:a="http://schemas.openxmlformats.org/drawingml/2006/main" noGrp="1"/>
          </p:cNvSpPr>
          <p:nvPr/>
        </p:nvSpPr>
        <p:spPr>
          <a:xfrm xmlns:a="http://schemas.openxmlformats.org/drawingml/2006/main">
            <a:off x="859155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2039"/>
                </a:solidFill>
                <a:latin typeface="Arial"/>
                <a:ea typeface="Arial"/>
                <a:cs typeface="Arial"/>
              </a:defRPr>
            </a:pPr>
            <a:r>
              <a:rPr sz="1875" b="1">
                <a:solidFill>
                  <a:srgbClr val="152039"/>
                </a:solidFill>
                <a:latin typeface="Arial"/>
                <a:ea typeface="Arial"/>
                <a:cs typeface="Arial"/>
              </a:rPr>
              <a:t>Import</a:t>
            </a:r>
          </a:p>
        </p:txBody>
      </p:sp>
      <p:sp>
        <p:nvSpPr>
          <p:cNvPr id="11" name="">
            <a:extLst xmlns:a="http://schemas.openxmlformats.org/drawingml/2006/main">
              <a:ext uri="{FF2B5EF4-FFF2-40B4-BE49-F238E27FC236}">
                <a16:creationId xmlns:a16="http://schemas.microsoft.com/office/drawing/2014/main" id="{5DE6B1BF-F4DC-4EBA-94CA-6ECACFD044A4}"/>
              </a:ext>
            </a:extLst>
          </p:cNvPr>
          <p:cNvSpPr>
            <a:spLocks xmlns:a="http://schemas.openxmlformats.org/drawingml/2006/main" noGrp="1"/>
          </p:cNvSpPr>
          <p:nvPr/>
        </p:nvSpPr>
        <p:spPr>
          <a:xfrm xmlns:a="http://schemas.openxmlformats.org/drawingml/2006/main">
            <a:off x="8591550" y="2667000"/>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48B"/>
                </a:solidFill>
                <a:latin typeface="Arial"/>
                <a:ea typeface="Arial"/>
                <a:cs typeface="Arial"/>
              </a:defRPr>
            </a:pPr>
            <a:r>
              <a:rPr sz="1425" b="0">
                <a:solidFill>
                  <a:srgbClr val="64748B"/>
                </a:solidFill>
                <a:latin typeface="Arial"/>
                <a:ea typeface="Arial"/>
                <a:cs typeface="Arial"/>
              </a:rPr>
              <a:t>Load historical or batch data from CSV or Excel.</a:t>
            </a:r>
          </a:p>
        </p:txBody>
      </p:sp>
      <p:sp>
        <p:nvSpPr>
          <p:cNvPr id="12" name="">
            <a:extLst xmlns:a="http://schemas.openxmlformats.org/drawingml/2006/main">
              <a:ext uri="{FF2B5EF4-FFF2-40B4-BE49-F238E27FC236}">
                <a16:creationId xmlns:a16="http://schemas.microsoft.com/office/drawing/2014/main" id="{6221444E-F530-4142-A5B5-EBC1D72768C3}"/>
              </a:ext>
            </a:extLst>
          </p:cNvPr>
          <p:cNvSpPr>
            <a:spLocks xmlns:a="http://schemas.openxmlformats.org/drawingml/2006/main" noGrp="1"/>
          </p:cNvSpPr>
          <p:nvPr/>
        </p:nvSpPr>
        <p:spPr>
          <a:xfrm xmlns:a="http://schemas.openxmlformats.org/drawingml/2006/main">
            <a:off x="8058150" y="33909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C4694"/>
                </a:solidFill>
                <a:latin typeface="Arial"/>
                <a:ea typeface="Arial"/>
                <a:cs typeface="Arial"/>
              </a:defRPr>
            </a:pPr>
            <a:r>
              <a:rPr sz="2175" b="1">
                <a:solidFill>
                  <a:srgbClr val="2C4694"/>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732B7D4A-3939-4B9C-9F59-D45C4F2AE4D1}"/>
              </a:ext>
            </a:extLst>
          </p:cNvPr>
          <p:cNvSpPr>
            <a:spLocks xmlns:a="http://schemas.openxmlformats.org/drawingml/2006/main" noGrp="1"/>
          </p:cNvSpPr>
          <p:nvPr/>
        </p:nvSpPr>
        <p:spPr>
          <a:xfrm xmlns:a="http://schemas.openxmlformats.org/drawingml/2006/main">
            <a:off x="8591550" y="33909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2039"/>
                </a:solidFill>
                <a:latin typeface="Arial"/>
                <a:ea typeface="Arial"/>
                <a:cs typeface="Arial"/>
              </a:defRPr>
            </a:pPr>
            <a:r>
              <a:rPr sz="1875" b="1">
                <a:solidFill>
                  <a:srgbClr val="152039"/>
                </a:solidFill>
                <a:latin typeface="Arial"/>
                <a:ea typeface="Arial"/>
                <a:cs typeface="Arial"/>
              </a:rPr>
              <a:t>Work</a:t>
            </a:r>
          </a:p>
        </p:txBody>
      </p:sp>
      <p:sp>
        <p:nvSpPr>
          <p:cNvPr id="14" name="">
            <a:extLst xmlns:a="http://schemas.openxmlformats.org/drawingml/2006/main">
              <a:ext uri="{FF2B5EF4-FFF2-40B4-BE49-F238E27FC236}">
                <a16:creationId xmlns:a16="http://schemas.microsoft.com/office/drawing/2014/main" id="{711F0A09-E4A4-4F60-B442-269F31EFD9FF}"/>
              </a:ext>
            </a:extLst>
          </p:cNvPr>
          <p:cNvSpPr>
            <a:spLocks xmlns:a="http://schemas.openxmlformats.org/drawingml/2006/main" noGrp="1"/>
          </p:cNvSpPr>
          <p:nvPr/>
        </p:nvSpPr>
        <p:spPr>
          <a:xfrm xmlns:a="http://schemas.openxmlformats.org/drawingml/2006/main">
            <a:off x="8591550" y="3733800"/>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48B"/>
                </a:solidFill>
                <a:latin typeface="Arial"/>
                <a:ea typeface="Arial"/>
                <a:cs typeface="Arial"/>
              </a:defRPr>
            </a:pPr>
            <a:r>
              <a:rPr sz="1425" b="0">
                <a:solidFill>
                  <a:srgbClr val="64748B"/>
                </a:solidFill>
                <a:latin typeface="Arial"/>
                <a:ea typeface="Arial"/>
                <a:cs typeface="Arial"/>
              </a:rPr>
              <a:t>Review and update brands in the application.</a:t>
            </a:r>
          </a:p>
        </p:txBody>
      </p:sp>
      <p:sp>
        <p:nvSpPr>
          <p:cNvPr id="15" name="">
            <a:extLst xmlns:a="http://schemas.openxmlformats.org/drawingml/2006/main">
              <a:ext uri="{FF2B5EF4-FFF2-40B4-BE49-F238E27FC236}">
                <a16:creationId xmlns:a16="http://schemas.microsoft.com/office/drawing/2014/main" id="{2DE976ED-6958-4CB4-951D-D86F9B3D7704}"/>
              </a:ext>
            </a:extLst>
          </p:cNvPr>
          <p:cNvSpPr>
            <a:spLocks xmlns:a="http://schemas.openxmlformats.org/drawingml/2006/main" noGrp="1"/>
          </p:cNvSpPr>
          <p:nvPr/>
        </p:nvSpPr>
        <p:spPr>
          <a:xfrm xmlns:a="http://schemas.openxmlformats.org/drawingml/2006/main">
            <a:off x="8058150" y="44577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C4694"/>
                </a:solidFill>
                <a:latin typeface="Arial"/>
                <a:ea typeface="Arial"/>
                <a:cs typeface="Arial"/>
              </a:defRPr>
            </a:pPr>
            <a:r>
              <a:rPr sz="2175" b="1">
                <a:solidFill>
                  <a:srgbClr val="2C4694"/>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05F66D49-2A61-425F-B44A-CF64A49F4809}"/>
              </a:ext>
            </a:extLst>
          </p:cNvPr>
          <p:cNvSpPr>
            <a:spLocks xmlns:a="http://schemas.openxmlformats.org/drawingml/2006/main" noGrp="1"/>
          </p:cNvSpPr>
          <p:nvPr/>
        </p:nvSpPr>
        <p:spPr>
          <a:xfrm xmlns:a="http://schemas.openxmlformats.org/drawingml/2006/main">
            <a:off x="8591550" y="44577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2039"/>
                </a:solidFill>
                <a:latin typeface="Arial"/>
                <a:ea typeface="Arial"/>
                <a:cs typeface="Arial"/>
              </a:defRPr>
            </a:pPr>
            <a:r>
              <a:rPr sz="1875" b="1">
                <a:solidFill>
                  <a:srgbClr val="152039"/>
                </a:solidFill>
                <a:latin typeface="Arial"/>
                <a:ea typeface="Arial"/>
                <a:cs typeface="Arial"/>
              </a:rPr>
              <a:t>Export</a:t>
            </a:r>
          </a:p>
        </p:txBody>
      </p:sp>
      <p:sp>
        <p:nvSpPr>
          <p:cNvPr id="17" name="">
            <a:extLst xmlns:a="http://schemas.openxmlformats.org/drawingml/2006/main">
              <a:ext uri="{FF2B5EF4-FFF2-40B4-BE49-F238E27FC236}">
                <a16:creationId xmlns:a16="http://schemas.microsoft.com/office/drawing/2014/main" id="{96D54C48-F7DC-4BF1-94A9-E4AFADF583B7}"/>
              </a:ext>
            </a:extLst>
          </p:cNvPr>
          <p:cNvSpPr>
            <a:spLocks xmlns:a="http://schemas.openxmlformats.org/drawingml/2006/main" noGrp="1"/>
          </p:cNvSpPr>
          <p:nvPr/>
        </p:nvSpPr>
        <p:spPr>
          <a:xfrm xmlns:a="http://schemas.openxmlformats.org/drawingml/2006/main">
            <a:off x="8591550" y="4800600"/>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48B"/>
                </a:solidFill>
                <a:latin typeface="Arial"/>
                <a:ea typeface="Arial"/>
                <a:cs typeface="Arial"/>
              </a:defRPr>
            </a:pPr>
            <a:r>
              <a:rPr sz="1425" b="0">
                <a:solidFill>
                  <a:srgbClr val="64748B"/>
                </a:solidFill>
                <a:latin typeface="Arial"/>
                <a:ea typeface="Arial"/>
                <a:cs typeface="Arial"/>
              </a:rPr>
              <a:t>Create a CSV extract or a complete Excel review pack.</a:t>
            </a:r>
          </a:p>
        </p:txBody>
      </p:sp>
      <p:sp>
        <p:nvSpPr>
          <p:cNvPr id="18" name="">
            <a:extLst xmlns:a="http://schemas.openxmlformats.org/drawingml/2006/main">
              <a:ext uri="{FF2B5EF4-FFF2-40B4-BE49-F238E27FC236}">
                <a16:creationId xmlns:a16="http://schemas.microsoft.com/office/drawing/2014/main" id="{14BDA7EA-04FE-499C-AE9F-F0D2EC9308B1}"/>
              </a:ext>
            </a:extLst>
          </p:cNvPr>
          <p:cNvSpPr>
            <a:spLocks xmlns:a="http://schemas.openxmlformats.org/drawingml/2006/main" noGrp="1"/>
          </p:cNvSpPr>
          <p:nvPr/>
        </p:nvSpPr>
        <p:spPr>
          <a:xfrm xmlns:a="http://schemas.openxmlformats.org/drawingml/2006/main">
            <a:off x="8058150" y="567690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56A"/>
                </a:solidFill>
                <a:latin typeface="Arial"/>
                <a:ea typeface="Arial"/>
                <a:cs typeface="Arial"/>
              </a:defRPr>
            </a:pPr>
            <a:r>
              <a:rPr sz="1500" b="1">
                <a:solidFill>
                  <a:srgbClr val="16856A"/>
                </a:solidFill>
                <a:latin typeface="Arial"/>
                <a:ea typeface="Arial"/>
                <a:cs typeface="Arial"/>
              </a:rPr>
              <a:t>The database remains the main source between imports and exports.</a:t>
            </a:r>
          </a:p>
        </p:txBody>
      </p:sp>
    </p:spTree>
    <p:extLst>
      <p:ext uri="{BB962C8B-B14F-4D97-AF65-F5344CB8AC3E}">
        <p14:creationId xmlns:p14="http://schemas.microsoft.com/office/powerpoint/2010/main" val="1235949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26C687E-6B1E-4930-9154-7C7A9BFC6B7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232292-81C0-4530-A591-74E337D7AA9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06BB4"/>
                </a:solidFill>
                <a:latin typeface="Arial"/>
                <a:ea typeface="Arial"/>
                <a:cs typeface="Arial"/>
              </a:defRPr>
            </a:pPr>
            <a:r>
              <a:rPr sz="1125" b="1">
                <a:solidFill>
                  <a:srgbClr val="506BB4"/>
                </a:solidFill>
                <a:latin typeface="Arial"/>
                <a:ea typeface="Arial"/>
                <a:cs typeface="Arial"/>
              </a:rPr>
              <a:t>GOVERNANCE</a:t>
            </a:r>
          </a:p>
        </p:txBody>
      </p:sp>
      <p:sp>
        <p:nvSpPr>
          <p:cNvPr id="3" name="">
            <a:extLst xmlns:a="http://schemas.openxmlformats.org/drawingml/2006/main">
              <a:ext uri="{FF2B5EF4-FFF2-40B4-BE49-F238E27FC236}">
                <a16:creationId xmlns:a16="http://schemas.microsoft.com/office/drawing/2014/main" id="{4525C947-6432-4BAA-B872-428A4D27ED5B}"/>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541"/>
                </a:solidFill>
                <a:latin typeface="Arial"/>
                <a:ea typeface="Arial"/>
                <a:cs typeface="Arial"/>
              </a:defRPr>
            </a:pPr>
            <a:r>
              <a:rPr sz="3300" b="1">
                <a:solidFill>
                  <a:srgbClr val="182541"/>
                </a:solidFill>
                <a:latin typeface="Arial"/>
                <a:ea typeface="Arial"/>
                <a:cs typeface="Arial"/>
              </a:rPr>
              <a:t>Controls and data safety</a:t>
            </a:r>
          </a:p>
        </p:txBody>
      </p:sp>
      <p:sp>
        <p:nvSpPr>
          <p:cNvPr id="4" name="">
            <a:extLst xmlns:a="http://schemas.openxmlformats.org/drawingml/2006/main">
              <a:ext uri="{FF2B5EF4-FFF2-40B4-BE49-F238E27FC236}">
                <a16:creationId xmlns:a16="http://schemas.microsoft.com/office/drawing/2014/main" id="{E527FF34-3DFF-49B7-A3E5-18498D8361A2}"/>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BAC828-FA9D-4A7C-B088-FE536C9D41DC}"/>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48B"/>
                </a:solidFill>
                <a:latin typeface="Arial"/>
                <a:ea typeface="Arial"/>
                <a:cs typeface="Arial"/>
              </a:defRPr>
            </a:pPr>
            <a:r>
              <a:rPr sz="1050" b="0">
                <a:solidFill>
                  <a:srgbClr val="64748B"/>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57B8B05F-9F50-469F-A3AA-F0147E7C5397}"/>
              </a:ext>
            </a:extLst>
          </p:cNvPr>
          <p:cNvSpPr>
            <a:spLocks xmlns:a="http://schemas.openxmlformats.org/drawingml/2006/main" noGrp="1"/>
          </p:cNvSpPr>
          <p:nvPr/>
        </p:nvSpPr>
        <p:spPr>
          <a:xfrm xmlns:a="http://schemas.openxmlformats.org/drawingml/2006/main">
            <a:off x="742950" y="16668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06BB4"/>
                </a:solidFill>
                <a:latin typeface="Arial"/>
                <a:ea typeface="Arial"/>
                <a:cs typeface="Arial"/>
              </a:defRPr>
            </a:pPr>
            <a:r>
              <a:rPr sz="1200" b="1">
                <a:solidFill>
                  <a:srgbClr val="506BB4"/>
                </a:solidFill>
                <a:latin typeface="Arial"/>
                <a:ea typeface="Arial"/>
                <a:cs typeface="Arial"/>
              </a:rPr>
              <a:t>SAVE</a:t>
            </a:r>
          </a:p>
        </p:txBody>
      </p:sp>
      <p:sp>
        <p:nvSpPr>
          <p:cNvPr id="7" name="">
            <a:extLst xmlns:a="http://schemas.openxmlformats.org/drawingml/2006/main">
              <a:ext uri="{FF2B5EF4-FFF2-40B4-BE49-F238E27FC236}">
                <a16:creationId xmlns:a16="http://schemas.microsoft.com/office/drawing/2014/main" id="{C88D3F29-4214-4BBC-B428-3E4220CA97E8}"/>
              </a:ext>
            </a:extLst>
          </p:cNvPr>
          <p:cNvSpPr>
            <a:spLocks xmlns:a="http://schemas.openxmlformats.org/drawingml/2006/main" noGrp="1"/>
          </p:cNvSpPr>
          <p:nvPr/>
        </p:nvSpPr>
        <p:spPr>
          <a:xfrm xmlns:a="http://schemas.openxmlformats.org/drawingml/2006/main">
            <a:off x="742950" y="20288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541"/>
                </a:solidFill>
                <a:latin typeface="Arial"/>
                <a:ea typeface="Arial"/>
                <a:cs typeface="Arial"/>
              </a:defRPr>
            </a:pPr>
            <a:r>
              <a:rPr sz="2175" b="1">
                <a:solidFill>
                  <a:srgbClr val="182541"/>
                </a:solidFill>
                <a:latin typeface="Arial"/>
                <a:ea typeface="Arial"/>
                <a:cs typeface="Arial"/>
              </a:rPr>
              <a:t>Automatic persistence</a:t>
            </a:r>
          </a:p>
        </p:txBody>
      </p:sp>
      <p:sp>
        <p:nvSpPr>
          <p:cNvPr id="8" name="">
            <a:extLst xmlns:a="http://schemas.openxmlformats.org/drawingml/2006/main">
              <a:ext uri="{FF2B5EF4-FFF2-40B4-BE49-F238E27FC236}">
                <a16:creationId xmlns:a16="http://schemas.microsoft.com/office/drawing/2014/main" id="{B9502A43-9383-41A5-B7E5-A4298844757B}"/>
              </a:ext>
            </a:extLst>
          </p:cNvPr>
          <p:cNvSpPr>
            <a:spLocks xmlns:a="http://schemas.openxmlformats.org/drawingml/2006/main" noGrp="1"/>
          </p:cNvSpPr>
          <p:nvPr/>
        </p:nvSpPr>
        <p:spPr>
          <a:xfrm xmlns:a="http://schemas.openxmlformats.org/drawingml/2006/main">
            <a:off x="742950" y="2524125"/>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4748B"/>
                </a:solidFill>
                <a:latin typeface="Arial"/>
                <a:ea typeface="Arial"/>
                <a:cs typeface="Arial"/>
              </a:defRPr>
            </a:pPr>
            <a:r>
              <a:rPr sz="1575" b="0">
                <a:solidFill>
                  <a:srgbClr val="64748B"/>
                </a:solidFill>
                <a:latin typeface="Arial"/>
                <a:ea typeface="Arial"/>
                <a:cs typeface="Arial"/>
              </a:rPr>
              <a:t>Saved assessments remain available after the application closes.</a:t>
            </a:r>
          </a:p>
        </p:txBody>
      </p:sp>
      <p:sp>
        <p:nvSpPr>
          <p:cNvPr id="9" name="">
            <a:extLst xmlns:a="http://schemas.openxmlformats.org/drawingml/2006/main">
              <a:ext uri="{FF2B5EF4-FFF2-40B4-BE49-F238E27FC236}">
                <a16:creationId xmlns:a16="http://schemas.microsoft.com/office/drawing/2014/main" id="{90F14F9D-9FA9-42A6-9697-F16131785215}"/>
              </a:ext>
            </a:extLst>
          </p:cNvPr>
          <p:cNvSpPr>
            <a:spLocks xmlns:a="http://schemas.openxmlformats.org/drawingml/2006/main" noGrp="1"/>
          </p:cNvSpPr>
          <p:nvPr/>
        </p:nvSpPr>
        <p:spPr>
          <a:xfrm xmlns:a="http://schemas.openxmlformats.org/drawingml/2006/main">
            <a:off x="5857875" y="1666875"/>
            <a:ext cx="19050" cy="14287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6589A71-C4E2-4264-B0E8-73EB5D92DE2D}"/>
              </a:ext>
            </a:extLst>
          </p:cNvPr>
          <p:cNvSpPr>
            <a:spLocks xmlns:a="http://schemas.openxmlformats.org/drawingml/2006/main" noGrp="1"/>
          </p:cNvSpPr>
          <p:nvPr/>
        </p:nvSpPr>
        <p:spPr>
          <a:xfrm xmlns:a="http://schemas.openxmlformats.org/drawingml/2006/main">
            <a:off x="6172200" y="16668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06BB4"/>
                </a:solidFill>
                <a:latin typeface="Arial"/>
                <a:ea typeface="Arial"/>
                <a:cs typeface="Arial"/>
              </a:defRPr>
            </a:pPr>
            <a:r>
              <a:rPr sz="1200" b="1">
                <a:solidFill>
                  <a:srgbClr val="506BB4"/>
                </a:solidFill>
                <a:latin typeface="Arial"/>
                <a:ea typeface="Arial"/>
                <a:cs typeface="Arial"/>
              </a:rPr>
              <a:t>UPDATE</a:t>
            </a:r>
          </a:p>
        </p:txBody>
      </p:sp>
      <p:sp>
        <p:nvSpPr>
          <p:cNvPr id="11" name="">
            <a:extLst xmlns:a="http://schemas.openxmlformats.org/drawingml/2006/main">
              <a:ext uri="{FF2B5EF4-FFF2-40B4-BE49-F238E27FC236}">
                <a16:creationId xmlns:a16="http://schemas.microsoft.com/office/drawing/2014/main" id="{2CC002E8-04FF-4E2B-A3AD-2940C32B39BF}"/>
              </a:ext>
            </a:extLst>
          </p:cNvPr>
          <p:cNvSpPr>
            <a:spLocks xmlns:a="http://schemas.openxmlformats.org/drawingml/2006/main" noGrp="1"/>
          </p:cNvSpPr>
          <p:nvPr/>
        </p:nvSpPr>
        <p:spPr>
          <a:xfrm xmlns:a="http://schemas.openxmlformats.org/drawingml/2006/main">
            <a:off x="6172200" y="20288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541"/>
                </a:solidFill>
                <a:latin typeface="Arial"/>
                <a:ea typeface="Arial"/>
                <a:cs typeface="Arial"/>
              </a:defRPr>
            </a:pPr>
            <a:r>
              <a:rPr sz="2175" b="1">
                <a:solidFill>
                  <a:srgbClr val="182541"/>
                </a:solidFill>
                <a:latin typeface="Arial"/>
                <a:ea typeface="Arial"/>
                <a:cs typeface="Arial"/>
              </a:rPr>
              <a:t>Controlled changes</a:t>
            </a:r>
          </a:p>
        </p:txBody>
      </p:sp>
      <p:sp>
        <p:nvSpPr>
          <p:cNvPr id="12" name="">
            <a:extLst xmlns:a="http://schemas.openxmlformats.org/drawingml/2006/main">
              <a:ext uri="{FF2B5EF4-FFF2-40B4-BE49-F238E27FC236}">
                <a16:creationId xmlns:a16="http://schemas.microsoft.com/office/drawing/2014/main" id="{1B667425-8EF8-490A-AFD7-EFB3B306419C}"/>
              </a:ext>
            </a:extLst>
          </p:cNvPr>
          <p:cNvSpPr>
            <a:spLocks xmlns:a="http://schemas.openxmlformats.org/drawingml/2006/main" noGrp="1"/>
          </p:cNvSpPr>
          <p:nvPr/>
        </p:nvSpPr>
        <p:spPr>
          <a:xfrm xmlns:a="http://schemas.openxmlformats.org/drawingml/2006/main">
            <a:off x="6172200" y="2524125"/>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4748B"/>
                </a:solidFill>
                <a:latin typeface="Arial"/>
                <a:ea typeface="Arial"/>
                <a:cs typeface="Arial"/>
              </a:defRPr>
            </a:pPr>
            <a:r>
              <a:rPr sz="1575" b="0">
                <a:solidFill>
                  <a:srgbClr val="64748B"/>
                </a:solidFill>
                <a:latin typeface="Arial"/>
                <a:ea typeface="Arial"/>
                <a:cs typeface="Arial"/>
              </a:rPr>
              <a:t>Existing brands can be edited without creating duplicate records.</a:t>
            </a:r>
          </a:p>
        </p:txBody>
      </p:sp>
      <p:sp>
        <p:nvSpPr>
          <p:cNvPr id="13" name="">
            <a:extLst xmlns:a="http://schemas.openxmlformats.org/drawingml/2006/main">
              <a:ext uri="{FF2B5EF4-FFF2-40B4-BE49-F238E27FC236}">
                <a16:creationId xmlns:a16="http://schemas.microsoft.com/office/drawing/2014/main" id="{6F589C9A-FCA4-47E5-BAC9-1E85A1D8D4CA}"/>
              </a:ext>
            </a:extLst>
          </p:cNvPr>
          <p:cNvSpPr>
            <a:spLocks xmlns:a="http://schemas.openxmlformats.org/drawingml/2006/main" noGrp="1"/>
          </p:cNvSpPr>
          <p:nvPr/>
        </p:nvSpPr>
        <p:spPr>
          <a:xfrm xmlns:a="http://schemas.openxmlformats.org/drawingml/2006/main">
            <a:off x="742950" y="37147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C34343"/>
                </a:solidFill>
                <a:latin typeface="Arial"/>
                <a:ea typeface="Arial"/>
                <a:cs typeface="Arial"/>
              </a:defRPr>
            </a:pPr>
            <a:r>
              <a:rPr sz="1200" b="1">
                <a:solidFill>
                  <a:srgbClr val="C34343"/>
                </a:solidFill>
                <a:latin typeface="Arial"/>
                <a:ea typeface="Arial"/>
                <a:cs typeface="Arial"/>
              </a:rPr>
              <a:t>DELETE</a:t>
            </a:r>
          </a:p>
        </p:txBody>
      </p:sp>
      <p:sp>
        <p:nvSpPr>
          <p:cNvPr id="14" name="">
            <a:extLst xmlns:a="http://schemas.openxmlformats.org/drawingml/2006/main">
              <a:ext uri="{FF2B5EF4-FFF2-40B4-BE49-F238E27FC236}">
                <a16:creationId xmlns:a16="http://schemas.microsoft.com/office/drawing/2014/main" id="{A33DA446-6C46-4501-85AF-FCA2472CBB37}"/>
              </a:ext>
            </a:extLst>
          </p:cNvPr>
          <p:cNvSpPr>
            <a:spLocks xmlns:a="http://schemas.openxmlformats.org/drawingml/2006/main" noGrp="1"/>
          </p:cNvSpPr>
          <p:nvPr/>
        </p:nvSpPr>
        <p:spPr>
          <a:xfrm xmlns:a="http://schemas.openxmlformats.org/drawingml/2006/main">
            <a:off x="742950" y="40767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541"/>
                </a:solidFill>
                <a:latin typeface="Arial"/>
                <a:ea typeface="Arial"/>
                <a:cs typeface="Arial"/>
              </a:defRPr>
            </a:pPr>
            <a:r>
              <a:rPr sz="2175" b="1">
                <a:solidFill>
                  <a:srgbClr val="182541"/>
                </a:solidFill>
                <a:latin typeface="Arial"/>
                <a:ea typeface="Arial"/>
                <a:cs typeface="Arial"/>
              </a:rPr>
              <a:t>Explicit confirmation</a:t>
            </a:r>
          </a:p>
        </p:txBody>
      </p:sp>
      <p:sp>
        <p:nvSpPr>
          <p:cNvPr id="15" name="">
            <a:extLst xmlns:a="http://schemas.openxmlformats.org/drawingml/2006/main">
              <a:ext uri="{FF2B5EF4-FFF2-40B4-BE49-F238E27FC236}">
                <a16:creationId xmlns:a16="http://schemas.microsoft.com/office/drawing/2014/main" id="{8C78B696-A08E-42CF-AFC2-85BF279E45FA}"/>
              </a:ext>
            </a:extLst>
          </p:cNvPr>
          <p:cNvSpPr>
            <a:spLocks xmlns:a="http://schemas.openxmlformats.org/drawingml/2006/main" noGrp="1"/>
          </p:cNvSpPr>
          <p:nvPr/>
        </p:nvSpPr>
        <p:spPr>
          <a:xfrm xmlns:a="http://schemas.openxmlformats.org/drawingml/2006/main">
            <a:off x="742950" y="4572000"/>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4748B"/>
                </a:solidFill>
                <a:latin typeface="Arial"/>
                <a:ea typeface="Arial"/>
                <a:cs typeface="Arial"/>
              </a:defRPr>
            </a:pPr>
            <a:r>
              <a:rPr sz="1575" b="0">
                <a:solidFill>
                  <a:srgbClr val="64748B"/>
                </a:solidFill>
                <a:latin typeface="Arial"/>
                <a:ea typeface="Arial"/>
                <a:cs typeface="Arial"/>
              </a:rPr>
              <a:t>The delete button stays disabled until the user confirms the action.</a:t>
            </a:r>
          </a:p>
        </p:txBody>
      </p:sp>
      <p:sp>
        <p:nvSpPr>
          <p:cNvPr id="16" name="">
            <a:extLst xmlns:a="http://schemas.openxmlformats.org/drawingml/2006/main">
              <a:ext uri="{FF2B5EF4-FFF2-40B4-BE49-F238E27FC236}">
                <a16:creationId xmlns:a16="http://schemas.microsoft.com/office/drawing/2014/main" id="{35BB755B-3CB4-4A1C-9792-C821A6458677}"/>
              </a:ext>
            </a:extLst>
          </p:cNvPr>
          <p:cNvSpPr>
            <a:spLocks xmlns:a="http://schemas.openxmlformats.org/drawingml/2006/main" noGrp="1"/>
          </p:cNvSpPr>
          <p:nvPr/>
        </p:nvSpPr>
        <p:spPr>
          <a:xfrm xmlns:a="http://schemas.openxmlformats.org/drawingml/2006/main">
            <a:off x="5857875" y="3714750"/>
            <a:ext cx="19050" cy="14287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12AEF13-E6C9-4A83-BF56-761154EA7AF7}"/>
              </a:ext>
            </a:extLst>
          </p:cNvPr>
          <p:cNvSpPr>
            <a:spLocks xmlns:a="http://schemas.openxmlformats.org/drawingml/2006/main" noGrp="1"/>
          </p:cNvSpPr>
          <p:nvPr/>
        </p:nvSpPr>
        <p:spPr>
          <a:xfrm xmlns:a="http://schemas.openxmlformats.org/drawingml/2006/main">
            <a:off x="6172200" y="37147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06BB4"/>
                </a:solidFill>
                <a:latin typeface="Arial"/>
                <a:ea typeface="Arial"/>
                <a:cs typeface="Arial"/>
              </a:defRPr>
            </a:pPr>
            <a:r>
              <a:rPr sz="1200" b="1">
                <a:solidFill>
                  <a:srgbClr val="506BB4"/>
                </a:solidFill>
                <a:latin typeface="Arial"/>
                <a:ea typeface="Arial"/>
                <a:cs typeface="Arial"/>
              </a:rPr>
              <a:t>BACKUP</a:t>
            </a:r>
          </a:p>
        </p:txBody>
      </p:sp>
      <p:sp>
        <p:nvSpPr>
          <p:cNvPr id="18" name="">
            <a:extLst xmlns:a="http://schemas.openxmlformats.org/drawingml/2006/main">
              <a:ext uri="{FF2B5EF4-FFF2-40B4-BE49-F238E27FC236}">
                <a16:creationId xmlns:a16="http://schemas.microsoft.com/office/drawing/2014/main" id="{79977CA0-94D1-47DB-A136-AA6DF8E41E0F}"/>
              </a:ext>
            </a:extLst>
          </p:cNvPr>
          <p:cNvSpPr>
            <a:spLocks xmlns:a="http://schemas.openxmlformats.org/drawingml/2006/main" noGrp="1"/>
          </p:cNvSpPr>
          <p:nvPr/>
        </p:nvSpPr>
        <p:spPr>
          <a:xfrm xmlns:a="http://schemas.openxmlformats.org/drawingml/2006/main">
            <a:off x="6172200" y="40767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541"/>
                </a:solidFill>
                <a:latin typeface="Arial"/>
                <a:ea typeface="Arial"/>
                <a:cs typeface="Arial"/>
              </a:defRPr>
            </a:pPr>
            <a:r>
              <a:rPr sz="2175" b="1">
                <a:solidFill>
                  <a:srgbClr val="182541"/>
                </a:solidFill>
                <a:latin typeface="Arial"/>
                <a:ea typeface="Arial"/>
                <a:cs typeface="Arial"/>
              </a:rPr>
              <a:t>Portable outputs</a:t>
            </a:r>
          </a:p>
        </p:txBody>
      </p:sp>
      <p:sp>
        <p:nvSpPr>
          <p:cNvPr id="19" name="">
            <a:extLst xmlns:a="http://schemas.openxmlformats.org/drawingml/2006/main">
              <a:ext uri="{FF2B5EF4-FFF2-40B4-BE49-F238E27FC236}">
                <a16:creationId xmlns:a16="http://schemas.microsoft.com/office/drawing/2014/main" id="{EDC97ADA-4250-4CE7-9829-46446AD5C9B6}"/>
              </a:ext>
            </a:extLst>
          </p:cNvPr>
          <p:cNvSpPr>
            <a:spLocks xmlns:a="http://schemas.openxmlformats.org/drawingml/2006/main" noGrp="1"/>
          </p:cNvSpPr>
          <p:nvPr/>
        </p:nvSpPr>
        <p:spPr>
          <a:xfrm xmlns:a="http://schemas.openxmlformats.org/drawingml/2006/main">
            <a:off x="6172200" y="4572000"/>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4748B"/>
                </a:solidFill>
                <a:latin typeface="Arial"/>
                <a:ea typeface="Arial"/>
                <a:cs typeface="Arial"/>
              </a:defRPr>
            </a:pPr>
            <a:r>
              <a:rPr sz="1575" b="0">
                <a:solidFill>
                  <a:srgbClr val="64748B"/>
                </a:solidFill>
                <a:latin typeface="Arial"/>
                <a:ea typeface="Arial"/>
                <a:cs typeface="Arial"/>
              </a:rPr>
              <a:t>CSV and Excel exports support reviews and backup routines.</a:t>
            </a:r>
          </a:p>
        </p:txBody>
      </p:sp>
      <p:sp>
        <p:nvSpPr>
          <p:cNvPr id="20" name="">
            <a:extLst xmlns:a="http://schemas.openxmlformats.org/drawingml/2006/main">
              <a:ext uri="{FF2B5EF4-FFF2-40B4-BE49-F238E27FC236}">
                <a16:creationId xmlns:a16="http://schemas.microsoft.com/office/drawing/2014/main" id="{474E13F8-4C8D-4A01-B9EE-37A9A704A402}"/>
              </a:ext>
            </a:extLst>
          </p:cNvPr>
          <p:cNvSpPr>
            <a:spLocks xmlns:a="http://schemas.openxmlformats.org/drawingml/2006/main" noGrp="1"/>
          </p:cNvSpPr>
          <p:nvPr/>
        </p:nvSpPr>
        <p:spPr>
          <a:xfrm xmlns:a="http://schemas.openxmlformats.org/drawingml/2006/main">
            <a:off x="1524000" y="6019800"/>
            <a:ext cx="914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56A"/>
                </a:solidFill>
                <a:latin typeface="Arial"/>
                <a:ea typeface="Arial"/>
                <a:cs typeface="Arial"/>
              </a:defRPr>
            </a:pPr>
            <a:r>
              <a:rPr sz="1650" b="1">
                <a:solidFill>
                  <a:srgbClr val="16856A"/>
                </a:solidFill>
                <a:latin typeface="Arial"/>
                <a:ea typeface="Arial"/>
                <a:cs typeface="Arial"/>
              </a:rPr>
              <a:t>Recommended rule: use the application for changes and DB Browser for inspection.</a:t>
            </a:r>
          </a:p>
        </p:txBody>
      </p:sp>
    </p:spTree>
    <p:extLst>
      <p:ext uri="{BB962C8B-B14F-4D97-AF65-F5344CB8AC3E}">
        <p14:creationId xmlns:p14="http://schemas.microsoft.com/office/powerpoint/2010/main" val="920843026"/>
      </p:ext>
    </p:extLst>
  </p:cSld>
</p:sld>
</file>

<file path=ppt/slides/slide11.xml><?xml version="1.0" encoding="utf-8"?>
<p:sld xmlns:p="http://schemas.openxmlformats.org/presentationml/2006/main">
  <p:cSld>
    <p:bg>
      <p:bgPr>
        <a:solidFill xmlns:a="http://schemas.openxmlformats.org/drawingml/2006/main">
          <a:srgbClr val="18254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A4D2B4-BEB8-467A-9010-B582158F7F56}"/>
              </a:ext>
            </a:extLst>
          </p:cNvPr>
          <p:cNvSpPr>
            <a:spLocks xmlns:a="http://schemas.openxmlformats.org/drawingml/2006/main" noGrp="1"/>
          </p:cNvSpPr>
          <p:nvPr/>
        </p:nvSpPr>
        <p:spPr>
          <a:xfrm xmlns:a="http://schemas.openxmlformats.org/drawingml/2006/main">
            <a:off x="666750" y="552450"/>
            <a:ext cx="904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Business value and next steps</a:t>
            </a:r>
          </a:p>
        </p:txBody>
      </p:sp>
      <p:sp>
        <p:nvSpPr>
          <p:cNvPr id="2" name="">
            <a:extLst xmlns:a="http://schemas.openxmlformats.org/drawingml/2006/main">
              <a:ext uri="{FF2B5EF4-FFF2-40B4-BE49-F238E27FC236}">
                <a16:creationId xmlns:a16="http://schemas.microsoft.com/office/drawing/2014/main" id="{38CD07ED-8C6A-437B-AF53-F81B08BE6E15}"/>
              </a:ext>
            </a:extLst>
          </p:cNvPr>
          <p:cNvSpPr>
            <a:spLocks xmlns:a="http://schemas.openxmlformats.org/drawingml/2006/main" noGrp="1"/>
          </p:cNvSpPr>
          <p:nvPr/>
        </p:nvSpPr>
        <p:spPr>
          <a:xfrm xmlns:a="http://schemas.openxmlformats.org/drawingml/2006/main">
            <a:off x="666750" y="1333500"/>
            <a:ext cx="10858500" cy="19050"/>
          </a:xfrm>
          <a:prstGeom xmlns:a="http://schemas.openxmlformats.org/drawingml/2006/main" prst="rect">
            <a:avLst/>
          </a:prstGeom>
          <a:solidFill xmlns:a="http://schemas.openxmlformats.org/drawingml/2006/main">
            <a:srgbClr val="41547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0760DE-D9FA-4F29-978F-2887230EEDC9}"/>
              </a:ext>
            </a:extLst>
          </p:cNvPr>
          <p:cNvSpPr>
            <a:spLocks xmlns:a="http://schemas.openxmlformats.org/drawingml/2006/main" noGrp="1"/>
          </p:cNvSpPr>
          <p:nvPr/>
        </p:nvSpPr>
        <p:spPr>
          <a:xfrm xmlns:a="http://schemas.openxmlformats.org/drawingml/2006/main">
            <a:off x="666750" y="1790700"/>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FC3FF"/>
                </a:solidFill>
                <a:latin typeface="Arial"/>
                <a:ea typeface="Arial"/>
                <a:cs typeface="Arial"/>
              </a:defRPr>
            </a:pPr>
            <a:r>
              <a:rPr sz="2250" b="1">
                <a:solidFill>
                  <a:srgbClr val="AFC3FF"/>
                </a:solidFill>
                <a:latin typeface="Arial"/>
                <a:ea typeface="Arial"/>
                <a:cs typeface="Arial"/>
              </a:rPr>
              <a:t>Business value</a:t>
            </a:r>
          </a:p>
        </p:txBody>
      </p:sp>
      <p:sp>
        <p:nvSpPr>
          <p:cNvPr id="4" name="">
            <a:extLst xmlns:a="http://schemas.openxmlformats.org/drawingml/2006/main">
              <a:ext uri="{FF2B5EF4-FFF2-40B4-BE49-F238E27FC236}">
                <a16:creationId xmlns:a16="http://schemas.microsoft.com/office/drawing/2014/main" id="{B2126BDD-1906-4A19-856C-95BF4B1BE2E7}"/>
              </a:ext>
            </a:extLst>
          </p:cNvPr>
          <p:cNvSpPr>
            <a:spLocks xmlns:a="http://schemas.openxmlformats.org/drawingml/2006/main" noGrp="1"/>
          </p:cNvSpPr>
          <p:nvPr/>
        </p:nvSpPr>
        <p:spPr>
          <a:xfrm xmlns:a="http://schemas.openxmlformats.org/drawingml/2006/main">
            <a:off x="666750" y="240030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Faster preparation for brand review meetings.</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Comparable scores across the full portfolio.</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Clear ownership and visible assessment status.</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Reusable data for analysis and reporting.</a:t>
            </a:r>
          </a:p>
        </p:txBody>
      </p:sp>
      <p:sp>
        <p:nvSpPr>
          <p:cNvPr id="5" name="">
            <a:extLst xmlns:a="http://schemas.openxmlformats.org/drawingml/2006/main">
              <a:ext uri="{FF2B5EF4-FFF2-40B4-BE49-F238E27FC236}">
                <a16:creationId xmlns:a16="http://schemas.microsoft.com/office/drawing/2014/main" id="{1794A754-7DA0-4295-B35C-8458EA719708}"/>
              </a:ext>
            </a:extLst>
          </p:cNvPr>
          <p:cNvSpPr>
            <a:spLocks xmlns:a="http://schemas.openxmlformats.org/drawingml/2006/main" noGrp="1"/>
          </p:cNvSpPr>
          <p:nvPr/>
        </p:nvSpPr>
        <p:spPr>
          <a:xfrm xmlns:a="http://schemas.openxmlformats.org/drawingml/2006/main">
            <a:off x="5943600" y="1714500"/>
            <a:ext cx="19050" cy="3714750"/>
          </a:xfrm>
          <a:prstGeom xmlns:a="http://schemas.openxmlformats.org/drawingml/2006/main" prst="rect">
            <a:avLst/>
          </a:prstGeom>
          <a:solidFill xmlns:a="http://schemas.openxmlformats.org/drawingml/2006/main">
            <a:srgbClr val="41547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3D72832-8291-429F-B356-3CFED1688DEB}"/>
              </a:ext>
            </a:extLst>
          </p:cNvPr>
          <p:cNvSpPr>
            <a:spLocks xmlns:a="http://schemas.openxmlformats.org/drawingml/2006/main" noGrp="1"/>
          </p:cNvSpPr>
          <p:nvPr/>
        </p:nvSpPr>
        <p:spPr>
          <a:xfrm xmlns:a="http://schemas.openxmlformats.org/drawingml/2006/main">
            <a:off x="6477000" y="1790700"/>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FC3FF"/>
                </a:solidFill>
                <a:latin typeface="Arial"/>
                <a:ea typeface="Arial"/>
                <a:cs typeface="Arial"/>
              </a:defRPr>
            </a:pPr>
            <a:r>
              <a:rPr sz="2250" b="1">
                <a:solidFill>
                  <a:srgbClr val="AFC3FF"/>
                </a:solidFill>
                <a:latin typeface="Arial"/>
                <a:ea typeface="Arial"/>
                <a:cs typeface="Arial"/>
              </a:rPr>
              <a:t>Suggested next steps</a:t>
            </a:r>
          </a:p>
        </p:txBody>
      </p:sp>
      <p:sp>
        <p:nvSpPr>
          <p:cNvPr id="7" name="">
            <a:extLst xmlns:a="http://schemas.openxmlformats.org/drawingml/2006/main">
              <a:ext uri="{FF2B5EF4-FFF2-40B4-BE49-F238E27FC236}">
                <a16:creationId xmlns:a16="http://schemas.microsoft.com/office/drawing/2014/main" id="{228133B0-5214-4C53-A8C4-B26C973B84F0}"/>
              </a:ext>
            </a:extLst>
          </p:cNvPr>
          <p:cNvSpPr>
            <a:spLocks xmlns:a="http://schemas.openxmlformats.org/drawingml/2006/main" noGrp="1"/>
          </p:cNvSpPr>
          <p:nvPr/>
        </p:nvSpPr>
        <p:spPr>
          <a:xfrm xmlns:a="http://schemas.openxmlformats.org/drawingml/2006/main">
            <a:off x="6477000" y="240030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Confirm the users and their access needs.</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Choose a shared deployment for the commercial team.</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Agree on a regular review and backup cycle.</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Train users with a small set of real brands.</a:t>
            </a:r>
          </a:p>
        </p:txBody>
      </p:sp>
      <p:sp>
        <p:nvSpPr>
          <p:cNvPr id="8" name="">
            <a:extLst xmlns:a="http://schemas.openxmlformats.org/drawingml/2006/main">
              <a:ext uri="{FF2B5EF4-FFF2-40B4-BE49-F238E27FC236}">
                <a16:creationId xmlns:a16="http://schemas.microsoft.com/office/drawing/2014/main" id="{2744AF18-980F-49EB-92F4-C114EF8A78C5}"/>
              </a:ext>
            </a:extLst>
          </p:cNvPr>
          <p:cNvSpPr>
            <a:spLocks xmlns:a="http://schemas.openxmlformats.org/drawingml/2006/main" noGrp="1"/>
          </p:cNvSpPr>
          <p:nvPr/>
        </p:nvSpPr>
        <p:spPr>
          <a:xfrm xmlns:a="http://schemas.openxmlformats.org/drawingml/2006/main">
            <a:off x="666750" y="58578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The result is one consistent process from assessment to decision.</a:t>
            </a:r>
          </a:p>
        </p:txBody>
      </p:sp>
    </p:spTree>
    <p:extLst>
      <p:ext uri="{BB962C8B-B14F-4D97-AF65-F5344CB8AC3E}">
        <p14:creationId xmlns:p14="http://schemas.microsoft.com/office/powerpoint/2010/main" val="2043181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80975" dist="69343" dir="4443276">
              <a:srgbClr val="182541">
                <a:alpha val="1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2026-09-17T10:27:34.7000000Z</dcterms:created>
  <dcterms:modified xsi:type="dcterms:W3CDTF">2026-09-17T10:27:34.7000000Z</dcterms:modified>
</coreProperties>
</file>