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ce35e2753c4909" /><Relationship Type="http://schemas.openxmlformats.org/officeDocument/2006/relationships/extended-properties" Target="/docProps/app.xml" Id="R28eff14366ea4acf" /><Relationship Type="http://schemas.openxmlformats.org/officeDocument/2006/relationships/officeDocument" Target="/ppt/presentation.xml" Id="Rc4529d7a0c564da1" /></Relationships>
</file>

<file path=ppt/presentation.xml><?xml version="1.0" encoding="utf-8"?>
<p:presentation xmlns:p="http://schemas.openxmlformats.org/presentationml/2006/main">
  <p:sldMasterIdLst>
    <p:sldMasterId xmlns:r="http://schemas.openxmlformats.org/officeDocument/2006/relationships" id="2147483648" r:id="R57a496c29e0245c5"/>
  </p:sldMasterIdLst>
  <p:notesMasterIdLst>
    <p:notesMasterId xmlns:r="http://schemas.openxmlformats.org/officeDocument/2006/relationships" r:id="R6036b118588b4f40"/>
  </p:notesMasterIdLst>
  <p:sldIdLst>
    <p:sldId xmlns:r="http://schemas.openxmlformats.org/officeDocument/2006/relationships" id="256" r:id="Rc195b5da037d4964"/>
    <p:sldId xmlns:r="http://schemas.openxmlformats.org/officeDocument/2006/relationships" id="257" r:id="R65042703df1149b6"/>
    <p:sldId xmlns:r="http://schemas.openxmlformats.org/officeDocument/2006/relationships" id="258" r:id="R0042d45a216f45d0"/>
    <p:sldId xmlns:r="http://schemas.openxmlformats.org/officeDocument/2006/relationships" id="259" r:id="Ra777f74753ee45f4"/>
    <p:sldId xmlns:r="http://schemas.openxmlformats.org/officeDocument/2006/relationships" id="260" r:id="Re1ed5e2a87384d70"/>
    <p:sldId xmlns:r="http://schemas.openxmlformats.org/officeDocument/2006/relationships" id="261" r:id="R3ce6c7c630f241fd"/>
    <p:sldId xmlns:r="http://schemas.openxmlformats.org/officeDocument/2006/relationships" id="262" r:id="Rf5ac1d2757d64922"/>
    <p:sldId xmlns:r="http://schemas.openxmlformats.org/officeDocument/2006/relationships" id="263" r:id="R0628e80905cb4231"/>
    <p:sldId xmlns:r="http://schemas.openxmlformats.org/officeDocument/2006/relationships" id="264" r:id="R08c8bd8b15044c70"/>
    <p:sldId xmlns:r="http://schemas.openxmlformats.org/officeDocument/2006/relationships" id="265" r:id="R108e4290c5194935"/>
    <p:sldId xmlns:r="http://schemas.openxmlformats.org/officeDocument/2006/relationships" id="266" r:id="R34565bd0fd124041"/>
    <p:sldId xmlns:r="http://schemas.openxmlformats.org/officeDocument/2006/relationships" id="267" r:id="Rd25ee9ae5cdf4fc3"/>
    <p:sldId xmlns:r="http://schemas.openxmlformats.org/officeDocument/2006/relationships" id="268" r:id="R69e19bfc110648ac"/>
    <p:sldId xmlns:r="http://schemas.openxmlformats.org/officeDocument/2006/relationships" id="269" r:id="Rb6bceac7f04449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d6d28b82824b16" /><Relationship Type="http://schemas.openxmlformats.org/officeDocument/2006/relationships/slideMaster" Target="/ppt/slideMasters/slideMaster1.xml" Id="R57a496c29e0245c5" /><Relationship Type="http://schemas.openxmlformats.org/officeDocument/2006/relationships/notesMaster" Target="/ppt/notesMasters/notesMaster1.xml" Id="R6036b118588b4f40" /><Relationship Type="http://schemas.openxmlformats.org/officeDocument/2006/relationships/presProps" Target="/ppt/presProps.xml" Id="R3ccbdda4871245c7" /><Relationship Type="http://schemas.openxmlformats.org/officeDocument/2006/relationships/tableStyles" Target="/ppt/tableStyles.xml" Id="Re17205dcebee4d1b" /><Relationship Type="http://schemas.openxmlformats.org/officeDocument/2006/relationships/slide" Target="/ppt/slides/slide1.xml" Id="Rc195b5da037d4964" /><Relationship Type="http://schemas.openxmlformats.org/officeDocument/2006/relationships/slide" Target="/ppt/slides/slide2.xml" Id="R65042703df1149b6" /><Relationship Type="http://schemas.openxmlformats.org/officeDocument/2006/relationships/slide" Target="/ppt/slides/slide3.xml" Id="R0042d45a216f45d0" /><Relationship Type="http://schemas.openxmlformats.org/officeDocument/2006/relationships/slide" Target="/ppt/slides/slide4.xml" Id="Ra777f74753ee45f4" /><Relationship Type="http://schemas.openxmlformats.org/officeDocument/2006/relationships/slide" Target="/ppt/slides/slide5.xml" Id="Re1ed5e2a87384d70" /><Relationship Type="http://schemas.openxmlformats.org/officeDocument/2006/relationships/slide" Target="/ppt/slides/slide6.xml" Id="R3ce6c7c630f241fd" /><Relationship Type="http://schemas.openxmlformats.org/officeDocument/2006/relationships/slide" Target="/ppt/slides/slide7.xml" Id="Rf5ac1d2757d64922" /><Relationship Type="http://schemas.openxmlformats.org/officeDocument/2006/relationships/slide" Target="/ppt/slides/slide8.xml" Id="R0628e80905cb4231" /><Relationship Type="http://schemas.openxmlformats.org/officeDocument/2006/relationships/slide" Target="/ppt/slides/slide9.xml" Id="R08c8bd8b15044c70" /><Relationship Type="http://schemas.openxmlformats.org/officeDocument/2006/relationships/slide" Target="/ppt/slides/slide10.xml" Id="R108e4290c5194935" /><Relationship Type="http://schemas.openxmlformats.org/officeDocument/2006/relationships/slide" Target="/ppt/slides/slide11.xml" Id="R34565bd0fd124041" /><Relationship Type="http://schemas.openxmlformats.org/officeDocument/2006/relationships/slide" Target="/ppt/slides/slide12.xml" Id="Rd25ee9ae5cdf4fc3" /><Relationship Type="http://schemas.openxmlformats.org/officeDocument/2006/relationships/slide" Target="/ppt/slides/slide13.xml" Id="R69e19bfc110648ac" /><Relationship Type="http://schemas.openxmlformats.org/officeDocument/2006/relationships/slide" Target="/ppt/slides/slide14.xml" Id="Rb6bceac7f04449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551489292945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80975" dist="69343" dir="4443276">
              <a:srgbClr val="182541">
                <a:alpha val="1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f4c573e68344c5" /><Relationship Type="http://schemas.openxmlformats.org/officeDocument/2006/relationships/notesMaster" Target="/ppt/notesMasters/notesMaster1.xml" Id="R1c7ef6b6650843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87976f81104010" /><Relationship Type="http://schemas.openxmlformats.org/officeDocument/2006/relationships/notesMaster" Target="/ppt/notesMasters/notesMaster1.xml" Id="R4fe0564cfe6247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5d21b049584358" /><Relationship Type="http://schemas.openxmlformats.org/officeDocument/2006/relationships/notesMaster" Target="/ppt/notesMasters/notesMaster1.xml" Id="R9e4c40352e144a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4f02279d974f56" /><Relationship Type="http://schemas.openxmlformats.org/officeDocument/2006/relationships/notesMaster" Target="/ppt/notesMasters/notesMaster1.xml" Id="Re3eb367361c548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a25441e4e24551" /><Relationship Type="http://schemas.openxmlformats.org/officeDocument/2006/relationships/notesMaster" Target="/ppt/notesMasters/notesMaster1.xml" Id="R5f5b83e5fbed4e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a408ea0da94e59" /><Relationship Type="http://schemas.openxmlformats.org/officeDocument/2006/relationships/notesMaster" Target="/ppt/notesMasters/notesMaster1.xml" Id="R3d5bd9e0580a4c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e77328b33c416a" /><Relationship Type="http://schemas.openxmlformats.org/officeDocument/2006/relationships/notesMaster" Target="/ppt/notesMasters/notesMaster1.xml" Id="R68d8210d918a40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e676e3a4034248" /><Relationship Type="http://schemas.openxmlformats.org/officeDocument/2006/relationships/notesMaster" Target="/ppt/notesMasters/notesMaster1.xml" Id="R64a86ee3253a45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097bd0fbad416e" /><Relationship Type="http://schemas.openxmlformats.org/officeDocument/2006/relationships/notesMaster" Target="/ppt/notesMasters/notesMaster1.xml" Id="R90da1379094f41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5eeaa1065a4f3c" /><Relationship Type="http://schemas.openxmlformats.org/officeDocument/2006/relationships/notesMaster" Target="/ppt/notesMasters/notesMaster1.xml" Id="Rd7c00c1e3f304f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c1d89707e345bf" /><Relationship Type="http://schemas.openxmlformats.org/officeDocument/2006/relationships/notesMaster" Target="/ppt/notesMasters/notesMaster1.xml" Id="R4a3052e495b948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948b8c8b434522" /><Relationship Type="http://schemas.openxmlformats.org/officeDocument/2006/relationships/notesMaster" Target="/ppt/notesMasters/notesMaster1.xml" Id="Rce821e73925849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1d11ec86034d8a" /><Relationship Type="http://schemas.openxmlformats.org/officeDocument/2006/relationships/notesMaster" Target="/ppt/notesMasters/notesMaster1.xml" Id="R182e9182beee42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62a60c15c14544" /><Relationship Type="http://schemas.openxmlformats.org/officeDocument/2006/relationships/notesMaster" Target="/ppt/notesMasters/notesMaster1.xml" Id="R6d908dece70f45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is the Brand Scorecard. The commercial team uses one application to assess brands, compare results, and support portfolio decisions. The application gives every brand the same questions, scoring rules, and data structure. It also keeps the information in one database. I will explain the full journey from data entry to the final recommendation.</a:t>
            </a:r>
          </a:p>
          <a:p xmlns:a="http://schemas.openxmlformats.org/drawingml/2006/main">
            <a:r>
              <a:t/>
            </a:r>
          </a:p>
          <a:p xmlns:a="http://schemas.openxmlformats.org/drawingml/2006/main">
            <a:r>
              <a:t>Source: Brand Scorecard application 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started because brand information was spread across files and personal notes. That made comparisons difficult and follow-up slow. The Brand Scorecard creates one structured process. The team answers the same questions for every brand, the application keeps the records, and management receives clear scores and recommendations. This makes review meetings faster and easier to prepare.</a:t>
            </a:r>
          </a:p>
          <a:p xmlns:a="http://schemas.openxmlformats.org/drawingml/2006/main">
            <a:r>
              <a:t/>
            </a:r>
          </a:p>
          <a:p xmlns:a="http://schemas.openxmlformats.org/drawingml/2006/main">
            <a:r>
              <a:t>Source: project workflow and Brand Scorecard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assessment screen. The user selects one or more strategic categories and brand families because a brand can operate in several areas. The commercial owner shows who is responsible for the record. The tabs separate the descriptive and strategic criteria into clear sections. Comments and evidence apply to the complete brand assessment. When the user saves, the application writes the full record to the SQLite database. The same page also updates an existing brand.</a:t>
            </a:r>
          </a:p>
          <a:p xmlns:a="http://schemas.openxmlformats.org/drawingml/2006/main">
            <a:r>
              <a:t/>
            </a:r>
          </a:p>
          <a:p xmlns:a="http://schemas.openxmlformats.org/drawingml/2006/main">
            <a:r>
              <a:t>Source: Brand Scorecard application 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Assessment status is a manual workflow label. To complete means that the record exists but the work has not started, or important answers are still missing. In progress means that the commercial owner is working on the assessment. Ready for review means that the inputs are complete and the assessment is waiting for a manager or team review. Validated means that the review is complete and the team accepts the assessment. The status does not change automatically. It is also not linked only to the comments field. Comments and evidence support the full brand assessment.</a:t>
            </a:r>
          </a:p>
          <a:p xmlns:a="http://schemas.openxmlformats.org/drawingml/2006/main">
            <a:r>
              <a:t/>
            </a:r>
          </a:p>
          <a:p xmlns:a="http://schemas.openxmlformats.org/drawingml/2006/main">
            <a:r>
              <a:t>Source: Brand Scorecard application 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scoring framework makes the method visible. There are seven descriptive criteria with scores from one to four. There are twenty strategic criteria with scores from minus two to plus two. Each criterion has a written definition for every possible score. Missing answers remain blank, so they do not increase or reduce the average. This page helps users understand why a score has a specific value.</a:t>
            </a:r>
          </a:p>
          <a:p xmlns:a="http://schemas.openxmlformats.org/drawingml/2006/main">
            <a:r>
              <a:t/>
            </a:r>
          </a:p>
          <a:p xmlns:a="http://schemas.openxmlformats.org/drawingml/2006/main">
            <a:r>
              <a:t>Source: Brand Scorecard scoring framework 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controls how the scores are calculated and interpreted. All weights are currently set to one, so every criterion has the same importance. When Weighted scoring is off, the application ignores the weights. When it is on and every weight is one, the result is still the same as a simple average. A weight of two gives a criterion twice the influence, while zero removes it from the weighted calculation. The descriptive boundaries define Low, Developing, Attractive, and Leading. Low has no separate input because it covers every score below Developing from. The strategic boundaries define Reject, Investigate, Opportunity, and Priority. The application saves these settings in the database and recalculates the portfolio.</a:t>
            </a:r>
          </a:p>
          <a:p xmlns:a="http://schemas.openxmlformats.org/drawingml/2006/main">
            <a:r>
              <a:t/>
            </a:r>
          </a:p>
          <a:p xmlns:a="http://schemas.openxmlformats.org/drawingml/2006/main">
            <a:r>
              <a:t>Source: Brand Scorecard application 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tables show the exact logic used by the application. The first table interprets the descriptive score. Below two is Low, two to below three is Developing, three to below three point five is Attractive, and three point five or more is Leading. The second table interprets the strategic score. A score below Opportunity does not qualify as an opportunity. The third table combines the two results. Valrhona has a descriptive score of 3.43, so it is Attractive. Its strategic score is 0.90, so it is an Opportunity. Together, these results give a final recommendation of Priority. Weiss has 2.14 and 0.10, so it is Developing and Investigate. Its final recommendation is Do not prioritize.</a:t>
            </a:r>
          </a:p>
          <a:p xmlns:a="http://schemas.openxmlformats.org/drawingml/2006/main">
            <a:r>
              <a:t/>
            </a:r>
          </a:p>
          <a:p xmlns:a="http://schemas.openxmlformats.org/drawingml/2006/main">
            <a:r>
              <a:t>Source: Brand Scorecard application 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Overview works at brand level. The user can select one or several brands and open each brand in an expander. The first row shows the descriptive score, strategic score, and completeness. The next section explains the scores. For Valrhona, 3.43 is Attractive and 0.90 is Opportunity. The application then combines those results into the final recommendation, Priority. The assessment status remains a separate workflow field. The charts and tables use the same selected brands.</a:t>
            </a:r>
          </a:p>
          <a:p xmlns:a="http://schemas.openxmlformats.org/drawingml/2006/main">
            <a:r>
              <a:t/>
            </a:r>
          </a:p>
          <a:p xmlns:a="http://schemas.openxmlformats.org/drawingml/2006/main">
            <a:r>
              <a:t>Source: Brand Scorecard Overview 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page gives the commercial team one operating list. Users can filter the table by category, family, commercial owner, recommendation, or assessment status. The table now shows the current values: Valrhona is Ready for review, Adamance is Validated, and Weiss is To complete. It also shows completeness and the final recommendation. Users return to the assessment page when they need to change a record.</a:t>
            </a:r>
          </a:p>
          <a:p xmlns:a="http://schemas.openxmlformats.org/drawingml/2006/main">
            <a:r>
              <a:t/>
            </a:r>
          </a:p>
          <a:p xmlns:a="http://schemas.openxmlformats.org/drawingml/2006/main">
            <a:r>
              <a:t>Source: Brand Scorecard Portfolio page 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Comparative Analysis page helps the team compare several brands. Each selected brand receives a different color. This radar compares the five strategic pillars: attractiveness and strategic fit, operation capacity, partnerships and relationships, solvability, and execution fit. The other tabs provide ranking, descriptive detail, and strategic heatmaps. The purpose is to see where brands differ, not only which total score is higher.</a:t>
            </a:r>
          </a:p>
          <a:p xmlns:a="http://schemas.openxmlformats.org/drawingml/2006/main">
            <a:r>
              <a:t/>
            </a:r>
          </a:p>
          <a:p xmlns:a="http://schemas.openxmlformats.org/drawingml/2006/main">
            <a:r>
              <a:t>Source: Brand Scorecard Comparative Analysis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uses SQLite for persistent storage. There is no separate database server to start. The database opens automatically with the application. Every save or update writes the full assessment, and the application also stores the scoring settings. DB Browser for SQLite can open the file for inspection. Users should make normal changes through the application because it protects the expected data structure.</a:t>
            </a:r>
          </a:p>
          <a:p xmlns:a="http://schemas.openxmlformats.org/drawingml/2006/main">
            <a:r>
              <a:t/>
            </a:r>
          </a:p>
          <a:p xmlns:a="http://schemas.openxmlformats.org/drawingml/2006/main">
            <a:r>
              <a:t>Source: database.py and the local DB Browser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export remain available together with the database. Import is useful for historical files or a batch of records. After import, the database becomes the main source for daily work. The Export page shows the descriptive level, strategic decision, final recommendation, and completeness. Users can download a simple CSV file or a complete Excel review pack with rankings, methodology, and settings.</a:t>
            </a:r>
          </a:p>
          <a:p xmlns:a="http://schemas.openxmlformats.org/drawingml/2006/main">
            <a:r>
              <a:t/>
            </a:r>
          </a:p>
          <a:p xmlns:a="http://schemas.openxmlformats.org/drawingml/2006/main">
            <a:r>
              <a:t>Source: Brand Scorecard Exports page v2.7.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includes controls for safe daily use. Saving keeps the data after the application closes. Updating a brand reuses the same record instead of creating a duplicate. Deleting a brand requires explicit confirmation. CSV and Excel files support review meetings and backup routines. The recommended rule is to make changes in the application and use DB Browser only for inspection.</a:t>
            </a:r>
          </a:p>
          <a:p xmlns:a="http://schemas.openxmlformats.org/drawingml/2006/main">
            <a:r>
              <a:t/>
            </a:r>
          </a:p>
          <a:p xmlns:a="http://schemas.openxmlformats.org/drawingml/2006/main">
            <a:r>
              <a:t>Source: Brand Scorecard database and delete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value is a faster and more consistent review process. The team can compare brands with the same method, see who owns each assessment, and understand how the recommendation was produced. The next step is to agree on users and access, choose a shared deployment, define a review and backup cycle, and train the team with a small group of real brands. This turns the application into a regular commercial process.</a:t>
            </a:r>
          </a:p>
          <a:p xmlns:a="http://schemas.openxmlformats.org/drawingml/2006/main">
            <a:r>
              <a:t/>
            </a:r>
          </a:p>
          <a:p xmlns:a="http://schemas.openxmlformats.org/drawingml/2006/main">
            <a:r>
              <a:t>Source: project scope and recommended implementation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e16e644df149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77f872bd314c9e" /><Relationship Type="http://schemas.openxmlformats.org/officeDocument/2006/relationships/slideLayout" Target="/ppt/slideLayouts/slideLayout1.xml" Id="Rac67f5a505c443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67f5a505c443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80975" dist="69343" dir="4443276">
              <a:srgbClr val="182541">
                <a:alpha val="1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674e497caf4636" /><Relationship Type="http://schemas.openxmlformats.org/officeDocument/2006/relationships/image" Target="/ppt/media/image.png" Id="R84eb22bb69e74ced" /><Relationship Type="http://schemas.openxmlformats.org/officeDocument/2006/relationships/notesSlide" Target="/ppt/notesSlides/notesSlide1.xml" Id="Rba41fee85e904f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075290fdec4817" /><Relationship Type="http://schemas.openxmlformats.org/officeDocument/2006/relationships/notesSlide" Target="/ppt/notesSlides/notesSlide2.xml" Id="Rbe767065b55c43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c950b9a20f41a2" /><Relationship Type="http://schemas.openxmlformats.org/officeDocument/2006/relationships/image" Target="/ppt/media/image2.png" Id="Rce92c52f26dd4e41" /><Relationship Type="http://schemas.openxmlformats.org/officeDocument/2006/relationships/notesSlide" Target="/ppt/notesSlides/notesSlide3.xml" Id="Re4d645beac824c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bc200c1dd449d9" /><Relationship Type="http://schemas.openxmlformats.org/officeDocument/2006/relationships/image" Target="/ppt/media/image3.png" Id="R963ce49298734818" /><Relationship Type="http://schemas.openxmlformats.org/officeDocument/2006/relationships/notesSlide" Target="/ppt/notesSlides/notesSlide4.xml" Id="R0640267ebe0242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4c7c48779342bf" /><Relationship Type="http://schemas.openxmlformats.org/officeDocument/2006/relationships/image" Target="/ppt/media/image4.png" Id="R79f32e5b80ea4b9d" /><Relationship Type="http://schemas.openxmlformats.org/officeDocument/2006/relationships/notesSlide" Target="/ppt/notesSlides/notesSlide5.xml" Id="Rbd5e1851045c40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b7edca6c174f1b" /><Relationship Type="http://schemas.openxmlformats.org/officeDocument/2006/relationships/image" Target="/ppt/media/image5.png" Id="Rd055eeb8cd894797" /><Relationship Type="http://schemas.openxmlformats.org/officeDocument/2006/relationships/notesSlide" Target="/ppt/notesSlides/notesSlide6.xml" Id="R610b8397ed5c4c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7af683f8c44ab8" /><Relationship Type="http://schemas.openxmlformats.org/officeDocument/2006/relationships/image" Target="/ppt/media/image6.png" Id="Rfa2e818a48d04de2" /><Relationship Type="http://schemas.openxmlformats.org/officeDocument/2006/relationships/notesSlide" Target="/ppt/notesSlides/notesSlide7.xml" Id="R0b5ded8409fd42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6220d1650c4183" /><Relationship Type="http://schemas.openxmlformats.org/officeDocument/2006/relationships/image" Target="/ppt/media/image7.png" Id="Rd9af90c0574f44df" /><Relationship Type="http://schemas.openxmlformats.org/officeDocument/2006/relationships/notesSlide" Target="/ppt/notesSlides/notesSlide8.xml" Id="R55201fb2559d43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f72c68308e474c" /><Relationship Type="http://schemas.openxmlformats.org/officeDocument/2006/relationships/image" Target="/ppt/media/image8.png" Id="R78e09eabbbe64e2e" /><Relationship Type="http://schemas.openxmlformats.org/officeDocument/2006/relationships/notesSlide" Target="/ppt/notesSlides/notesSlide9.xml" Id="Rc67f433f906140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b487b312804f2e" /><Relationship Type="http://schemas.openxmlformats.org/officeDocument/2006/relationships/image" Target="/ppt/media/image9.png" Id="Rf4f25682b3ce4600" /><Relationship Type="http://schemas.openxmlformats.org/officeDocument/2006/relationships/notesSlide" Target="/ppt/notesSlides/notesSlide10.xml" Id="R6c398a1de23d4d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fba6cbb5414b15" /><Relationship Type="http://schemas.openxmlformats.org/officeDocument/2006/relationships/image" Target="/ppt/media/image10.png" Id="Rc81040741c4e4ea1" /><Relationship Type="http://schemas.openxmlformats.org/officeDocument/2006/relationships/notesSlide" Target="/ppt/notesSlides/notesSlide11.xml" Id="Rdda8290f6f1946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759fc709994bc4" /><Relationship Type="http://schemas.openxmlformats.org/officeDocument/2006/relationships/image" Target="/ppt/media/image11.png" Id="R56af56b7d9824ff8" /><Relationship Type="http://schemas.openxmlformats.org/officeDocument/2006/relationships/notesSlide" Target="/ppt/notesSlides/notesSlide12.xml" Id="R0828a5c6c3d346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5029e949a744d0b" /><Relationship Type="http://schemas.openxmlformats.org/officeDocument/2006/relationships/notesSlide" Target="/ppt/notesSlides/notesSlide13.xml" Id="R740cbb2c53624c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6bba4a3ace485e" /><Relationship Type="http://schemas.openxmlformats.org/officeDocument/2006/relationships/notesSlide" Target="/ppt/notesSlides/notesSlide14.xml" Id="Re1826b73e40b4c9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FD011D-66A8-4DE3-905D-211142B5A65D}"/>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182541"/>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4eb22bb69e74ced"/>
          <a:stretch xmlns:a="http://schemas.openxmlformats.org/drawingml/2006/main"/>
        </p:blipFill>
        <p:spPr>
          <a:xfrm xmlns:a="http://schemas.openxmlformats.org/drawingml/2006/main">
            <a:off x="590550" y="560187"/>
            <a:ext cx="2857500" cy="55602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F80C7F-2948-4B35-B1EF-9F8608817B96}"/>
              </a:ext>
            </a:extLst>
          </p:cNvPr>
          <p:cNvSpPr>
            <a:spLocks xmlns:a="http://schemas.openxmlformats.org/drawingml/2006/main" noGrp="1"/>
          </p:cNvSpPr>
          <p:nvPr/>
        </p:nvSpPr>
        <p:spPr>
          <a:xfrm xmlns:a="http://schemas.openxmlformats.org/drawingml/2006/main">
            <a:off x="590550" y="2019300"/>
            <a:ext cx="619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182541"/>
                </a:solidFill>
                <a:latin typeface="Arial"/>
                <a:ea typeface="Arial"/>
                <a:cs typeface="Arial"/>
              </a:defRPr>
            </a:pPr>
            <a:r>
              <a:rPr sz="5100" b="1">
                <a:solidFill>
                  <a:srgbClr val="182541"/>
                </a:solidFill>
                <a:latin typeface="Arial"/>
                <a:ea typeface="Arial"/>
                <a:cs typeface="Arial"/>
              </a:rPr>
              <a:t>Brand Scorecard</a:t>
            </a:r>
          </a:p>
        </p:txBody>
      </p:sp>
      <p:sp>
        <p:nvSpPr>
          <p:cNvPr id="4" name="">
            <a:extLst xmlns:a="http://schemas.openxmlformats.org/drawingml/2006/main">
              <a:ext uri="{FF2B5EF4-FFF2-40B4-BE49-F238E27FC236}">
                <a16:creationId xmlns:a16="http://schemas.microsoft.com/office/drawing/2014/main" id="{B69F60B6-AC97-400E-802E-5B8A1C15FA9F}"/>
              </a:ext>
            </a:extLst>
          </p:cNvPr>
          <p:cNvSpPr>
            <a:spLocks xmlns:a="http://schemas.openxmlformats.org/drawingml/2006/main" noGrp="1"/>
          </p:cNvSpPr>
          <p:nvPr/>
        </p:nvSpPr>
        <p:spPr>
          <a:xfrm xmlns:a="http://schemas.openxmlformats.org/drawingml/2006/main">
            <a:off x="609600" y="301942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64748B"/>
                </a:solidFill>
                <a:latin typeface="Arial"/>
                <a:ea typeface="Arial"/>
                <a:cs typeface="Arial"/>
              </a:defRPr>
            </a:pPr>
            <a:r>
              <a:rPr sz="2250" b="0">
                <a:solidFill>
                  <a:srgbClr val="64748B"/>
                </a:solidFill>
                <a:latin typeface="Arial"/>
                <a:ea typeface="Arial"/>
                <a:cs typeface="Arial"/>
              </a:rPr>
              <a:t>A practical tool for brand assessment and portfolio decisions</a:t>
            </a:r>
          </a:p>
        </p:txBody>
      </p:sp>
      <p:sp>
        <p:nvSpPr>
          <p:cNvPr id="5" name="">
            <a:extLst xmlns:a="http://schemas.openxmlformats.org/drawingml/2006/main">
              <a:ext uri="{FF2B5EF4-FFF2-40B4-BE49-F238E27FC236}">
                <a16:creationId xmlns:a16="http://schemas.microsoft.com/office/drawing/2014/main" id="{50A648B7-4AE2-4589-A159-845823A7F6B8}"/>
              </a:ext>
            </a:extLst>
          </p:cNvPr>
          <p:cNvSpPr>
            <a:spLocks xmlns:a="http://schemas.openxmlformats.org/drawingml/2006/main" noGrp="1"/>
          </p:cNvSpPr>
          <p:nvPr/>
        </p:nvSpPr>
        <p:spPr>
          <a:xfrm xmlns:a="http://schemas.openxmlformats.org/drawingml/2006/main">
            <a:off x="609600" y="52197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C4694"/>
                </a:solidFill>
                <a:latin typeface="Arial"/>
                <a:ea typeface="Arial"/>
                <a:cs typeface="Arial"/>
              </a:defRPr>
            </a:pPr>
            <a:r>
              <a:rPr sz="1500" b="1">
                <a:solidFill>
                  <a:srgbClr val="2C4694"/>
                </a:solidFill>
                <a:latin typeface="Arial"/>
                <a:ea typeface="Arial"/>
                <a:cs typeface="Arial"/>
              </a:rPr>
              <a:t>Project presentation</a:t>
            </a:r>
          </a:p>
        </p:txBody>
      </p:sp>
      <p:sp>
        <p:nvSpPr>
          <p:cNvPr id="6" name="">
            <a:extLst xmlns:a="http://schemas.openxmlformats.org/drawingml/2006/main">
              <a:ext uri="{FF2B5EF4-FFF2-40B4-BE49-F238E27FC236}">
                <a16:creationId xmlns:a16="http://schemas.microsoft.com/office/drawing/2014/main" id="{AC23B789-4BA0-4E59-81C7-2EDB33F64195}"/>
              </a:ext>
            </a:extLst>
          </p:cNvPr>
          <p:cNvSpPr>
            <a:spLocks xmlns:a="http://schemas.openxmlformats.org/drawingml/2006/main" noGrp="1"/>
          </p:cNvSpPr>
          <p:nvPr/>
        </p:nvSpPr>
        <p:spPr>
          <a:xfrm xmlns:a="http://schemas.openxmlformats.org/drawingml/2006/main">
            <a:off x="609600" y="5600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4748B"/>
                </a:solidFill>
                <a:latin typeface="Arial"/>
                <a:ea typeface="Arial"/>
                <a:cs typeface="Arial"/>
              </a:defRPr>
            </a:pPr>
            <a:r>
              <a:rPr sz="1350" b="0">
                <a:solidFill>
                  <a:srgbClr val="64748B"/>
                </a:solidFill>
                <a:latin typeface="Arial"/>
                <a:ea typeface="Arial"/>
                <a:cs typeface="Arial"/>
              </a:rPr>
              <a:t>September 2026</a:t>
            </a:r>
          </a:p>
        </p:txBody>
      </p:sp>
      <p:sp>
        <p:nvSpPr>
          <p:cNvPr id="7" name="">
            <a:extLst xmlns:a="http://schemas.openxmlformats.org/drawingml/2006/main">
              <a:ext uri="{FF2B5EF4-FFF2-40B4-BE49-F238E27FC236}">
                <a16:creationId xmlns:a16="http://schemas.microsoft.com/office/drawing/2014/main" id="{C21BC6C4-0FDC-40BC-9298-6C9F98969141}"/>
              </a:ext>
            </a:extLst>
          </p:cNvPr>
          <p:cNvSpPr>
            <a:spLocks xmlns:a="http://schemas.openxmlformats.org/drawingml/2006/main" noGrp="1"/>
          </p:cNvSpPr>
          <p:nvPr/>
        </p:nvSpPr>
        <p:spPr>
          <a:xfrm xmlns:a="http://schemas.openxmlformats.org/drawingml/2006/main">
            <a:off x="7791450" y="17335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ASSESS</a:t>
            </a:r>
          </a:p>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COMPARE</a:t>
            </a:r>
          </a:p>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DECIDE</a:t>
            </a:r>
          </a:p>
        </p:txBody>
      </p:sp>
      <p:sp>
        <p:nvSpPr>
          <p:cNvPr id="8" name="">
            <a:extLst xmlns:a="http://schemas.openxmlformats.org/drawingml/2006/main">
              <a:ext uri="{FF2B5EF4-FFF2-40B4-BE49-F238E27FC236}">
                <a16:creationId xmlns:a16="http://schemas.microsoft.com/office/drawing/2014/main" id="{EF98136D-401E-4171-A282-B443E5BB4194}"/>
              </a:ext>
            </a:extLst>
          </p:cNvPr>
          <p:cNvSpPr>
            <a:spLocks xmlns:a="http://schemas.openxmlformats.org/drawingml/2006/main" noGrp="1"/>
          </p:cNvSpPr>
          <p:nvPr/>
        </p:nvSpPr>
        <p:spPr>
          <a:xfrm xmlns:a="http://schemas.openxmlformats.org/drawingml/2006/main">
            <a:off x="7791450" y="4552950"/>
            <a:ext cx="2190750" cy="38100"/>
          </a:xfrm>
          <a:prstGeom xmlns:a="http://schemas.openxmlformats.org/drawingml/2006/main" prst="rect">
            <a:avLst/>
          </a:prstGeom>
          <a:solidFill xmlns:a="http://schemas.openxmlformats.org/drawingml/2006/main">
            <a:srgbClr val="506BB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33388F2-C9F7-4B3E-9C15-9AD775C08C53}"/>
              </a:ext>
            </a:extLst>
          </p:cNvPr>
          <p:cNvSpPr>
            <a:spLocks xmlns:a="http://schemas.openxmlformats.org/drawingml/2006/main" noGrp="1"/>
          </p:cNvSpPr>
          <p:nvPr/>
        </p:nvSpPr>
        <p:spPr>
          <a:xfrm xmlns:a="http://schemas.openxmlformats.org/drawingml/2006/main">
            <a:off x="7791450" y="4810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DCE5FF"/>
                </a:solidFill>
                <a:latin typeface="Arial"/>
                <a:ea typeface="Arial"/>
                <a:cs typeface="Arial"/>
              </a:defRPr>
            </a:pPr>
            <a:r>
              <a:rPr sz="1650" b="0">
                <a:solidFill>
                  <a:srgbClr val="DCE5FF"/>
                </a:solidFill>
                <a:latin typeface="Arial"/>
                <a:ea typeface="Arial"/>
                <a:cs typeface="Arial"/>
              </a:rPr>
              <a:t>One shared scoring method</a:t>
            </a:r>
          </a:p>
          <a:p xmlns:a="http://schemas.openxmlformats.org/drawingml/2006/main">
            <a:pPr>
              <a:buNone/>
              <a:defRPr sz="1650" b="0">
                <a:solidFill>
                  <a:srgbClr val="DCE5FF"/>
                </a:solidFill>
                <a:latin typeface="Arial"/>
                <a:ea typeface="Arial"/>
                <a:cs typeface="Arial"/>
              </a:defRPr>
            </a:pPr>
            <a:r>
              <a:rPr sz="1650" b="0">
                <a:solidFill>
                  <a:srgbClr val="DCE5FF"/>
                </a:solidFill>
                <a:latin typeface="Arial"/>
                <a:ea typeface="Arial"/>
                <a:cs typeface="Arial"/>
              </a:rPr>
              <a:t>One persistent data source</a:t>
            </a:r>
          </a:p>
        </p:txBody>
      </p:sp>
    </p:spTree>
    <p:extLst>
      <p:ext uri="{BB962C8B-B14F-4D97-AF65-F5344CB8AC3E}">
        <p14:creationId xmlns:p14="http://schemas.microsoft.com/office/powerpoint/2010/main" val="382785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4B5531-CDDB-44D6-B960-3FD37035509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217C2B-8203-4BEA-8B9B-0EB590A20D5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506BB4"/>
                </a:solidFill>
                <a:latin typeface="Arial"/>
                <a:ea typeface="Arial"/>
                <a:cs typeface="Arial"/>
              </a:defRPr>
            </a:pPr>
            <a:r>
              <a:rPr sz="1125" b="1">
                <a:solidFill>
                  <a:srgbClr val="506BB4"/>
                </a:solidFill>
                <a:latin typeface="Arial"/>
                <a:ea typeface="Arial"/>
                <a:cs typeface="Arial"/>
              </a:rPr>
              <a:t>BUSINESS NEED</a:t>
            </a:r>
          </a:p>
        </p:txBody>
      </p:sp>
      <p:sp>
        <p:nvSpPr>
          <p:cNvPr id="3" name="">
            <a:extLst xmlns:a="http://schemas.openxmlformats.org/drawingml/2006/main">
              <a:ext uri="{FF2B5EF4-FFF2-40B4-BE49-F238E27FC236}">
                <a16:creationId xmlns:a16="http://schemas.microsoft.com/office/drawing/2014/main" id="{ECAF11D4-C844-4083-9FE2-F143B17249D5}"/>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541"/>
                </a:solidFill>
                <a:latin typeface="Arial"/>
                <a:ea typeface="Arial"/>
                <a:cs typeface="Arial"/>
              </a:defRPr>
            </a:pPr>
            <a:r>
              <a:rPr sz="3300" b="1">
                <a:solidFill>
                  <a:srgbClr val="182541"/>
                </a:solidFill>
                <a:latin typeface="Arial"/>
                <a:ea typeface="Arial"/>
                <a:cs typeface="Arial"/>
              </a:rPr>
              <a:t>Why the project was needed</a:t>
            </a:r>
          </a:p>
        </p:txBody>
      </p:sp>
      <p:sp>
        <p:nvSpPr>
          <p:cNvPr id="4" name="">
            <a:extLst xmlns:a="http://schemas.openxmlformats.org/drawingml/2006/main">
              <a:ext uri="{FF2B5EF4-FFF2-40B4-BE49-F238E27FC236}">
                <a16:creationId xmlns:a16="http://schemas.microsoft.com/office/drawing/2014/main" id="{370FB31A-DD15-4632-A77A-7AF08DF65105}"/>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6384BF-B565-4057-B6D0-753A27A73CDC}"/>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4748B"/>
                </a:solidFill>
                <a:latin typeface="Arial"/>
                <a:ea typeface="Arial"/>
                <a:cs typeface="Arial"/>
              </a:defRPr>
            </a:pPr>
            <a:r>
              <a:rPr sz="1050" b="0">
                <a:solidFill>
                  <a:srgbClr val="64748B"/>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CC2FFFAD-BDDB-4CF6-8857-B2B432D956B3}"/>
              </a:ext>
            </a:extLst>
          </p:cNvPr>
          <p:cNvSpPr>
            <a:spLocks xmlns:a="http://schemas.openxmlformats.org/drawingml/2006/main" noGrp="1"/>
          </p:cNvSpPr>
          <p:nvPr/>
        </p:nvSpPr>
        <p:spPr>
          <a:xfrm xmlns:a="http://schemas.openxmlformats.org/drawingml/2006/main">
            <a:off x="666750" y="15716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2541"/>
                </a:solidFill>
                <a:latin typeface="Arial"/>
                <a:ea typeface="Arial"/>
                <a:cs typeface="Arial"/>
              </a:defRPr>
            </a:pPr>
            <a:r>
              <a:rPr sz="2100" b="1">
                <a:solidFill>
                  <a:srgbClr val="182541"/>
                </a:solidFill>
                <a:latin typeface="Arial"/>
                <a:ea typeface="Arial"/>
                <a:cs typeface="Arial"/>
              </a:rPr>
              <a:t>The starting point</a:t>
            </a:r>
          </a:p>
        </p:txBody>
      </p:sp>
      <p:sp>
        <p:nvSpPr>
          <p:cNvPr id="7" name="">
            <a:extLst xmlns:a="http://schemas.openxmlformats.org/drawingml/2006/main">
              <a:ext uri="{FF2B5EF4-FFF2-40B4-BE49-F238E27FC236}">
                <a16:creationId xmlns:a16="http://schemas.microsoft.com/office/drawing/2014/main" id="{76DC4C8A-7489-4083-B77C-5CDE46A29CFA}"/>
              </a:ext>
            </a:extLst>
          </p:cNvPr>
          <p:cNvSpPr>
            <a:spLocks xmlns:a="http://schemas.openxmlformats.org/drawingml/2006/main" noGrp="1"/>
          </p:cNvSpPr>
          <p:nvPr/>
        </p:nvSpPr>
        <p:spPr>
          <a:xfrm xmlns:a="http://schemas.openxmlformats.org/drawingml/2006/main">
            <a:off x="666750" y="2076450"/>
            <a:ext cx="4857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800">
                <a:solidFill>
                  <a:srgbClr val="152039"/>
                </a:solidFill>
                <a:latin typeface="Arial"/>
                <a:ea typeface="Arial"/>
                <a:cs typeface="Arial"/>
              </a:defRPr>
            </a:pPr>
            <a:r>
              <a:rPr sz="1800">
                <a:solidFill>
                  <a:srgbClr val="152039"/>
                </a:solidFill>
                <a:latin typeface="Arial"/>
                <a:ea typeface="Arial"/>
                <a:cs typeface="Arial"/>
              </a:rPr>
              <a:t>Brand information was spread across files and personal notes.</a:t>
            </a:r>
          </a:p>
          <a:p xmlns:a="http://schemas.openxmlformats.org/drawingml/2006/main">
            <a:pPr marL="228600" indent="-114300">
              <a:spcAft>
                <a:spcPts val="1200"/>
              </a:spcAft>
              <a:buChar char="•"/>
              <a:defRPr sz="1800">
                <a:solidFill>
                  <a:srgbClr val="152039"/>
                </a:solidFill>
                <a:latin typeface="Arial"/>
                <a:ea typeface="Arial"/>
                <a:cs typeface="Arial"/>
              </a:defRPr>
            </a:pPr>
            <a:r>
              <a:rPr sz="1800">
                <a:solidFill>
                  <a:srgbClr val="152039"/>
                </a:solidFill>
                <a:latin typeface="Arial"/>
                <a:ea typeface="Arial"/>
                <a:cs typeface="Arial"/>
              </a:rPr>
              <a:t>Teams needed a consistent way to compare very different brands.</a:t>
            </a:r>
          </a:p>
          <a:p xmlns:a="http://schemas.openxmlformats.org/drawingml/2006/main">
            <a:pPr marL="228600" indent="-114300">
              <a:spcAft>
                <a:spcPts val="1200"/>
              </a:spcAft>
              <a:buChar char="•"/>
              <a:defRPr sz="1800">
                <a:solidFill>
                  <a:srgbClr val="152039"/>
                </a:solidFill>
                <a:latin typeface="Arial"/>
                <a:ea typeface="Arial"/>
                <a:cs typeface="Arial"/>
              </a:defRPr>
            </a:pPr>
            <a:r>
              <a:rPr sz="1800">
                <a:solidFill>
                  <a:srgbClr val="152039"/>
                </a:solidFill>
                <a:latin typeface="Arial"/>
                <a:ea typeface="Arial"/>
                <a:cs typeface="Arial"/>
              </a:rPr>
              <a:t>Manual updates made follow-up slow and difficult to trace.</a:t>
            </a:r>
          </a:p>
          <a:p xmlns:a="http://schemas.openxmlformats.org/drawingml/2006/main">
            <a:pPr marL="228600" indent="-114300">
              <a:spcAft>
                <a:spcPts val="1200"/>
              </a:spcAft>
              <a:buChar char="•"/>
              <a:defRPr sz="1800">
                <a:solidFill>
                  <a:srgbClr val="152039"/>
                </a:solidFill>
                <a:latin typeface="Arial"/>
                <a:ea typeface="Arial"/>
                <a:cs typeface="Arial"/>
              </a:defRPr>
            </a:pPr>
            <a:r>
              <a:rPr sz="1800">
                <a:solidFill>
                  <a:srgbClr val="152039"/>
                </a:solidFill>
                <a:latin typeface="Arial"/>
                <a:ea typeface="Arial"/>
                <a:cs typeface="Arial"/>
              </a:rPr>
              <a:t>Management needed a clear view of priorities and risks.</a:t>
            </a:r>
          </a:p>
        </p:txBody>
      </p:sp>
      <p:sp>
        <p:nvSpPr>
          <p:cNvPr id="8" name="">
            <a:extLst xmlns:a="http://schemas.openxmlformats.org/drawingml/2006/main">
              <a:ext uri="{FF2B5EF4-FFF2-40B4-BE49-F238E27FC236}">
                <a16:creationId xmlns:a16="http://schemas.microsoft.com/office/drawing/2014/main" id="{C103ED16-028A-46D6-B1E0-C14040BF9472}"/>
              </a:ext>
            </a:extLst>
          </p:cNvPr>
          <p:cNvSpPr>
            <a:spLocks xmlns:a="http://schemas.openxmlformats.org/drawingml/2006/main" noGrp="1"/>
          </p:cNvSpPr>
          <p:nvPr/>
        </p:nvSpPr>
        <p:spPr>
          <a:xfrm xmlns:a="http://schemas.openxmlformats.org/drawingml/2006/main">
            <a:off x="6000750" y="1524000"/>
            <a:ext cx="19050" cy="40957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7799F1E-6C14-421E-B86B-1D99EB50075D}"/>
              </a:ext>
            </a:extLst>
          </p:cNvPr>
          <p:cNvSpPr>
            <a:spLocks xmlns:a="http://schemas.openxmlformats.org/drawingml/2006/main" noGrp="1"/>
          </p:cNvSpPr>
          <p:nvPr/>
        </p:nvSpPr>
        <p:spPr>
          <a:xfrm xmlns:a="http://schemas.openxmlformats.org/drawingml/2006/main">
            <a:off x="6572250" y="15716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2541"/>
                </a:solidFill>
                <a:latin typeface="Arial"/>
                <a:ea typeface="Arial"/>
                <a:cs typeface="Arial"/>
              </a:defRPr>
            </a:pPr>
            <a:r>
              <a:rPr sz="2100" b="1">
                <a:solidFill>
                  <a:srgbClr val="182541"/>
                </a:solidFill>
                <a:latin typeface="Arial"/>
                <a:ea typeface="Arial"/>
                <a:cs typeface="Arial"/>
              </a:rPr>
              <a:t>The project response</a:t>
            </a:r>
          </a:p>
        </p:txBody>
      </p:sp>
      <p:sp>
        <p:nvSpPr>
          <p:cNvPr id="10" name="">
            <a:extLst xmlns:a="http://schemas.openxmlformats.org/drawingml/2006/main">
              <a:ext uri="{FF2B5EF4-FFF2-40B4-BE49-F238E27FC236}">
                <a16:creationId xmlns:a16="http://schemas.microsoft.com/office/drawing/2014/main" id="{8527FA0B-8F0C-42D4-9049-CDFB556F3A45}"/>
              </a:ext>
            </a:extLst>
          </p:cNvPr>
          <p:cNvSpPr>
            <a:spLocks xmlns:a="http://schemas.openxmlformats.org/drawingml/2006/main" noGrp="1"/>
          </p:cNvSpPr>
          <p:nvPr/>
        </p:nvSpPr>
        <p:spPr>
          <a:xfrm xmlns:a="http://schemas.openxmlformats.org/drawingml/2006/main">
            <a:off x="6572250" y="21431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506BB4"/>
                </a:solidFill>
                <a:latin typeface="Arial"/>
                <a:ea typeface="Arial"/>
                <a:cs typeface="Arial"/>
              </a:defRPr>
            </a:pPr>
            <a:r>
              <a:rPr sz="2400" b="1">
                <a:solidFill>
                  <a:srgbClr val="506BB4"/>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C2A57C6C-0686-4779-943E-3D15AB170AC2}"/>
              </a:ext>
            </a:extLst>
          </p:cNvPr>
          <p:cNvSpPr>
            <a:spLocks xmlns:a="http://schemas.openxmlformats.org/drawingml/2006/main" noGrp="1"/>
          </p:cNvSpPr>
          <p:nvPr/>
        </p:nvSpPr>
        <p:spPr>
          <a:xfrm xmlns:a="http://schemas.openxmlformats.org/drawingml/2006/main">
            <a:off x="7334250" y="21431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2039"/>
                </a:solidFill>
                <a:latin typeface="Arial"/>
                <a:ea typeface="Arial"/>
                <a:cs typeface="Arial"/>
              </a:defRPr>
            </a:pPr>
            <a:r>
              <a:rPr sz="1875" b="1">
                <a:solidFill>
                  <a:srgbClr val="152039"/>
                </a:solidFill>
                <a:latin typeface="Arial"/>
                <a:ea typeface="Arial"/>
                <a:cs typeface="Arial"/>
              </a:rPr>
              <a:t>Structured assessment</a:t>
            </a:r>
          </a:p>
        </p:txBody>
      </p:sp>
      <p:sp>
        <p:nvSpPr>
          <p:cNvPr id="12" name="">
            <a:extLst xmlns:a="http://schemas.openxmlformats.org/drawingml/2006/main">
              <a:ext uri="{FF2B5EF4-FFF2-40B4-BE49-F238E27FC236}">
                <a16:creationId xmlns:a16="http://schemas.microsoft.com/office/drawing/2014/main" id="{BA160026-6987-4526-B911-B7004304752E}"/>
              </a:ext>
            </a:extLst>
          </p:cNvPr>
          <p:cNvSpPr>
            <a:spLocks xmlns:a="http://schemas.openxmlformats.org/drawingml/2006/main" noGrp="1"/>
          </p:cNvSpPr>
          <p:nvPr/>
        </p:nvSpPr>
        <p:spPr>
          <a:xfrm xmlns:a="http://schemas.openxmlformats.org/drawingml/2006/main">
            <a:off x="7334250" y="250507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64748B"/>
                </a:solidFill>
                <a:latin typeface="Arial"/>
                <a:ea typeface="Arial"/>
                <a:cs typeface="Arial"/>
              </a:defRPr>
            </a:pPr>
            <a:r>
              <a:rPr sz="1500" b="0">
                <a:solidFill>
                  <a:srgbClr val="64748B"/>
                </a:solidFill>
                <a:latin typeface="Arial"/>
                <a:ea typeface="Arial"/>
                <a:cs typeface="Arial"/>
              </a:rPr>
              <a:t>The same questions and scales for every brand.</a:t>
            </a:r>
          </a:p>
        </p:txBody>
      </p:sp>
      <p:sp>
        <p:nvSpPr>
          <p:cNvPr id="13" name="">
            <a:extLst xmlns:a="http://schemas.openxmlformats.org/drawingml/2006/main">
              <a:ext uri="{FF2B5EF4-FFF2-40B4-BE49-F238E27FC236}">
                <a16:creationId xmlns:a16="http://schemas.microsoft.com/office/drawing/2014/main" id="{920A906F-3507-4919-AB0F-DFF605EB2248}"/>
              </a:ext>
            </a:extLst>
          </p:cNvPr>
          <p:cNvSpPr>
            <a:spLocks xmlns:a="http://schemas.openxmlformats.org/drawingml/2006/main" noGrp="1"/>
          </p:cNvSpPr>
          <p:nvPr/>
        </p:nvSpPr>
        <p:spPr>
          <a:xfrm xmlns:a="http://schemas.openxmlformats.org/drawingml/2006/main">
            <a:off x="6572250" y="32670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506BB4"/>
                </a:solidFill>
                <a:latin typeface="Arial"/>
                <a:ea typeface="Arial"/>
                <a:cs typeface="Arial"/>
              </a:defRPr>
            </a:pPr>
            <a:r>
              <a:rPr sz="2400" b="1">
                <a:solidFill>
                  <a:srgbClr val="506BB4"/>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7520AA69-E2D6-4479-976F-5B3F8321CFE2}"/>
              </a:ext>
            </a:extLst>
          </p:cNvPr>
          <p:cNvSpPr>
            <a:spLocks xmlns:a="http://schemas.openxmlformats.org/drawingml/2006/main" noGrp="1"/>
          </p:cNvSpPr>
          <p:nvPr/>
        </p:nvSpPr>
        <p:spPr>
          <a:xfrm xmlns:a="http://schemas.openxmlformats.org/drawingml/2006/main">
            <a:off x="7334250" y="32670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2039"/>
                </a:solidFill>
                <a:latin typeface="Arial"/>
                <a:ea typeface="Arial"/>
                <a:cs typeface="Arial"/>
              </a:defRPr>
            </a:pPr>
            <a:r>
              <a:rPr sz="1875" b="1">
                <a:solidFill>
                  <a:srgbClr val="152039"/>
                </a:solidFill>
                <a:latin typeface="Arial"/>
                <a:ea typeface="Arial"/>
                <a:cs typeface="Arial"/>
              </a:rPr>
              <a:t>Persistent data</a:t>
            </a:r>
          </a:p>
        </p:txBody>
      </p:sp>
      <p:sp>
        <p:nvSpPr>
          <p:cNvPr id="15" name="">
            <a:extLst xmlns:a="http://schemas.openxmlformats.org/drawingml/2006/main">
              <a:ext uri="{FF2B5EF4-FFF2-40B4-BE49-F238E27FC236}">
                <a16:creationId xmlns:a16="http://schemas.microsoft.com/office/drawing/2014/main" id="{8A3215A3-B14B-4349-9717-93B30F7E3FDB}"/>
              </a:ext>
            </a:extLst>
          </p:cNvPr>
          <p:cNvSpPr>
            <a:spLocks xmlns:a="http://schemas.openxmlformats.org/drawingml/2006/main" noGrp="1"/>
          </p:cNvSpPr>
          <p:nvPr/>
        </p:nvSpPr>
        <p:spPr>
          <a:xfrm xmlns:a="http://schemas.openxmlformats.org/drawingml/2006/main">
            <a:off x="7334250" y="362902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64748B"/>
                </a:solidFill>
                <a:latin typeface="Arial"/>
                <a:ea typeface="Arial"/>
                <a:cs typeface="Arial"/>
              </a:defRPr>
            </a:pPr>
            <a:r>
              <a:rPr sz="1500" b="0">
                <a:solidFill>
                  <a:srgbClr val="64748B"/>
                </a:solidFill>
                <a:latin typeface="Arial"/>
                <a:ea typeface="Arial"/>
                <a:cs typeface="Arial"/>
              </a:rPr>
              <a:t>Every saved assessment returns in the next session.</a:t>
            </a:r>
          </a:p>
        </p:txBody>
      </p:sp>
      <p:sp>
        <p:nvSpPr>
          <p:cNvPr id="16" name="">
            <a:extLst xmlns:a="http://schemas.openxmlformats.org/drawingml/2006/main">
              <a:ext uri="{FF2B5EF4-FFF2-40B4-BE49-F238E27FC236}">
                <a16:creationId xmlns:a16="http://schemas.microsoft.com/office/drawing/2014/main" id="{326A4605-B414-4FB1-BEFF-232B90CA19C7}"/>
              </a:ext>
            </a:extLst>
          </p:cNvPr>
          <p:cNvSpPr>
            <a:spLocks xmlns:a="http://schemas.openxmlformats.org/drawingml/2006/main" noGrp="1"/>
          </p:cNvSpPr>
          <p:nvPr/>
        </p:nvSpPr>
        <p:spPr>
          <a:xfrm xmlns:a="http://schemas.openxmlformats.org/drawingml/2006/main">
            <a:off x="6572250" y="43910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506BB4"/>
                </a:solidFill>
                <a:latin typeface="Arial"/>
                <a:ea typeface="Arial"/>
                <a:cs typeface="Arial"/>
              </a:defRPr>
            </a:pPr>
            <a:r>
              <a:rPr sz="2400" b="1">
                <a:solidFill>
                  <a:srgbClr val="506BB4"/>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408192F9-C982-4119-AAB6-9502BAA17A83}"/>
              </a:ext>
            </a:extLst>
          </p:cNvPr>
          <p:cNvSpPr>
            <a:spLocks xmlns:a="http://schemas.openxmlformats.org/drawingml/2006/main" noGrp="1"/>
          </p:cNvSpPr>
          <p:nvPr/>
        </p:nvSpPr>
        <p:spPr>
          <a:xfrm xmlns:a="http://schemas.openxmlformats.org/drawingml/2006/main">
            <a:off x="7334250" y="43910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2039"/>
                </a:solidFill>
                <a:latin typeface="Arial"/>
                <a:ea typeface="Arial"/>
                <a:cs typeface="Arial"/>
              </a:defRPr>
            </a:pPr>
            <a:r>
              <a:rPr sz="1875" b="1">
                <a:solidFill>
                  <a:srgbClr val="152039"/>
                </a:solidFill>
                <a:latin typeface="Arial"/>
                <a:ea typeface="Arial"/>
                <a:cs typeface="Arial"/>
              </a:rPr>
              <a:t>Decision views</a:t>
            </a:r>
          </a:p>
        </p:txBody>
      </p:sp>
      <p:sp>
        <p:nvSpPr>
          <p:cNvPr id="18" name="">
            <a:extLst xmlns:a="http://schemas.openxmlformats.org/drawingml/2006/main">
              <a:ext uri="{FF2B5EF4-FFF2-40B4-BE49-F238E27FC236}">
                <a16:creationId xmlns:a16="http://schemas.microsoft.com/office/drawing/2014/main" id="{CE4792C3-B926-488E-A54C-79499C7E8E8C}"/>
              </a:ext>
            </a:extLst>
          </p:cNvPr>
          <p:cNvSpPr>
            <a:spLocks xmlns:a="http://schemas.openxmlformats.org/drawingml/2006/main" noGrp="1"/>
          </p:cNvSpPr>
          <p:nvPr/>
        </p:nvSpPr>
        <p:spPr>
          <a:xfrm xmlns:a="http://schemas.openxmlformats.org/drawingml/2006/main">
            <a:off x="7334250" y="475297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64748B"/>
                </a:solidFill>
                <a:latin typeface="Arial"/>
                <a:ea typeface="Arial"/>
                <a:cs typeface="Arial"/>
              </a:defRPr>
            </a:pPr>
            <a:r>
              <a:rPr sz="1500" b="0">
                <a:solidFill>
                  <a:srgbClr val="64748B"/>
                </a:solidFill>
                <a:latin typeface="Arial"/>
                <a:ea typeface="Arial"/>
                <a:cs typeface="Arial"/>
              </a:rPr>
              <a:t>Scores, recommendations, comparisons, and exports.</a:t>
            </a:r>
          </a:p>
        </p:txBody>
      </p:sp>
    </p:spTree>
    <p:extLst>
      <p:ext uri="{BB962C8B-B14F-4D97-AF65-F5344CB8AC3E}">
        <p14:creationId xmlns:p14="http://schemas.microsoft.com/office/powerpoint/2010/main" val="3343186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E7837A-CA2C-4ECB-934C-36D6258F627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B47ABB-2BAF-4078-84D9-E2082B8239A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506BB4"/>
                </a:solidFill>
                <a:latin typeface="Arial"/>
                <a:ea typeface="Arial"/>
                <a:cs typeface="Arial"/>
              </a:defRPr>
            </a:pPr>
            <a:r>
              <a:rPr sz="1125" b="1">
                <a:solidFill>
                  <a:srgbClr val="506BB4"/>
                </a:solidFill>
                <a:latin typeface="Arial"/>
                <a:ea typeface="Arial"/>
                <a:cs typeface="Arial"/>
              </a:rPr>
              <a:t>DATA CAPTURE</a:t>
            </a:r>
          </a:p>
        </p:txBody>
      </p:sp>
      <p:sp>
        <p:nvSpPr>
          <p:cNvPr id="3" name="">
            <a:extLst xmlns:a="http://schemas.openxmlformats.org/drawingml/2006/main">
              <a:ext uri="{FF2B5EF4-FFF2-40B4-BE49-F238E27FC236}">
                <a16:creationId xmlns:a16="http://schemas.microsoft.com/office/drawing/2014/main" id="{4BDFC12B-2051-45EF-9737-D101B719DE9D}"/>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541"/>
                </a:solidFill>
                <a:latin typeface="Arial"/>
                <a:ea typeface="Arial"/>
                <a:cs typeface="Arial"/>
              </a:defRPr>
            </a:pPr>
            <a:r>
              <a:rPr sz="3300" b="1">
                <a:solidFill>
                  <a:srgbClr val="182541"/>
                </a:solidFill>
                <a:latin typeface="Arial"/>
                <a:ea typeface="Arial"/>
                <a:cs typeface="Arial"/>
              </a:rPr>
              <a:t>Guided brand assessment</a:t>
            </a:r>
          </a:p>
        </p:txBody>
      </p:sp>
      <p:sp>
        <p:nvSpPr>
          <p:cNvPr id="4" name="">
            <a:extLst xmlns:a="http://schemas.openxmlformats.org/drawingml/2006/main">
              <a:ext uri="{FF2B5EF4-FFF2-40B4-BE49-F238E27FC236}">
                <a16:creationId xmlns:a16="http://schemas.microsoft.com/office/drawing/2014/main" id="{5AFE799F-C41C-4D42-AFDB-6B4A5D771323}"/>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CA3FD7-A2D6-4A74-9F52-BE9F5D92C171}"/>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4748B"/>
                </a:solidFill>
                <a:latin typeface="Arial"/>
                <a:ea typeface="Arial"/>
                <a:cs typeface="Arial"/>
              </a:defRPr>
            </a:pPr>
            <a:r>
              <a:rPr sz="1050" b="0">
                <a:solidFill>
                  <a:srgbClr val="64748B"/>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5636A8AA-8DFA-4690-B02D-84C13300F20F}"/>
              </a:ext>
            </a:extLst>
          </p:cNvPr>
          <p:cNvSpPr>
            <a:spLocks xmlns:a="http://schemas.openxmlformats.org/drawingml/2006/main" noGrp="1"/>
          </p:cNvSpPr>
          <p:nvPr/>
        </p:nvSpPr>
        <p:spPr>
          <a:xfrm xmlns:a="http://schemas.openxmlformats.org/drawingml/2006/main">
            <a:off x="609600" y="1485900"/>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82541"/>
                </a:solidFill>
                <a:latin typeface="Arial"/>
                <a:ea typeface="Arial"/>
                <a:cs typeface="Arial"/>
              </a:defRPr>
            </a:pPr>
            <a:r>
              <a:rPr sz="2325" b="1">
                <a:solidFill>
                  <a:srgbClr val="182541"/>
                </a:solidFill>
                <a:latin typeface="Arial"/>
                <a:ea typeface="Arial"/>
                <a:cs typeface="Arial"/>
              </a:rPr>
              <a:t>One form covers the full assessment</a:t>
            </a:r>
          </a:p>
        </p:txBody>
      </p:sp>
      <p:sp>
        <p:nvSpPr>
          <p:cNvPr id="7" name="">
            <a:extLst xmlns:a="http://schemas.openxmlformats.org/drawingml/2006/main">
              <a:ext uri="{FF2B5EF4-FFF2-40B4-BE49-F238E27FC236}">
                <a16:creationId xmlns:a16="http://schemas.microsoft.com/office/drawing/2014/main" id="{26DF5EA7-1B30-4A5E-9554-8323740C0588}"/>
              </a:ext>
            </a:extLst>
          </p:cNvPr>
          <p:cNvSpPr>
            <a:spLocks xmlns:a="http://schemas.openxmlformats.org/drawingml/2006/main" noGrp="1"/>
          </p:cNvSpPr>
          <p:nvPr/>
        </p:nvSpPr>
        <p:spPr>
          <a:xfrm xmlns:a="http://schemas.openxmlformats.org/drawingml/2006/main">
            <a:off x="609600" y="2352675"/>
            <a:ext cx="3714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Select one or more strategic categories and brand families.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Assign a commercial owner and an assessment status.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Complete descriptive and strategic criteria in clear sections.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Add comments and evidence before saving the assessment.</a:t>
            </a:r>
          </a:p>
        </p:txBody>
      </p:sp>
      <p:sp>
        <p:nvSpPr>
          <p:cNvPr id="8" name="">
            <a:extLst xmlns:a="http://schemas.openxmlformats.org/drawingml/2006/main">
              <a:ext uri="{FF2B5EF4-FFF2-40B4-BE49-F238E27FC236}">
                <a16:creationId xmlns:a16="http://schemas.microsoft.com/office/drawing/2014/main" id="{13C3FF75-3C44-4FDA-B27A-3F1410DB3DA5}"/>
              </a:ext>
            </a:extLst>
          </p:cNvPr>
          <p:cNvSpPr>
            <a:spLocks xmlns:a="http://schemas.openxmlformats.org/drawingml/2006/main" noGrp="1"/>
          </p:cNvSpPr>
          <p:nvPr/>
        </p:nvSpPr>
        <p:spPr>
          <a:xfrm xmlns:a="http://schemas.openxmlformats.org/drawingml/2006/main">
            <a:off x="609600" y="5676900"/>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C4694"/>
                </a:solidFill>
                <a:latin typeface="Arial"/>
                <a:ea typeface="Arial"/>
                <a:cs typeface="Arial"/>
              </a:defRPr>
            </a:pPr>
            <a:r>
              <a:rPr sz="1500" b="1">
                <a:solidFill>
                  <a:srgbClr val="2C4694"/>
                </a:solidFill>
                <a:latin typeface="Arial"/>
                <a:ea typeface="Arial"/>
                <a:cs typeface="Arial"/>
              </a:rPr>
              <a:t>The same screen supports new brands and later updates.</a:t>
            </a:r>
          </a:p>
        </p:txBody>
      </p:sp>
      <p:sp>
        <p:nvSpPr>
          <p:cNvPr id="9" name="">
            <a:extLst xmlns:a="http://schemas.openxmlformats.org/drawingml/2006/main">
              <a:ext uri="{FF2B5EF4-FFF2-40B4-BE49-F238E27FC236}">
                <a16:creationId xmlns:a16="http://schemas.microsoft.com/office/drawing/2014/main" id="{79124889-6A77-4956-BC5F-989CD1C76743}"/>
              </a:ext>
            </a:extLst>
          </p:cNvPr>
          <p:cNvSpPr>
            <a:spLocks xmlns:a="http://schemas.openxmlformats.org/drawingml/2006/main" noGrp="1"/>
          </p:cNvSpPr>
          <p:nvPr/>
        </p:nvSpPr>
        <p:spPr>
          <a:xfrm xmlns:a="http://schemas.openxmlformats.org/drawingml/2006/main">
            <a:off x="4638675" y="1381125"/>
            <a:ext cx="69913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e92c52f26dd4e41"/>
          <a:stretch xmlns:a="http://schemas.openxmlformats.org/drawingml/2006/main"/>
        </p:blipFill>
        <p:spPr>
          <a:xfrm xmlns:a="http://schemas.openxmlformats.org/drawingml/2006/main">
            <a:off x="4686300" y="1762720"/>
            <a:ext cx="6896100" cy="4094559"/>
          </a:xfrm>
          <a:prstGeom xmlns:a="http://schemas.openxmlformats.org/drawingml/2006/main" prst="roundRect">
            <a:avLst>
              <a:gd name="adj" fmla="val 2400"/>
            </a:avLst>
          </a:prstGeom>
        </p:spPr>
      </p:pic>
    </p:spTree>
    <p:extLst>
      <p:ext uri="{BB962C8B-B14F-4D97-AF65-F5344CB8AC3E}">
        <p14:creationId xmlns:p14="http://schemas.microsoft.com/office/powerpoint/2010/main" val="8292598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36C344F-B8CC-4115-B5E2-64D8083803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BAEFF5-5396-4892-B561-8ACD6A1AA83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E69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AAB51E-B239-4F29-80CD-BE6E22BB105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a:solidFill>
                  <a:srgbClr val="4E69B2"/>
                </a:solidFill>
                <a:latin typeface="Arial"/>
                <a:ea typeface="Arial"/>
                <a:cs typeface="Arial"/>
              </a:defRPr>
            </a:pPr>
            <a:r>
              <a:rPr sz="1200" b="1">
                <a:solidFill>
                  <a:srgbClr val="4E69B2"/>
                </a:solidFill>
                <a:latin typeface="Arial"/>
                <a:ea typeface="Arial"/>
                <a:cs typeface="Arial"/>
              </a:rPr>
              <a:t>WORKFLOW</a:t>
            </a:r>
          </a:p>
        </p:txBody>
      </p:sp>
      <p:sp>
        <p:nvSpPr>
          <p:cNvPr id="4" name="">
            <a:extLst xmlns:a="http://schemas.openxmlformats.org/drawingml/2006/main">
              <a:ext uri="{FF2B5EF4-FFF2-40B4-BE49-F238E27FC236}">
                <a16:creationId xmlns:a16="http://schemas.microsoft.com/office/drawing/2014/main" id="{D5E39E24-2EF3-4525-AD14-98398DFAF553}"/>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54"/>
          </a:bodyPr>
          <a:lstStyle xmlns:a="http://schemas.openxmlformats.org/drawingml/2006/main"/>
          <a:p xmlns:a="http://schemas.openxmlformats.org/drawingml/2006/main">
            <a:pPr>
              <a:defRPr sz="3300" b="1">
                <a:solidFill>
                  <a:srgbClr val="172642"/>
                </a:solidFill>
                <a:latin typeface="Arial"/>
                <a:ea typeface="Arial"/>
                <a:cs typeface="Arial"/>
              </a:defRPr>
            </a:pPr>
            <a:r>
              <a:rPr sz="3300" b="1">
                <a:solidFill>
                  <a:srgbClr val="172642"/>
                </a:solidFill>
                <a:latin typeface="Arial"/>
                <a:ea typeface="Arial"/>
                <a:cs typeface="Arial"/>
              </a:rPr>
              <a:t>Assessment status</a:t>
            </a:r>
          </a:p>
        </p:txBody>
      </p:sp>
      <p:sp>
        <p:nvSpPr>
          <p:cNvPr id="5" name="">
            <a:extLst xmlns:a="http://schemas.openxmlformats.org/drawingml/2006/main">
              <a:ext uri="{FF2B5EF4-FFF2-40B4-BE49-F238E27FC236}">
                <a16:creationId xmlns:a16="http://schemas.microsoft.com/office/drawing/2014/main" id="{167B9A17-EF6C-4FBC-ADBA-4C56787AAD95}"/>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CE3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9712F8F-0CE4-42A9-8CD3-3AF7658AE28E}"/>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a:solidFill>
                  <a:srgbClr val="667792"/>
                </a:solidFill>
                <a:latin typeface="Arial"/>
                <a:ea typeface="Arial"/>
                <a:cs typeface="Arial"/>
              </a:defRPr>
            </a:pPr>
            <a:r>
              <a:rPr sz="900">
                <a:solidFill>
                  <a:srgbClr val="667792"/>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F85AC087-F39A-4D78-B74A-8600777A82A6}"/>
              </a:ext>
            </a:extLst>
          </p:cNvPr>
          <p:cNvSpPr>
            <a:spLocks xmlns:a="http://schemas.openxmlformats.org/drawingml/2006/main" noGrp="1"/>
          </p:cNvSpPr>
          <p:nvPr/>
        </p:nvSpPr>
        <p:spPr>
          <a:xfrm xmlns:a="http://schemas.openxmlformats.org/drawingml/2006/main">
            <a:off x="666750" y="14668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172642"/>
                </a:solidFill>
                <a:latin typeface="Arial"/>
                <a:ea typeface="Arial"/>
                <a:cs typeface="Arial"/>
              </a:defRPr>
            </a:pPr>
            <a:r>
              <a:rPr sz="2025" b="1">
                <a:solidFill>
                  <a:srgbClr val="172642"/>
                </a:solidFill>
                <a:latin typeface="Arial"/>
                <a:ea typeface="Arial"/>
                <a:cs typeface="Arial"/>
              </a:rPr>
              <a:t>Four manual stages</a:t>
            </a:r>
          </a:p>
        </p:txBody>
      </p:sp>
      <p:sp>
        <p:nvSpPr>
          <p:cNvPr id="8" name="">
            <a:extLst xmlns:a="http://schemas.openxmlformats.org/drawingml/2006/main">
              <a:ext uri="{FF2B5EF4-FFF2-40B4-BE49-F238E27FC236}">
                <a16:creationId xmlns:a16="http://schemas.microsoft.com/office/drawing/2014/main" id="{27C0E42F-BE43-475A-8C7F-D72BB86D2CC9}"/>
              </a:ext>
            </a:extLst>
          </p:cNvPr>
          <p:cNvSpPr>
            <a:spLocks xmlns:a="http://schemas.openxmlformats.org/drawingml/2006/main" noGrp="1"/>
          </p:cNvSpPr>
          <p:nvPr/>
        </p:nvSpPr>
        <p:spPr>
          <a:xfrm xmlns:a="http://schemas.openxmlformats.org/drawingml/2006/main">
            <a:off x="666750" y="19526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296"/>
          </a:bodyPr>
          <a:lstStyle xmlns:a="http://schemas.openxmlformats.org/drawingml/2006/main"/>
          <a:p xmlns:a="http://schemas.openxmlformats.org/drawingml/2006/main">
            <a:pPr>
              <a:defRPr sz="1350" b="1">
                <a:solidFill>
                  <a:srgbClr val="4E69B2"/>
                </a:solidFill>
                <a:latin typeface="Arial"/>
                <a:ea typeface="Arial"/>
                <a:cs typeface="Arial"/>
              </a:defRPr>
            </a:pPr>
            <a:r>
              <a:rPr sz="1350" b="1">
                <a:solidFill>
                  <a:srgbClr val="4E69B2"/>
                </a:solidFill>
                <a:latin typeface="Arial"/>
                <a:ea typeface="Arial"/>
                <a:cs typeface="Arial"/>
              </a:rPr>
              <a:t>To complete</a:t>
            </a:r>
          </a:p>
        </p:txBody>
      </p:sp>
      <p:sp>
        <p:nvSpPr>
          <p:cNvPr id="9" name="">
            <a:extLst xmlns:a="http://schemas.openxmlformats.org/drawingml/2006/main">
              <a:ext uri="{FF2B5EF4-FFF2-40B4-BE49-F238E27FC236}">
                <a16:creationId xmlns:a16="http://schemas.microsoft.com/office/drawing/2014/main" id="{1C5773AF-F925-462B-86F4-5D245666563A}"/>
              </a:ext>
            </a:extLst>
          </p:cNvPr>
          <p:cNvSpPr>
            <a:spLocks xmlns:a="http://schemas.openxmlformats.org/drawingml/2006/main" noGrp="1"/>
          </p:cNvSpPr>
          <p:nvPr/>
        </p:nvSpPr>
        <p:spPr>
          <a:xfrm xmlns:a="http://schemas.openxmlformats.org/drawingml/2006/main">
            <a:off x="666750" y="2238375"/>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a:solidFill>
                  <a:srgbClr val="667792"/>
                </a:solidFill>
                <a:latin typeface="Arial"/>
                <a:ea typeface="Arial"/>
                <a:cs typeface="Arial"/>
              </a:defRPr>
            </a:pPr>
            <a:r>
              <a:rPr sz="1125">
                <a:solidFill>
                  <a:srgbClr val="667792"/>
                </a:solidFill>
                <a:latin typeface="Arial"/>
                <a:ea typeface="Arial"/>
                <a:cs typeface="Arial"/>
              </a:rPr>
              <a:t>The record exists, but the assessment has not started or still needs key inputs.</a:t>
            </a:r>
          </a:p>
        </p:txBody>
      </p:sp>
      <p:sp>
        <p:nvSpPr>
          <p:cNvPr id="10" name="">
            <a:extLst xmlns:a="http://schemas.openxmlformats.org/drawingml/2006/main">
              <a:ext uri="{FF2B5EF4-FFF2-40B4-BE49-F238E27FC236}">
                <a16:creationId xmlns:a16="http://schemas.microsoft.com/office/drawing/2014/main" id="{E95B4F6A-C495-4287-9484-07B0DAE157FB}"/>
              </a:ext>
            </a:extLst>
          </p:cNvPr>
          <p:cNvSpPr>
            <a:spLocks xmlns:a="http://schemas.openxmlformats.org/drawingml/2006/main" noGrp="1"/>
          </p:cNvSpPr>
          <p:nvPr/>
        </p:nvSpPr>
        <p:spPr>
          <a:xfrm xmlns:a="http://schemas.openxmlformats.org/drawingml/2006/main">
            <a:off x="666750" y="2857500"/>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296"/>
          </a:bodyPr>
          <a:lstStyle xmlns:a="http://schemas.openxmlformats.org/drawingml/2006/main"/>
          <a:p xmlns:a="http://schemas.openxmlformats.org/drawingml/2006/main">
            <a:pPr>
              <a:defRPr sz="1350" b="1">
                <a:solidFill>
                  <a:srgbClr val="4E69B2"/>
                </a:solidFill>
                <a:latin typeface="Arial"/>
                <a:ea typeface="Arial"/>
                <a:cs typeface="Arial"/>
              </a:defRPr>
            </a:pPr>
            <a:r>
              <a:rPr sz="1350" b="1">
                <a:solidFill>
                  <a:srgbClr val="4E69B2"/>
                </a:solidFill>
                <a:latin typeface="Arial"/>
                <a:ea typeface="Arial"/>
                <a:cs typeface="Arial"/>
              </a:rPr>
              <a:t>In progress</a:t>
            </a:r>
          </a:p>
        </p:txBody>
      </p:sp>
      <p:sp>
        <p:nvSpPr>
          <p:cNvPr id="11" name="">
            <a:extLst xmlns:a="http://schemas.openxmlformats.org/drawingml/2006/main">
              <a:ext uri="{FF2B5EF4-FFF2-40B4-BE49-F238E27FC236}">
                <a16:creationId xmlns:a16="http://schemas.microsoft.com/office/drawing/2014/main" id="{5EDD7359-0890-403F-8FA8-F02BA91B35BC}"/>
              </a:ext>
            </a:extLst>
          </p:cNvPr>
          <p:cNvSpPr>
            <a:spLocks xmlns:a="http://schemas.openxmlformats.org/drawingml/2006/main" noGrp="1"/>
          </p:cNvSpPr>
          <p:nvPr/>
        </p:nvSpPr>
        <p:spPr>
          <a:xfrm xmlns:a="http://schemas.openxmlformats.org/drawingml/2006/main">
            <a:off x="666750" y="31432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a:solidFill>
                  <a:srgbClr val="667792"/>
                </a:solidFill>
                <a:latin typeface="Arial"/>
                <a:ea typeface="Arial"/>
                <a:cs typeface="Arial"/>
              </a:defRPr>
            </a:pPr>
            <a:r>
              <a:rPr sz="1125">
                <a:solidFill>
                  <a:srgbClr val="667792"/>
                </a:solidFill>
                <a:latin typeface="Arial"/>
                <a:ea typeface="Arial"/>
                <a:cs typeface="Arial"/>
              </a:rPr>
              <a:t>The commercial owner has started the assessment and is still working on it.</a:t>
            </a:r>
          </a:p>
        </p:txBody>
      </p:sp>
      <p:sp>
        <p:nvSpPr>
          <p:cNvPr id="12" name="">
            <a:extLst xmlns:a="http://schemas.openxmlformats.org/drawingml/2006/main">
              <a:ext uri="{FF2B5EF4-FFF2-40B4-BE49-F238E27FC236}">
                <a16:creationId xmlns:a16="http://schemas.microsoft.com/office/drawing/2014/main" id="{9927201E-E22C-4FCB-916E-A65130A6EC0C}"/>
              </a:ext>
            </a:extLst>
          </p:cNvPr>
          <p:cNvSpPr>
            <a:spLocks xmlns:a="http://schemas.openxmlformats.org/drawingml/2006/main" noGrp="1"/>
          </p:cNvSpPr>
          <p:nvPr/>
        </p:nvSpPr>
        <p:spPr>
          <a:xfrm xmlns:a="http://schemas.openxmlformats.org/drawingml/2006/main">
            <a:off x="666750" y="376237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296"/>
          </a:bodyPr>
          <a:lstStyle xmlns:a="http://schemas.openxmlformats.org/drawingml/2006/main"/>
          <a:p xmlns:a="http://schemas.openxmlformats.org/drawingml/2006/main">
            <a:pPr>
              <a:defRPr sz="1350" b="1">
                <a:solidFill>
                  <a:srgbClr val="158B70"/>
                </a:solidFill>
                <a:latin typeface="Arial"/>
                <a:ea typeface="Arial"/>
                <a:cs typeface="Arial"/>
              </a:defRPr>
            </a:pPr>
            <a:r>
              <a:rPr sz="1350" b="1">
                <a:solidFill>
                  <a:srgbClr val="158B70"/>
                </a:solidFill>
                <a:latin typeface="Arial"/>
                <a:ea typeface="Arial"/>
                <a:cs typeface="Arial"/>
              </a:rPr>
              <a:t>Ready for review</a:t>
            </a:r>
          </a:p>
        </p:txBody>
      </p:sp>
      <p:sp>
        <p:nvSpPr>
          <p:cNvPr id="13" name="">
            <a:extLst xmlns:a="http://schemas.openxmlformats.org/drawingml/2006/main">
              <a:ext uri="{FF2B5EF4-FFF2-40B4-BE49-F238E27FC236}">
                <a16:creationId xmlns:a16="http://schemas.microsoft.com/office/drawing/2014/main" id="{0CAE38C3-512A-4224-A80A-730A7D5A0B8F}"/>
              </a:ext>
            </a:extLst>
          </p:cNvPr>
          <p:cNvSpPr>
            <a:spLocks xmlns:a="http://schemas.openxmlformats.org/drawingml/2006/main" noGrp="1"/>
          </p:cNvSpPr>
          <p:nvPr/>
        </p:nvSpPr>
        <p:spPr>
          <a:xfrm xmlns:a="http://schemas.openxmlformats.org/drawingml/2006/main">
            <a:off x="666750" y="4048125"/>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a:solidFill>
                  <a:srgbClr val="667792"/>
                </a:solidFill>
                <a:latin typeface="Arial"/>
                <a:ea typeface="Arial"/>
                <a:cs typeface="Arial"/>
              </a:defRPr>
            </a:pPr>
            <a:r>
              <a:rPr sz="1125">
                <a:solidFill>
                  <a:srgbClr val="667792"/>
                </a:solidFill>
                <a:latin typeface="Arial"/>
                <a:ea typeface="Arial"/>
                <a:cs typeface="Arial"/>
              </a:rPr>
              <a:t>The inputs are complete and the assessment is waiting for a business review.</a:t>
            </a:r>
          </a:p>
        </p:txBody>
      </p:sp>
      <p:sp>
        <p:nvSpPr>
          <p:cNvPr id="14" name="">
            <a:extLst xmlns:a="http://schemas.openxmlformats.org/drawingml/2006/main">
              <a:ext uri="{FF2B5EF4-FFF2-40B4-BE49-F238E27FC236}">
                <a16:creationId xmlns:a16="http://schemas.microsoft.com/office/drawing/2014/main" id="{5D06EF56-BE3D-4F03-A1ED-FACEF241212A}"/>
              </a:ext>
            </a:extLst>
          </p:cNvPr>
          <p:cNvSpPr>
            <a:spLocks xmlns:a="http://schemas.openxmlformats.org/drawingml/2006/main" noGrp="1"/>
          </p:cNvSpPr>
          <p:nvPr/>
        </p:nvSpPr>
        <p:spPr>
          <a:xfrm xmlns:a="http://schemas.openxmlformats.org/drawingml/2006/main">
            <a:off x="666750" y="4667250"/>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296"/>
          </a:bodyPr>
          <a:lstStyle xmlns:a="http://schemas.openxmlformats.org/drawingml/2006/main"/>
          <a:p xmlns:a="http://schemas.openxmlformats.org/drawingml/2006/main">
            <a:pPr>
              <a:defRPr sz="1350" b="1">
                <a:solidFill>
                  <a:srgbClr val="4E69B2"/>
                </a:solidFill>
                <a:latin typeface="Arial"/>
                <a:ea typeface="Arial"/>
                <a:cs typeface="Arial"/>
              </a:defRPr>
            </a:pPr>
            <a:r>
              <a:rPr sz="1350" b="1">
                <a:solidFill>
                  <a:srgbClr val="4E69B2"/>
                </a:solidFill>
                <a:latin typeface="Arial"/>
                <a:ea typeface="Arial"/>
                <a:cs typeface="Arial"/>
              </a:rPr>
              <a:t>Validated</a:t>
            </a:r>
          </a:p>
        </p:txBody>
      </p:sp>
      <p:sp>
        <p:nvSpPr>
          <p:cNvPr id="15" name="">
            <a:extLst xmlns:a="http://schemas.openxmlformats.org/drawingml/2006/main">
              <a:ext uri="{FF2B5EF4-FFF2-40B4-BE49-F238E27FC236}">
                <a16:creationId xmlns:a16="http://schemas.microsoft.com/office/drawing/2014/main" id="{1C3C2FDA-4A67-4267-8C1C-042937E21AD9}"/>
              </a:ext>
            </a:extLst>
          </p:cNvPr>
          <p:cNvSpPr>
            <a:spLocks xmlns:a="http://schemas.openxmlformats.org/drawingml/2006/main" noGrp="1"/>
          </p:cNvSpPr>
          <p:nvPr/>
        </p:nvSpPr>
        <p:spPr>
          <a:xfrm xmlns:a="http://schemas.openxmlformats.org/drawingml/2006/main">
            <a:off x="666750" y="495300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a:solidFill>
                  <a:srgbClr val="667792"/>
                </a:solidFill>
                <a:latin typeface="Arial"/>
                <a:ea typeface="Arial"/>
                <a:cs typeface="Arial"/>
              </a:defRPr>
            </a:pPr>
            <a:r>
              <a:rPr sz="1125">
                <a:solidFill>
                  <a:srgbClr val="667792"/>
                </a:solidFill>
                <a:latin typeface="Arial"/>
                <a:ea typeface="Arial"/>
                <a:cs typeface="Arial"/>
              </a:rPr>
              <a:t>The reviewer has accepted the assessment as the current agreed view.</a:t>
            </a:r>
          </a:p>
        </p:txBody>
      </p:sp>
      <p:sp>
        <p:nvSpPr>
          <p:cNvPr id="16" name="">
            <a:extLst xmlns:a="http://schemas.openxmlformats.org/drawingml/2006/main">
              <a:ext uri="{FF2B5EF4-FFF2-40B4-BE49-F238E27FC236}">
                <a16:creationId xmlns:a16="http://schemas.microsoft.com/office/drawing/2014/main" id="{87696638-1E01-4A93-A5A3-8FE567B4B130}"/>
              </a:ext>
            </a:extLst>
          </p:cNvPr>
          <p:cNvSpPr>
            <a:spLocks xmlns:a="http://schemas.openxmlformats.org/drawingml/2006/main" noGrp="1"/>
          </p:cNvSpPr>
          <p:nvPr/>
        </p:nvSpPr>
        <p:spPr>
          <a:xfrm xmlns:a="http://schemas.openxmlformats.org/drawingml/2006/main">
            <a:off x="666750" y="57150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defRPr sz="1275" b="1">
                <a:solidFill>
                  <a:srgbClr val="158B70"/>
                </a:solidFill>
                <a:latin typeface="Arial"/>
                <a:ea typeface="Arial"/>
                <a:cs typeface="Arial"/>
              </a:defRPr>
            </a:pPr>
            <a:r>
              <a:rPr sz="1275" b="1">
                <a:solidFill>
                  <a:srgbClr val="158B70"/>
                </a:solidFill>
                <a:latin typeface="Arial"/>
                <a:ea typeface="Arial"/>
                <a:cs typeface="Arial"/>
              </a:rPr>
              <a:t>The user selects the status. It does not change automatically.</a:t>
            </a:r>
          </a:p>
        </p:txBody>
      </p:sp>
      <p:sp>
        <p:nvSpPr>
          <p:cNvPr id="17" name="">
            <a:extLst xmlns:a="http://schemas.openxmlformats.org/drawingml/2006/main">
              <a:ext uri="{FF2B5EF4-FFF2-40B4-BE49-F238E27FC236}">
                <a16:creationId xmlns:a16="http://schemas.microsoft.com/office/drawing/2014/main" id="{4C15CACD-5E36-48EB-AA6C-4B6F88873F49}"/>
              </a:ext>
            </a:extLst>
          </p:cNvPr>
          <p:cNvSpPr>
            <a:spLocks xmlns:a="http://schemas.openxmlformats.org/drawingml/2006/main" noGrp="1"/>
          </p:cNvSpPr>
          <p:nvPr/>
        </p:nvSpPr>
        <p:spPr>
          <a:xfrm xmlns:a="http://schemas.openxmlformats.org/drawingml/2006/main">
            <a:off x="4572000" y="1476375"/>
            <a:ext cx="7000875"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CE3ED"/>
            </a:solid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63ce49298734818"/>
          <a:srcRect xmlns:a="http://schemas.openxmlformats.org/drawingml/2006/main" l="7520" t="0" r="7520" b="0"/>
          <a:stretch xmlns:a="http://schemas.openxmlformats.org/drawingml/2006/main">
            <a:fillRect l="0" t="0" r="0" b="0"/>
          </a:stretch>
        </p:blipFill>
        <p:spPr>
          <a:xfrm xmlns:a="http://schemas.openxmlformats.org/drawingml/2006/main">
            <a:off x="4619625" y="1524000"/>
            <a:ext cx="6905625" cy="4572000"/>
          </a:xfrm>
          <a:prstGeom xmlns:a="http://schemas.openxmlformats.org/drawingml/2006/main" prst="roundRect">
            <a:avLst>
              <a:gd name="adj" fmla="val 2500"/>
            </a:avLst>
          </a:prstGeom>
        </p:spPr>
      </p:pic>
    </p:spTree>
    <p:extLst>
      <p:ext uri="{BB962C8B-B14F-4D97-AF65-F5344CB8AC3E}">
        <p14:creationId xmlns:p14="http://schemas.microsoft.com/office/powerpoint/2010/main" val="8257002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CCD071E-FE04-43DD-ADFE-FC4387AE868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BB9DF1-7A84-4D2E-99B8-C16698BE3BA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506BB4"/>
                </a:solidFill>
                <a:latin typeface="Arial"/>
                <a:ea typeface="Arial"/>
                <a:cs typeface="Arial"/>
              </a:defRPr>
            </a:pPr>
            <a:r>
              <a:rPr sz="1125" b="1">
                <a:solidFill>
                  <a:srgbClr val="506BB4"/>
                </a:solidFill>
                <a:latin typeface="Arial"/>
                <a:ea typeface="Arial"/>
                <a:cs typeface="Arial"/>
              </a:rPr>
              <a:t>METHOD</a:t>
            </a:r>
          </a:p>
        </p:txBody>
      </p:sp>
      <p:sp>
        <p:nvSpPr>
          <p:cNvPr id="3" name="">
            <a:extLst xmlns:a="http://schemas.openxmlformats.org/drawingml/2006/main">
              <a:ext uri="{FF2B5EF4-FFF2-40B4-BE49-F238E27FC236}">
                <a16:creationId xmlns:a16="http://schemas.microsoft.com/office/drawing/2014/main" id="{C0AF409B-02A3-407D-8B9F-57D737E7CEA6}"/>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541"/>
                </a:solidFill>
                <a:latin typeface="Arial"/>
                <a:ea typeface="Arial"/>
                <a:cs typeface="Arial"/>
              </a:defRPr>
            </a:pPr>
            <a:r>
              <a:rPr sz="3300" b="1">
                <a:solidFill>
                  <a:srgbClr val="182541"/>
                </a:solidFill>
                <a:latin typeface="Arial"/>
                <a:ea typeface="Arial"/>
                <a:cs typeface="Arial"/>
              </a:rPr>
              <a:t>Transparent scoring framework</a:t>
            </a:r>
          </a:p>
        </p:txBody>
      </p:sp>
      <p:sp>
        <p:nvSpPr>
          <p:cNvPr id="4" name="">
            <a:extLst xmlns:a="http://schemas.openxmlformats.org/drawingml/2006/main">
              <a:ext uri="{FF2B5EF4-FFF2-40B4-BE49-F238E27FC236}">
                <a16:creationId xmlns:a16="http://schemas.microsoft.com/office/drawing/2014/main" id="{8FC6A65F-B38D-4DB5-8322-74BFD6840692}"/>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6B3F0C-530C-4127-97B8-AD29C7752D4E}"/>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4748B"/>
                </a:solidFill>
                <a:latin typeface="Arial"/>
                <a:ea typeface="Arial"/>
                <a:cs typeface="Arial"/>
              </a:defRPr>
            </a:pPr>
            <a:r>
              <a:rPr sz="1050" b="0">
                <a:solidFill>
                  <a:srgbClr val="64748B"/>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85D51926-9889-4BC4-BAAB-AA0E4B61C828}"/>
              </a:ext>
            </a:extLst>
          </p:cNvPr>
          <p:cNvSpPr>
            <a:spLocks xmlns:a="http://schemas.openxmlformats.org/drawingml/2006/main" noGrp="1"/>
          </p:cNvSpPr>
          <p:nvPr/>
        </p:nvSpPr>
        <p:spPr>
          <a:xfrm xmlns:a="http://schemas.openxmlformats.org/drawingml/2006/main">
            <a:off x="561975" y="1381125"/>
            <a:ext cx="69532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9f32e5b80ea4b9d"/>
          <a:stretch xmlns:a="http://schemas.openxmlformats.org/drawingml/2006/main"/>
        </p:blipFill>
        <p:spPr>
          <a:xfrm xmlns:a="http://schemas.openxmlformats.org/drawingml/2006/main">
            <a:off x="609600" y="1774031"/>
            <a:ext cx="6858000" cy="4071938"/>
          </a:xfrm>
          <a:prstGeom xmlns:a="http://schemas.openxmlformats.org/drawingml/2006/main" prst="roundRect">
            <a:avLst>
              <a:gd name="adj" fmla="val 2400"/>
            </a:avLst>
          </a:prstGeom>
        </p:spPr>
      </p:pic>
      <p:sp>
        <p:nvSpPr>
          <p:cNvPr id="8" name="">
            <a:extLst xmlns:a="http://schemas.openxmlformats.org/drawingml/2006/main">
              <a:ext uri="{FF2B5EF4-FFF2-40B4-BE49-F238E27FC236}">
                <a16:creationId xmlns:a16="http://schemas.microsoft.com/office/drawing/2014/main" id="{EAAFEE5A-4393-49CA-ABE7-325C481E58A0}"/>
              </a:ext>
            </a:extLst>
          </p:cNvPr>
          <p:cNvSpPr>
            <a:spLocks xmlns:a="http://schemas.openxmlformats.org/drawingml/2006/main" noGrp="1"/>
          </p:cNvSpPr>
          <p:nvPr/>
        </p:nvSpPr>
        <p:spPr>
          <a:xfrm xmlns:a="http://schemas.openxmlformats.org/drawingml/2006/main">
            <a:off x="7953375" y="160020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2C4694"/>
                </a:solidFill>
                <a:latin typeface="Arial"/>
                <a:ea typeface="Arial"/>
                <a:cs typeface="Arial"/>
              </a:defRPr>
            </a:pPr>
            <a:r>
              <a:rPr sz="4050" b="1">
                <a:solidFill>
                  <a:srgbClr val="2C4694"/>
                </a:solidFill>
                <a:latin typeface="Arial"/>
                <a:ea typeface="Arial"/>
                <a:cs typeface="Arial"/>
              </a:rPr>
              <a:t>27</a:t>
            </a:r>
          </a:p>
        </p:txBody>
      </p:sp>
      <p:sp>
        <p:nvSpPr>
          <p:cNvPr id="9" name="">
            <a:extLst xmlns:a="http://schemas.openxmlformats.org/drawingml/2006/main">
              <a:ext uri="{FF2B5EF4-FFF2-40B4-BE49-F238E27FC236}">
                <a16:creationId xmlns:a16="http://schemas.microsoft.com/office/drawing/2014/main" id="{D38CBFF6-E29E-4F68-B793-BA164E4A9DF8}"/>
              </a:ext>
            </a:extLst>
          </p:cNvPr>
          <p:cNvSpPr>
            <a:spLocks xmlns:a="http://schemas.openxmlformats.org/drawingml/2006/main" noGrp="1"/>
          </p:cNvSpPr>
          <p:nvPr/>
        </p:nvSpPr>
        <p:spPr>
          <a:xfrm xmlns:a="http://schemas.openxmlformats.org/drawingml/2006/main">
            <a:off x="7953375" y="2171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64748B"/>
                </a:solidFill>
                <a:latin typeface="Arial"/>
                <a:ea typeface="Arial"/>
                <a:cs typeface="Arial"/>
              </a:defRPr>
            </a:pPr>
            <a:r>
              <a:rPr sz="1650" b="0">
                <a:solidFill>
                  <a:srgbClr val="64748B"/>
                </a:solidFill>
                <a:latin typeface="Arial"/>
                <a:ea typeface="Arial"/>
                <a:cs typeface="Arial"/>
              </a:rPr>
              <a:t>criteria in total</a:t>
            </a:r>
          </a:p>
        </p:txBody>
      </p:sp>
      <p:sp>
        <p:nvSpPr>
          <p:cNvPr id="10" name="">
            <a:extLst xmlns:a="http://schemas.openxmlformats.org/drawingml/2006/main">
              <a:ext uri="{FF2B5EF4-FFF2-40B4-BE49-F238E27FC236}">
                <a16:creationId xmlns:a16="http://schemas.microsoft.com/office/drawing/2014/main" id="{4329C70D-FD30-45E7-AFE7-D775DDAF9267}"/>
              </a:ext>
            </a:extLst>
          </p:cNvPr>
          <p:cNvSpPr>
            <a:spLocks xmlns:a="http://schemas.openxmlformats.org/drawingml/2006/main" noGrp="1"/>
          </p:cNvSpPr>
          <p:nvPr/>
        </p:nvSpPr>
        <p:spPr>
          <a:xfrm xmlns:a="http://schemas.openxmlformats.org/drawingml/2006/main">
            <a:off x="7953375" y="28575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82541"/>
                </a:solidFill>
                <a:latin typeface="Arial"/>
                <a:ea typeface="Arial"/>
                <a:cs typeface="Arial"/>
              </a:defRPr>
            </a:pPr>
            <a:r>
              <a:rPr sz="1950" b="1">
                <a:solidFill>
                  <a:srgbClr val="182541"/>
                </a:solidFill>
                <a:latin typeface="Arial"/>
                <a:ea typeface="Arial"/>
                <a:cs typeface="Arial"/>
              </a:rPr>
              <a:t>7 descriptive criteria</a:t>
            </a:r>
          </a:p>
        </p:txBody>
      </p:sp>
      <p:sp>
        <p:nvSpPr>
          <p:cNvPr id="11" name="">
            <a:extLst xmlns:a="http://schemas.openxmlformats.org/drawingml/2006/main">
              <a:ext uri="{FF2B5EF4-FFF2-40B4-BE49-F238E27FC236}">
                <a16:creationId xmlns:a16="http://schemas.microsoft.com/office/drawing/2014/main" id="{F7141B75-3E4E-4D89-9AC3-4816D132A7B4}"/>
              </a:ext>
            </a:extLst>
          </p:cNvPr>
          <p:cNvSpPr>
            <a:spLocks xmlns:a="http://schemas.openxmlformats.org/drawingml/2006/main" noGrp="1"/>
          </p:cNvSpPr>
          <p:nvPr/>
        </p:nvSpPr>
        <p:spPr>
          <a:xfrm xmlns:a="http://schemas.openxmlformats.org/drawingml/2006/main">
            <a:off x="7953375" y="32575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4748B"/>
                </a:solidFill>
                <a:latin typeface="Arial"/>
                <a:ea typeface="Arial"/>
                <a:cs typeface="Arial"/>
              </a:defRPr>
            </a:pPr>
            <a:r>
              <a:rPr sz="1575" b="0">
                <a:solidFill>
                  <a:srgbClr val="64748B"/>
                </a:solidFill>
                <a:latin typeface="Arial"/>
                <a:ea typeface="Arial"/>
                <a:cs typeface="Arial"/>
              </a:rPr>
              <a:t>Scores from 1 to 4</a:t>
            </a:r>
          </a:p>
        </p:txBody>
      </p:sp>
      <p:sp>
        <p:nvSpPr>
          <p:cNvPr id="12" name="">
            <a:extLst xmlns:a="http://schemas.openxmlformats.org/drawingml/2006/main">
              <a:ext uri="{FF2B5EF4-FFF2-40B4-BE49-F238E27FC236}">
                <a16:creationId xmlns:a16="http://schemas.microsoft.com/office/drawing/2014/main" id="{C01ADCD1-625B-448C-9C97-88F461C98FCA}"/>
              </a:ext>
            </a:extLst>
          </p:cNvPr>
          <p:cNvSpPr>
            <a:spLocks xmlns:a="http://schemas.openxmlformats.org/drawingml/2006/main" noGrp="1"/>
          </p:cNvSpPr>
          <p:nvPr/>
        </p:nvSpPr>
        <p:spPr>
          <a:xfrm xmlns:a="http://schemas.openxmlformats.org/drawingml/2006/main">
            <a:off x="7953375" y="39433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82541"/>
                </a:solidFill>
                <a:latin typeface="Arial"/>
                <a:ea typeface="Arial"/>
                <a:cs typeface="Arial"/>
              </a:defRPr>
            </a:pPr>
            <a:r>
              <a:rPr sz="1950" b="1">
                <a:solidFill>
                  <a:srgbClr val="182541"/>
                </a:solidFill>
                <a:latin typeface="Arial"/>
                <a:ea typeface="Arial"/>
                <a:cs typeface="Arial"/>
              </a:rPr>
              <a:t>20 strategic criteria</a:t>
            </a:r>
          </a:p>
        </p:txBody>
      </p:sp>
      <p:sp>
        <p:nvSpPr>
          <p:cNvPr id="13" name="">
            <a:extLst xmlns:a="http://schemas.openxmlformats.org/drawingml/2006/main">
              <a:ext uri="{FF2B5EF4-FFF2-40B4-BE49-F238E27FC236}">
                <a16:creationId xmlns:a16="http://schemas.microsoft.com/office/drawing/2014/main" id="{32A08427-3B0F-45FB-B5B4-7E2C499B6DD0}"/>
              </a:ext>
            </a:extLst>
          </p:cNvPr>
          <p:cNvSpPr>
            <a:spLocks xmlns:a="http://schemas.openxmlformats.org/drawingml/2006/main" noGrp="1"/>
          </p:cNvSpPr>
          <p:nvPr/>
        </p:nvSpPr>
        <p:spPr>
          <a:xfrm xmlns:a="http://schemas.openxmlformats.org/drawingml/2006/main">
            <a:off x="7953375" y="43434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4748B"/>
                </a:solidFill>
                <a:latin typeface="Arial"/>
                <a:ea typeface="Arial"/>
                <a:cs typeface="Arial"/>
              </a:defRPr>
            </a:pPr>
            <a:r>
              <a:rPr sz="1575" b="0">
                <a:solidFill>
                  <a:srgbClr val="64748B"/>
                </a:solidFill>
                <a:latin typeface="Arial"/>
                <a:ea typeface="Arial"/>
                <a:cs typeface="Arial"/>
              </a:rPr>
              <a:t>Scores from -2 to +2</a:t>
            </a:r>
          </a:p>
        </p:txBody>
      </p:sp>
      <p:sp>
        <p:nvSpPr>
          <p:cNvPr id="14" name="">
            <a:extLst xmlns:a="http://schemas.openxmlformats.org/drawingml/2006/main">
              <a:ext uri="{FF2B5EF4-FFF2-40B4-BE49-F238E27FC236}">
                <a16:creationId xmlns:a16="http://schemas.microsoft.com/office/drawing/2014/main" id="{2A554E7E-CAD3-4C8E-902D-C8D35B8BEEA4}"/>
              </a:ext>
            </a:extLst>
          </p:cNvPr>
          <p:cNvSpPr>
            <a:spLocks xmlns:a="http://schemas.openxmlformats.org/drawingml/2006/main" noGrp="1"/>
          </p:cNvSpPr>
          <p:nvPr/>
        </p:nvSpPr>
        <p:spPr>
          <a:xfrm xmlns:a="http://schemas.openxmlformats.org/drawingml/2006/main">
            <a:off x="7953375" y="5095875"/>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6856A"/>
                </a:solidFill>
                <a:latin typeface="Arial"/>
                <a:ea typeface="Arial"/>
                <a:cs typeface="Arial"/>
              </a:defRPr>
            </a:pPr>
            <a:r>
              <a:rPr sz="1575" b="1">
                <a:solidFill>
                  <a:srgbClr val="16856A"/>
                </a:solidFill>
                <a:latin typeface="Arial"/>
                <a:ea typeface="Arial"/>
                <a:cs typeface="Arial"/>
              </a:rPr>
              <a:t>Missing answers stay blank and do not change the average.</a:t>
            </a:r>
          </a:p>
        </p:txBody>
      </p:sp>
    </p:spTree>
    <p:extLst>
      <p:ext uri="{BB962C8B-B14F-4D97-AF65-F5344CB8AC3E}">
        <p14:creationId xmlns:p14="http://schemas.microsoft.com/office/powerpoint/2010/main" val="11109024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D4294CD-60B3-4E12-B48D-7C2EBDD103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AFEDAB-8115-404A-A3E8-25EC30BA388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E69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D2E34D-582F-4358-8757-6A614DAE189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a:solidFill>
                  <a:srgbClr val="4E69B2"/>
                </a:solidFill>
                <a:latin typeface="Arial"/>
                <a:ea typeface="Arial"/>
                <a:cs typeface="Arial"/>
              </a:defRPr>
            </a:pPr>
            <a:r>
              <a:rPr sz="1200" b="1">
                <a:solidFill>
                  <a:srgbClr val="4E69B2"/>
                </a:solidFill>
                <a:latin typeface="Arial"/>
                <a:ea typeface="Arial"/>
                <a:cs typeface="Arial"/>
              </a:rPr>
              <a:t>METHOD</a:t>
            </a:r>
          </a:p>
        </p:txBody>
      </p:sp>
      <p:sp>
        <p:nvSpPr>
          <p:cNvPr id="4" name="">
            <a:extLst xmlns:a="http://schemas.openxmlformats.org/drawingml/2006/main">
              <a:ext uri="{FF2B5EF4-FFF2-40B4-BE49-F238E27FC236}">
                <a16:creationId xmlns:a16="http://schemas.microsoft.com/office/drawing/2014/main" id="{1210FEC6-4E48-43EE-8072-612FB4EB4D69}"/>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54"/>
          </a:bodyPr>
          <a:lstStyle xmlns:a="http://schemas.openxmlformats.org/drawingml/2006/main"/>
          <a:p xmlns:a="http://schemas.openxmlformats.org/drawingml/2006/main">
            <a:pPr>
              <a:defRPr sz="3300" b="1">
                <a:solidFill>
                  <a:srgbClr val="172642"/>
                </a:solidFill>
                <a:latin typeface="Arial"/>
                <a:ea typeface="Arial"/>
                <a:cs typeface="Arial"/>
              </a:defRPr>
            </a:pPr>
            <a:r>
              <a:rPr sz="3300" b="1">
                <a:solidFill>
                  <a:srgbClr val="172642"/>
                </a:solidFill>
                <a:latin typeface="Arial"/>
                <a:ea typeface="Arial"/>
                <a:cs typeface="Arial"/>
              </a:rPr>
              <a:t>Editable scoring settings</a:t>
            </a:r>
          </a:p>
        </p:txBody>
      </p:sp>
      <p:sp>
        <p:nvSpPr>
          <p:cNvPr id="5" name="">
            <a:extLst xmlns:a="http://schemas.openxmlformats.org/drawingml/2006/main">
              <a:ext uri="{FF2B5EF4-FFF2-40B4-BE49-F238E27FC236}">
                <a16:creationId xmlns:a16="http://schemas.microsoft.com/office/drawing/2014/main" id="{78FD526F-A960-48B0-A891-521D66C0E223}"/>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CE3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0AD425C-D1A6-4955-BEA0-7308E2916E19}"/>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a:solidFill>
                  <a:srgbClr val="667792"/>
                </a:solidFill>
                <a:latin typeface="Arial"/>
                <a:ea typeface="Arial"/>
                <a:cs typeface="Arial"/>
              </a:defRPr>
            </a:pPr>
            <a:r>
              <a:rPr sz="900">
                <a:solidFill>
                  <a:srgbClr val="667792"/>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74BBB816-CEB5-4DAF-ADD9-AEEF6F9C5988}"/>
              </a:ext>
            </a:extLst>
          </p:cNvPr>
          <p:cNvSpPr>
            <a:spLocks xmlns:a="http://schemas.openxmlformats.org/drawingml/2006/main" noGrp="1"/>
          </p:cNvSpPr>
          <p:nvPr/>
        </p:nvSpPr>
        <p:spPr>
          <a:xfrm xmlns:a="http://schemas.openxmlformats.org/drawingml/2006/main">
            <a:off x="561975" y="1524000"/>
            <a:ext cx="7143750" cy="4057650"/>
          </a:xfrm>
          <a:prstGeom xmlns:a="http://schemas.openxmlformats.org/drawingml/2006/main" prst="roundRect">
            <a:avLst>
              <a:gd name="adj" fmla="val 1878"/>
            </a:avLst>
          </a:prstGeom>
          <a:solidFill xmlns:a="http://schemas.openxmlformats.org/drawingml/2006/main">
            <a:srgbClr val="FFFFFF"/>
          </a:solidFill>
          <a:ln xmlns:a="http://schemas.openxmlformats.org/drawingml/2006/main" w="9525">
            <a:solidFill>
              <a:srgbClr val="DCE3ED"/>
            </a:solid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055eeb8cd894797"/>
          <a:srcRect xmlns:a="http://schemas.openxmlformats.org/drawingml/2006/main" l="0" t="30" r="0" b="30"/>
          <a:stretch xmlns:a="http://schemas.openxmlformats.org/drawingml/2006/main">
            <a:fillRect l="0" t="0" r="0" b="0"/>
          </a:stretch>
        </p:blipFill>
        <p:spPr>
          <a:xfrm xmlns:a="http://schemas.openxmlformats.org/drawingml/2006/main">
            <a:off x="609600" y="1571625"/>
            <a:ext cx="7048500" cy="3962400"/>
          </a:xfrm>
          <a:prstGeom xmlns:a="http://schemas.openxmlformats.org/drawingml/2006/main" prst="roundRect">
            <a:avLst>
              <a:gd name="adj" fmla="val 2885"/>
            </a:avLst>
          </a:prstGeom>
        </p:spPr>
      </p:pic>
      <p:sp>
        <p:nvSpPr>
          <p:cNvPr id="9" name="">
            <a:extLst xmlns:a="http://schemas.openxmlformats.org/drawingml/2006/main">
              <a:ext uri="{FF2B5EF4-FFF2-40B4-BE49-F238E27FC236}">
                <a16:creationId xmlns:a16="http://schemas.microsoft.com/office/drawing/2014/main" id="{F91D86DE-C328-4937-9E0E-E5E90FDFBFF1}"/>
              </a:ext>
            </a:extLst>
          </p:cNvPr>
          <p:cNvSpPr>
            <a:spLocks xmlns:a="http://schemas.openxmlformats.org/drawingml/2006/main" noGrp="1"/>
          </p:cNvSpPr>
          <p:nvPr/>
        </p:nvSpPr>
        <p:spPr>
          <a:xfrm xmlns:a="http://schemas.openxmlformats.org/drawingml/2006/main">
            <a:off x="8096250" y="15240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524"/>
          </a:bodyPr>
          <a:lstStyle xmlns:a="http://schemas.openxmlformats.org/drawingml/2006/main"/>
          <a:p xmlns:a="http://schemas.openxmlformats.org/drawingml/2006/main">
            <a:pPr>
              <a:defRPr sz="2100" b="1">
                <a:solidFill>
                  <a:srgbClr val="172642"/>
                </a:solidFill>
                <a:latin typeface="Arial"/>
                <a:ea typeface="Arial"/>
                <a:cs typeface="Arial"/>
              </a:defRPr>
            </a:pPr>
            <a:r>
              <a:rPr sz="2100" b="1">
                <a:solidFill>
                  <a:srgbClr val="172642"/>
                </a:solidFill>
                <a:latin typeface="Arial"/>
                <a:ea typeface="Arial"/>
                <a:cs typeface="Arial"/>
              </a:rPr>
              <a:t>Weights</a:t>
            </a:r>
          </a:p>
        </p:txBody>
      </p:sp>
      <p:sp>
        <p:nvSpPr>
          <p:cNvPr id="10" name="">
            <a:extLst xmlns:a="http://schemas.openxmlformats.org/drawingml/2006/main">
              <a:ext uri="{FF2B5EF4-FFF2-40B4-BE49-F238E27FC236}">
                <a16:creationId xmlns:a16="http://schemas.microsoft.com/office/drawing/2014/main" id="{4885A7B3-C127-4E71-B4A4-C6929A2C1E41}"/>
              </a:ext>
            </a:extLst>
          </p:cNvPr>
          <p:cNvSpPr>
            <a:spLocks xmlns:a="http://schemas.openxmlformats.org/drawingml/2006/main" noGrp="1"/>
          </p:cNvSpPr>
          <p:nvPr/>
        </p:nvSpPr>
        <p:spPr>
          <a:xfrm xmlns:a="http://schemas.openxmlformats.org/drawingml/2006/main">
            <a:off x="8096250" y="195262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a:solidFill>
                  <a:srgbClr val="667792"/>
                </a:solidFill>
                <a:latin typeface="Arial"/>
                <a:ea typeface="Arial"/>
                <a:cs typeface="Arial"/>
              </a:defRPr>
            </a:pPr>
            <a:r>
              <a:rPr sz="1275">
                <a:solidFill>
                  <a:srgbClr val="667792"/>
                </a:solidFill>
                <a:latin typeface="Arial"/>
                <a:ea typeface="Arial"/>
                <a:cs typeface="Arial"/>
              </a:rPr>
              <a:t>A weight of 1 gives every criterion the same importance. Weights apply only when Weighted scoring is enabled.</a:t>
            </a:r>
          </a:p>
        </p:txBody>
      </p:sp>
      <p:sp>
        <p:nvSpPr>
          <p:cNvPr id="11" name="">
            <a:extLst xmlns:a="http://schemas.openxmlformats.org/drawingml/2006/main">
              <a:ext uri="{FF2B5EF4-FFF2-40B4-BE49-F238E27FC236}">
                <a16:creationId xmlns:a16="http://schemas.microsoft.com/office/drawing/2014/main" id="{4BD6C01F-A32A-43D2-9556-17E65ABCE72D}"/>
              </a:ext>
            </a:extLst>
          </p:cNvPr>
          <p:cNvSpPr>
            <a:spLocks xmlns:a="http://schemas.openxmlformats.org/drawingml/2006/main" noGrp="1"/>
          </p:cNvSpPr>
          <p:nvPr/>
        </p:nvSpPr>
        <p:spPr>
          <a:xfrm xmlns:a="http://schemas.openxmlformats.org/drawingml/2006/main">
            <a:off x="8096250" y="30670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026"/>
          </a:bodyPr>
          <a:lstStyle xmlns:a="http://schemas.openxmlformats.org/drawingml/2006/main"/>
          <a:p xmlns:a="http://schemas.openxmlformats.org/drawingml/2006/main">
            <a:pPr>
              <a:defRPr sz="1950" b="1">
                <a:solidFill>
                  <a:srgbClr val="172642"/>
                </a:solidFill>
                <a:latin typeface="Arial"/>
                <a:ea typeface="Arial"/>
                <a:cs typeface="Arial"/>
              </a:defRPr>
            </a:pPr>
            <a:r>
              <a:rPr sz="1950" b="1">
                <a:solidFill>
                  <a:srgbClr val="172642"/>
                </a:solidFill>
                <a:latin typeface="Arial"/>
                <a:ea typeface="Arial"/>
                <a:cs typeface="Arial"/>
              </a:rPr>
              <a:t>Descriptive thresholds</a:t>
            </a:r>
          </a:p>
        </p:txBody>
      </p:sp>
      <p:sp>
        <p:nvSpPr>
          <p:cNvPr id="12" name="">
            <a:extLst xmlns:a="http://schemas.openxmlformats.org/drawingml/2006/main">
              <a:ext uri="{FF2B5EF4-FFF2-40B4-BE49-F238E27FC236}">
                <a16:creationId xmlns:a16="http://schemas.microsoft.com/office/drawing/2014/main" id="{E457CA8E-B548-4476-8C9D-04F7BDE5CA5D}"/>
              </a:ext>
            </a:extLst>
          </p:cNvPr>
          <p:cNvSpPr>
            <a:spLocks xmlns:a="http://schemas.openxmlformats.org/drawingml/2006/main" noGrp="1"/>
          </p:cNvSpPr>
          <p:nvPr/>
        </p:nvSpPr>
        <p:spPr>
          <a:xfrm xmlns:a="http://schemas.openxmlformats.org/drawingml/2006/main">
            <a:off x="8096250" y="3476625"/>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a:solidFill>
                  <a:srgbClr val="667792"/>
                </a:solidFill>
                <a:latin typeface="Arial"/>
                <a:ea typeface="Arial"/>
                <a:cs typeface="Arial"/>
              </a:defRPr>
            </a:pPr>
            <a:r>
              <a:rPr sz="1275">
                <a:solidFill>
                  <a:srgbClr val="667792"/>
                </a:solidFill>
                <a:latin typeface="Arial"/>
                <a:ea typeface="Arial"/>
                <a:cs typeface="Arial"/>
              </a:rPr>
              <a:t>Developing from also controls the upper limit of Low. Attractive and Leading have their own editable boundaries.</a:t>
            </a:r>
          </a:p>
        </p:txBody>
      </p:sp>
      <p:sp>
        <p:nvSpPr>
          <p:cNvPr id="13" name="">
            <a:extLst xmlns:a="http://schemas.openxmlformats.org/drawingml/2006/main">
              <a:ext uri="{FF2B5EF4-FFF2-40B4-BE49-F238E27FC236}">
                <a16:creationId xmlns:a16="http://schemas.microsoft.com/office/drawing/2014/main" id="{A5EAF56C-CE48-4C6E-A76D-994ACE361CAE}"/>
              </a:ext>
            </a:extLst>
          </p:cNvPr>
          <p:cNvSpPr>
            <a:spLocks xmlns:a="http://schemas.openxmlformats.org/drawingml/2006/main" noGrp="1"/>
          </p:cNvSpPr>
          <p:nvPr/>
        </p:nvSpPr>
        <p:spPr>
          <a:xfrm xmlns:a="http://schemas.openxmlformats.org/drawingml/2006/main">
            <a:off x="8096250" y="45720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026"/>
          </a:bodyPr>
          <a:lstStyle xmlns:a="http://schemas.openxmlformats.org/drawingml/2006/main"/>
          <a:p xmlns:a="http://schemas.openxmlformats.org/drawingml/2006/main">
            <a:pPr>
              <a:defRPr sz="1950" b="1">
                <a:solidFill>
                  <a:srgbClr val="172642"/>
                </a:solidFill>
                <a:latin typeface="Arial"/>
                <a:ea typeface="Arial"/>
                <a:cs typeface="Arial"/>
              </a:defRPr>
            </a:pPr>
            <a:r>
              <a:rPr sz="1950" b="1">
                <a:solidFill>
                  <a:srgbClr val="172642"/>
                </a:solidFill>
                <a:latin typeface="Arial"/>
                <a:ea typeface="Arial"/>
                <a:cs typeface="Arial"/>
              </a:rPr>
              <a:t>Strategic thresholds</a:t>
            </a:r>
          </a:p>
        </p:txBody>
      </p:sp>
      <p:sp>
        <p:nvSpPr>
          <p:cNvPr id="14" name="">
            <a:extLst xmlns:a="http://schemas.openxmlformats.org/drawingml/2006/main">
              <a:ext uri="{FF2B5EF4-FFF2-40B4-BE49-F238E27FC236}">
                <a16:creationId xmlns:a16="http://schemas.microsoft.com/office/drawing/2014/main" id="{6AED6A30-289B-4255-9F4A-C407FA5E6EB1}"/>
              </a:ext>
            </a:extLst>
          </p:cNvPr>
          <p:cNvSpPr>
            <a:spLocks xmlns:a="http://schemas.openxmlformats.org/drawingml/2006/main" noGrp="1"/>
          </p:cNvSpPr>
          <p:nvPr/>
        </p:nvSpPr>
        <p:spPr>
          <a:xfrm xmlns:a="http://schemas.openxmlformats.org/drawingml/2006/main">
            <a:off x="8096250" y="4981575"/>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a:solidFill>
                  <a:srgbClr val="667792"/>
                </a:solidFill>
                <a:latin typeface="Arial"/>
                <a:ea typeface="Arial"/>
                <a:cs typeface="Arial"/>
              </a:defRPr>
            </a:pPr>
            <a:r>
              <a:rPr sz="1275">
                <a:solidFill>
                  <a:srgbClr val="667792"/>
                </a:solidFill>
                <a:latin typeface="Arial"/>
                <a:ea typeface="Arial"/>
                <a:cs typeface="Arial"/>
              </a:rPr>
              <a:t>Reject, Investigate, Opportunity, and Priority boundaries can all be changed and saved.</a:t>
            </a:r>
          </a:p>
        </p:txBody>
      </p:sp>
      <p:sp>
        <p:nvSpPr>
          <p:cNvPr id="15" name="">
            <a:extLst xmlns:a="http://schemas.openxmlformats.org/drawingml/2006/main">
              <a:ext uri="{FF2B5EF4-FFF2-40B4-BE49-F238E27FC236}">
                <a16:creationId xmlns:a16="http://schemas.microsoft.com/office/drawing/2014/main" id="{25D73452-E53D-42E2-8B0B-606D44C7EDC5}"/>
              </a:ext>
            </a:extLst>
          </p:cNvPr>
          <p:cNvSpPr>
            <a:spLocks xmlns:a="http://schemas.openxmlformats.org/drawingml/2006/main" noGrp="1"/>
          </p:cNvSpPr>
          <p:nvPr/>
        </p:nvSpPr>
        <p:spPr>
          <a:xfrm xmlns:a="http://schemas.openxmlformats.org/drawingml/2006/main">
            <a:off x="8096250" y="59055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742"/>
          </a:bodyPr>
          <a:lstStyle xmlns:a="http://schemas.openxmlformats.org/drawingml/2006/main"/>
          <a:p xmlns:a="http://schemas.openxmlformats.org/drawingml/2006/main">
            <a:pPr>
              <a:defRPr sz="1350" b="1">
                <a:solidFill>
                  <a:srgbClr val="158B70"/>
                </a:solidFill>
                <a:latin typeface="Arial"/>
                <a:ea typeface="Arial"/>
                <a:cs typeface="Arial"/>
              </a:defRPr>
            </a:pPr>
            <a:r>
              <a:rPr sz="1350" b="1">
                <a:solidFill>
                  <a:srgbClr val="158B70"/>
                </a:solidFill>
                <a:latin typeface="Arial"/>
                <a:ea typeface="Arial"/>
                <a:cs typeface="Arial"/>
              </a:rPr>
              <a:t>Saved settings recalculate every brand.</a:t>
            </a:r>
          </a:p>
        </p:txBody>
      </p:sp>
    </p:spTree>
    <p:extLst>
      <p:ext uri="{BB962C8B-B14F-4D97-AF65-F5344CB8AC3E}">
        <p14:creationId xmlns:p14="http://schemas.microsoft.com/office/powerpoint/2010/main" val="212319616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B632C4F-0C74-4B9D-87C9-1D6E8E156E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D6545C-8002-464B-A85F-3241EECDD6A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E69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7216B5E-B585-475A-8DCF-F64E6AFA986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a:solidFill>
                  <a:srgbClr val="4E69B2"/>
                </a:solidFill>
                <a:latin typeface="Arial"/>
                <a:ea typeface="Arial"/>
                <a:cs typeface="Arial"/>
              </a:defRPr>
            </a:pPr>
            <a:r>
              <a:rPr sz="1200" b="1">
                <a:solidFill>
                  <a:srgbClr val="4E69B2"/>
                </a:solidFill>
                <a:latin typeface="Arial"/>
                <a:ea typeface="Arial"/>
                <a:cs typeface="Arial"/>
              </a:rPr>
              <a:t>DECISION LOGIC</a:t>
            </a:r>
          </a:p>
        </p:txBody>
      </p:sp>
      <p:sp>
        <p:nvSpPr>
          <p:cNvPr id="4" name="">
            <a:extLst xmlns:a="http://schemas.openxmlformats.org/drawingml/2006/main">
              <a:ext uri="{FF2B5EF4-FFF2-40B4-BE49-F238E27FC236}">
                <a16:creationId xmlns:a16="http://schemas.microsoft.com/office/drawing/2014/main" id="{E79357D1-33C5-4AF0-BDC6-4120A23C4E9F}"/>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54"/>
          </a:bodyPr>
          <a:lstStyle xmlns:a="http://schemas.openxmlformats.org/drawingml/2006/main"/>
          <a:p xmlns:a="http://schemas.openxmlformats.org/drawingml/2006/main">
            <a:pPr>
              <a:defRPr sz="3300" b="1">
                <a:solidFill>
                  <a:srgbClr val="172642"/>
                </a:solidFill>
                <a:latin typeface="Arial"/>
                <a:ea typeface="Arial"/>
                <a:cs typeface="Arial"/>
              </a:defRPr>
            </a:pPr>
            <a:r>
              <a:rPr sz="3300" b="1">
                <a:solidFill>
                  <a:srgbClr val="172642"/>
                </a:solidFill>
                <a:latin typeface="Arial"/>
                <a:ea typeface="Arial"/>
                <a:cs typeface="Arial"/>
              </a:rPr>
              <a:t>How the recommendation is built</a:t>
            </a:r>
          </a:p>
        </p:txBody>
      </p:sp>
      <p:sp>
        <p:nvSpPr>
          <p:cNvPr id="5" name="">
            <a:extLst xmlns:a="http://schemas.openxmlformats.org/drawingml/2006/main">
              <a:ext uri="{FF2B5EF4-FFF2-40B4-BE49-F238E27FC236}">
                <a16:creationId xmlns:a16="http://schemas.microsoft.com/office/drawing/2014/main" id="{8AB88F7B-D4ED-47EE-A969-872E7891390A}"/>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CE3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7A43C1C-A78D-4485-9816-BF8EF0EDFD36}"/>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a:solidFill>
                  <a:srgbClr val="667792"/>
                </a:solidFill>
                <a:latin typeface="Arial"/>
                <a:ea typeface="Arial"/>
                <a:cs typeface="Arial"/>
              </a:defRPr>
            </a:pPr>
            <a:r>
              <a:rPr sz="900">
                <a:solidFill>
                  <a:srgbClr val="667792"/>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7D08269D-1203-49B0-AA73-28F7535C9B9E}"/>
              </a:ext>
            </a:extLst>
          </p:cNvPr>
          <p:cNvSpPr>
            <a:spLocks xmlns:a="http://schemas.openxmlformats.org/drawingml/2006/main" noGrp="1"/>
          </p:cNvSpPr>
          <p:nvPr/>
        </p:nvSpPr>
        <p:spPr>
          <a:xfrm xmlns:a="http://schemas.openxmlformats.org/drawingml/2006/main">
            <a:off x="561975" y="1571625"/>
            <a:ext cx="7096125" cy="4333875"/>
          </a:xfrm>
          <a:prstGeom xmlns:a="http://schemas.openxmlformats.org/drawingml/2006/main" prst="roundRect">
            <a:avLst>
              <a:gd name="adj" fmla="val 1758"/>
            </a:avLst>
          </a:prstGeom>
          <a:solidFill xmlns:a="http://schemas.openxmlformats.org/drawingml/2006/main">
            <a:srgbClr val="FFFFFF"/>
          </a:solidFill>
          <a:ln xmlns:a="http://schemas.openxmlformats.org/drawingml/2006/main" w="9525">
            <a:solidFill>
              <a:srgbClr val="DCE3ED"/>
            </a:solid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a2e818a48d04de2"/>
          <a:srcRect xmlns:a="http://schemas.openxmlformats.org/drawingml/2006/main" l="3546" t="0" r="3546" b="0"/>
          <a:stretch xmlns:a="http://schemas.openxmlformats.org/drawingml/2006/main">
            <a:fillRect l="0" t="0" r="0" b="0"/>
          </a:stretch>
        </p:blipFill>
        <p:spPr>
          <a:xfrm xmlns:a="http://schemas.openxmlformats.org/drawingml/2006/main">
            <a:off x="609600" y="1619250"/>
            <a:ext cx="7000875" cy="4238625"/>
          </a:xfrm>
          <a:prstGeom xmlns:a="http://schemas.openxmlformats.org/drawingml/2006/main" prst="roundRect">
            <a:avLst>
              <a:gd name="adj" fmla="val 2697"/>
            </a:avLst>
          </a:prstGeom>
        </p:spPr>
      </p:pic>
      <p:sp>
        <p:nvSpPr>
          <p:cNvPr id="9" name="">
            <a:extLst xmlns:a="http://schemas.openxmlformats.org/drawingml/2006/main">
              <a:ext uri="{FF2B5EF4-FFF2-40B4-BE49-F238E27FC236}">
                <a16:creationId xmlns:a16="http://schemas.microsoft.com/office/drawing/2014/main" id="{BF064278-78C2-481C-BEE7-74A35F5FBC90}"/>
              </a:ext>
            </a:extLst>
          </p:cNvPr>
          <p:cNvSpPr>
            <a:spLocks xmlns:a="http://schemas.openxmlformats.org/drawingml/2006/main" noGrp="1"/>
          </p:cNvSpPr>
          <p:nvPr/>
        </p:nvSpPr>
        <p:spPr>
          <a:xfrm xmlns:a="http://schemas.openxmlformats.org/drawingml/2006/main">
            <a:off x="8048625" y="161925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000"/>
          </a:bodyPr>
          <a:lstStyle xmlns:a="http://schemas.openxmlformats.org/drawingml/2006/main"/>
          <a:p xmlns:a="http://schemas.openxmlformats.org/drawingml/2006/main">
            <a:pPr>
              <a:defRPr sz="1875" b="1">
                <a:solidFill>
                  <a:srgbClr val="172642"/>
                </a:solidFill>
                <a:latin typeface="Arial"/>
                <a:ea typeface="Arial"/>
                <a:cs typeface="Arial"/>
              </a:defRPr>
            </a:pPr>
            <a:r>
              <a:rPr sz="1875" b="1">
                <a:solidFill>
                  <a:srgbClr val="172642"/>
                </a:solidFill>
                <a:latin typeface="Arial"/>
                <a:ea typeface="Arial"/>
                <a:cs typeface="Arial"/>
              </a:rPr>
              <a:t>Descriptive level</a:t>
            </a:r>
          </a:p>
        </p:txBody>
      </p:sp>
      <p:sp>
        <p:nvSpPr>
          <p:cNvPr id="10" name="">
            <a:extLst xmlns:a="http://schemas.openxmlformats.org/drawingml/2006/main">
              <a:ext uri="{FF2B5EF4-FFF2-40B4-BE49-F238E27FC236}">
                <a16:creationId xmlns:a16="http://schemas.microsoft.com/office/drawing/2014/main" id="{26116E99-BEE8-4EF4-A7D9-46420944390E}"/>
              </a:ext>
            </a:extLst>
          </p:cNvPr>
          <p:cNvSpPr>
            <a:spLocks xmlns:a="http://schemas.openxmlformats.org/drawingml/2006/main" noGrp="1"/>
          </p:cNvSpPr>
          <p:nvPr/>
        </p:nvSpPr>
        <p:spPr>
          <a:xfrm xmlns:a="http://schemas.openxmlformats.org/drawingml/2006/main">
            <a:off x="8048625" y="2019300"/>
            <a:ext cx="319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a:solidFill>
                  <a:srgbClr val="667792"/>
                </a:solidFill>
                <a:latin typeface="Arial"/>
                <a:ea typeface="Arial"/>
                <a:cs typeface="Arial"/>
              </a:defRPr>
            </a:pPr>
            <a:r>
              <a:rPr sz="1275">
                <a:solidFill>
                  <a:srgbClr val="667792"/>
                </a:solidFill>
                <a:latin typeface="Arial"/>
                <a:ea typeface="Arial"/>
                <a:cs typeface="Arial"/>
              </a:rPr>
              <a:t>The first table converts the 1 to 4 score into Low, Developing, Attractive, or Leading.</a:t>
            </a:r>
          </a:p>
        </p:txBody>
      </p:sp>
      <p:sp>
        <p:nvSpPr>
          <p:cNvPr id="11" name="">
            <a:extLst xmlns:a="http://schemas.openxmlformats.org/drawingml/2006/main">
              <a:ext uri="{FF2B5EF4-FFF2-40B4-BE49-F238E27FC236}">
                <a16:creationId xmlns:a16="http://schemas.microsoft.com/office/drawing/2014/main" id="{6FBAD986-C2B1-4CDD-8A5C-CFB2C3B58253}"/>
              </a:ext>
            </a:extLst>
          </p:cNvPr>
          <p:cNvSpPr>
            <a:spLocks xmlns:a="http://schemas.openxmlformats.org/drawingml/2006/main" noGrp="1"/>
          </p:cNvSpPr>
          <p:nvPr/>
        </p:nvSpPr>
        <p:spPr>
          <a:xfrm xmlns:a="http://schemas.openxmlformats.org/drawingml/2006/main">
            <a:off x="8048625" y="30003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000"/>
          </a:bodyPr>
          <a:lstStyle xmlns:a="http://schemas.openxmlformats.org/drawingml/2006/main"/>
          <a:p xmlns:a="http://schemas.openxmlformats.org/drawingml/2006/main">
            <a:pPr>
              <a:defRPr sz="1875" b="1">
                <a:solidFill>
                  <a:srgbClr val="172642"/>
                </a:solidFill>
                <a:latin typeface="Arial"/>
                <a:ea typeface="Arial"/>
                <a:cs typeface="Arial"/>
              </a:defRPr>
            </a:pPr>
            <a:r>
              <a:rPr sz="1875" b="1">
                <a:solidFill>
                  <a:srgbClr val="172642"/>
                </a:solidFill>
                <a:latin typeface="Arial"/>
                <a:ea typeface="Arial"/>
                <a:cs typeface="Arial"/>
              </a:rPr>
              <a:t>Strategic decision</a:t>
            </a:r>
          </a:p>
        </p:txBody>
      </p:sp>
      <p:sp>
        <p:nvSpPr>
          <p:cNvPr id="12" name="">
            <a:extLst xmlns:a="http://schemas.openxmlformats.org/drawingml/2006/main">
              <a:ext uri="{FF2B5EF4-FFF2-40B4-BE49-F238E27FC236}">
                <a16:creationId xmlns:a16="http://schemas.microsoft.com/office/drawing/2014/main" id="{20F1C7AE-3322-4DCE-9CCD-4438D00B0B44}"/>
              </a:ext>
            </a:extLst>
          </p:cNvPr>
          <p:cNvSpPr>
            <a:spLocks xmlns:a="http://schemas.openxmlformats.org/drawingml/2006/main" noGrp="1"/>
          </p:cNvSpPr>
          <p:nvPr/>
        </p:nvSpPr>
        <p:spPr>
          <a:xfrm xmlns:a="http://schemas.openxmlformats.org/drawingml/2006/main">
            <a:off x="8048625" y="3400425"/>
            <a:ext cx="319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a:solidFill>
                  <a:srgbClr val="667792"/>
                </a:solidFill>
                <a:latin typeface="Arial"/>
                <a:ea typeface="Arial"/>
                <a:cs typeface="Arial"/>
              </a:defRPr>
            </a:pPr>
            <a:r>
              <a:rPr sz="1275">
                <a:solidFill>
                  <a:srgbClr val="667792"/>
                </a:solidFill>
                <a:latin typeface="Arial"/>
                <a:ea typeface="Arial"/>
                <a:cs typeface="Arial"/>
              </a:rPr>
              <a:t>The second table converts the -2 to +2 score into five decision levels.</a:t>
            </a:r>
          </a:p>
        </p:txBody>
      </p:sp>
      <p:sp>
        <p:nvSpPr>
          <p:cNvPr id="13" name="">
            <a:extLst xmlns:a="http://schemas.openxmlformats.org/drawingml/2006/main">
              <a:ext uri="{FF2B5EF4-FFF2-40B4-BE49-F238E27FC236}">
                <a16:creationId xmlns:a16="http://schemas.microsoft.com/office/drawing/2014/main" id="{D101A09E-2B67-4253-ACDD-8B2308113E5D}"/>
              </a:ext>
            </a:extLst>
          </p:cNvPr>
          <p:cNvSpPr>
            <a:spLocks xmlns:a="http://schemas.openxmlformats.org/drawingml/2006/main" noGrp="1"/>
          </p:cNvSpPr>
          <p:nvPr/>
        </p:nvSpPr>
        <p:spPr>
          <a:xfrm xmlns:a="http://schemas.openxmlformats.org/drawingml/2006/main">
            <a:off x="8048625" y="428625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000"/>
          </a:bodyPr>
          <a:lstStyle xmlns:a="http://schemas.openxmlformats.org/drawingml/2006/main"/>
          <a:p xmlns:a="http://schemas.openxmlformats.org/drawingml/2006/main">
            <a:pPr>
              <a:defRPr sz="1875" b="1">
                <a:solidFill>
                  <a:srgbClr val="172642"/>
                </a:solidFill>
                <a:latin typeface="Arial"/>
                <a:ea typeface="Arial"/>
                <a:cs typeface="Arial"/>
              </a:defRPr>
            </a:pPr>
            <a:r>
              <a:rPr sz="1875" b="1">
                <a:solidFill>
                  <a:srgbClr val="172642"/>
                </a:solidFill>
                <a:latin typeface="Arial"/>
                <a:ea typeface="Arial"/>
                <a:cs typeface="Arial"/>
              </a:rPr>
              <a:t>Final recommendation</a:t>
            </a:r>
          </a:p>
        </p:txBody>
      </p:sp>
      <p:sp>
        <p:nvSpPr>
          <p:cNvPr id="14" name="">
            <a:extLst xmlns:a="http://schemas.openxmlformats.org/drawingml/2006/main">
              <a:ext uri="{FF2B5EF4-FFF2-40B4-BE49-F238E27FC236}">
                <a16:creationId xmlns:a16="http://schemas.microsoft.com/office/drawing/2014/main" id="{B55A4C86-F264-44B0-B0BC-DC416F5758DE}"/>
              </a:ext>
            </a:extLst>
          </p:cNvPr>
          <p:cNvSpPr>
            <a:spLocks xmlns:a="http://schemas.openxmlformats.org/drawingml/2006/main" noGrp="1"/>
          </p:cNvSpPr>
          <p:nvPr/>
        </p:nvSpPr>
        <p:spPr>
          <a:xfrm xmlns:a="http://schemas.openxmlformats.org/drawingml/2006/main">
            <a:off x="8048625" y="4686300"/>
            <a:ext cx="319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a:solidFill>
                  <a:srgbClr val="667792"/>
                </a:solidFill>
                <a:latin typeface="Arial"/>
                <a:ea typeface="Arial"/>
                <a:cs typeface="Arial"/>
              </a:defRPr>
            </a:pPr>
            <a:r>
              <a:rPr sz="1275">
                <a:solidFill>
                  <a:srgbClr val="667792"/>
                </a:solidFill>
                <a:latin typeface="Arial"/>
                <a:ea typeface="Arial"/>
                <a:cs typeface="Arial"/>
              </a:rPr>
              <a:t>The last table combines the descriptive result with the strategic result.</a:t>
            </a:r>
          </a:p>
        </p:txBody>
      </p:sp>
      <p:sp>
        <p:nvSpPr>
          <p:cNvPr id="15" name="">
            <a:extLst xmlns:a="http://schemas.openxmlformats.org/drawingml/2006/main">
              <a:ext uri="{FF2B5EF4-FFF2-40B4-BE49-F238E27FC236}">
                <a16:creationId xmlns:a16="http://schemas.microsoft.com/office/drawing/2014/main" id="{0B5BDEAD-3006-41BF-A850-611EDB57604A}"/>
              </a:ext>
            </a:extLst>
          </p:cNvPr>
          <p:cNvSpPr>
            <a:spLocks xmlns:a="http://schemas.openxmlformats.org/drawingml/2006/main" noGrp="1"/>
          </p:cNvSpPr>
          <p:nvPr/>
        </p:nvSpPr>
        <p:spPr>
          <a:xfrm xmlns:a="http://schemas.openxmlformats.org/drawingml/2006/main">
            <a:off x="8048625" y="5619750"/>
            <a:ext cx="319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158B70"/>
                </a:solidFill>
                <a:latin typeface="Arial"/>
                <a:ea typeface="Arial"/>
                <a:cs typeface="Arial"/>
              </a:defRPr>
            </a:pPr>
            <a:r>
              <a:rPr sz="1350" b="1">
                <a:solidFill>
                  <a:srgbClr val="158B70"/>
                </a:solidFill>
                <a:latin typeface="Arial"/>
                <a:ea typeface="Arial"/>
                <a:cs typeface="Arial"/>
              </a:rPr>
              <a:t>Attractive + Opportunity = Priority</a:t>
            </a:r>
          </a:p>
        </p:txBody>
      </p:sp>
    </p:spTree>
    <p:extLst>
      <p:ext uri="{BB962C8B-B14F-4D97-AF65-F5344CB8AC3E}">
        <p14:creationId xmlns:p14="http://schemas.microsoft.com/office/powerpoint/2010/main" val="20773865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2F3A04-9011-4884-9FF5-4CF53F37485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841FAE-F18A-4129-8F2D-290C7F9299F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506BB4"/>
                </a:solidFill>
                <a:latin typeface="Arial"/>
                <a:ea typeface="Arial"/>
                <a:cs typeface="Arial"/>
              </a:defRPr>
            </a:pPr>
            <a:r>
              <a:rPr sz="1125" b="1">
                <a:solidFill>
                  <a:srgbClr val="506BB4"/>
                </a:solidFill>
                <a:latin typeface="Arial"/>
                <a:ea typeface="Arial"/>
                <a:cs typeface="Arial"/>
              </a:rPr>
              <a:t>DASHBOARD</a:t>
            </a:r>
          </a:p>
        </p:txBody>
      </p:sp>
      <p:sp>
        <p:nvSpPr>
          <p:cNvPr id="3" name="">
            <a:extLst xmlns:a="http://schemas.openxmlformats.org/drawingml/2006/main">
              <a:ext uri="{FF2B5EF4-FFF2-40B4-BE49-F238E27FC236}">
                <a16:creationId xmlns:a16="http://schemas.microsoft.com/office/drawing/2014/main" id="{7A033B05-C066-4481-85D1-3DFDD9BF2E5A}"/>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541"/>
                </a:solidFill>
                <a:latin typeface="Arial"/>
                <a:ea typeface="Arial"/>
                <a:cs typeface="Arial"/>
              </a:defRPr>
            </a:pPr>
            <a:r>
              <a:rPr sz="3300" b="1">
                <a:solidFill>
                  <a:srgbClr val="182541"/>
                </a:solidFill>
                <a:latin typeface="Arial"/>
                <a:ea typeface="Arial"/>
                <a:cs typeface="Arial"/>
              </a:rPr>
              <a:t>Brand level overview</a:t>
            </a:r>
          </a:p>
        </p:txBody>
      </p:sp>
      <p:sp>
        <p:nvSpPr>
          <p:cNvPr id="4" name="">
            <a:extLst xmlns:a="http://schemas.openxmlformats.org/drawingml/2006/main">
              <a:ext uri="{FF2B5EF4-FFF2-40B4-BE49-F238E27FC236}">
                <a16:creationId xmlns:a16="http://schemas.microsoft.com/office/drawing/2014/main" id="{FC651F39-88F8-4308-A6D2-341A067E9F38}"/>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52EFF7-1B64-4EAC-A6DD-470BF868E7A8}"/>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4748B"/>
                </a:solidFill>
                <a:latin typeface="Arial"/>
                <a:ea typeface="Arial"/>
                <a:cs typeface="Arial"/>
              </a:defRPr>
            </a:pPr>
            <a:r>
              <a:rPr sz="1050" b="0">
                <a:solidFill>
                  <a:srgbClr val="64748B"/>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29252DBA-AC64-4821-80AA-DB868B8806DF}"/>
              </a:ext>
            </a:extLst>
          </p:cNvPr>
          <p:cNvSpPr>
            <a:spLocks xmlns:a="http://schemas.openxmlformats.org/drawingml/2006/main" noGrp="1"/>
          </p:cNvSpPr>
          <p:nvPr/>
        </p:nvSpPr>
        <p:spPr>
          <a:xfrm xmlns:a="http://schemas.openxmlformats.org/drawingml/2006/main">
            <a:off x="561975" y="1362075"/>
            <a:ext cx="110680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9af90c0574f44df"/>
          <a:stretch xmlns:a="http://schemas.openxmlformats.org/drawingml/2006/main"/>
        </p:blipFill>
        <p:spPr>
          <a:xfrm xmlns:a="http://schemas.openxmlformats.org/drawingml/2006/main">
            <a:off x="2085474" y="1409700"/>
            <a:ext cx="8021053" cy="4762500"/>
          </a:xfrm>
          <a:prstGeom xmlns:a="http://schemas.openxmlformats.org/drawingml/2006/main" prst="roundRect">
            <a:avLst/>
          </a:prstGeom>
        </p:spPr>
      </p:pic>
      <p:sp>
        <p:nvSpPr>
          <p:cNvPr id="8" name="">
            <a:extLst xmlns:a="http://schemas.openxmlformats.org/drawingml/2006/main">
              <a:ext uri="{FF2B5EF4-FFF2-40B4-BE49-F238E27FC236}">
                <a16:creationId xmlns:a16="http://schemas.microsoft.com/office/drawing/2014/main" id="{16EDAC99-B5AD-47BA-BF78-275EBA4E591E}"/>
              </a:ext>
            </a:extLst>
          </p:cNvPr>
          <p:cNvSpPr>
            <a:spLocks xmlns:a="http://schemas.openxmlformats.org/drawingml/2006/main" noGrp="1"/>
          </p:cNvSpPr>
          <p:nvPr/>
        </p:nvSpPr>
        <p:spPr>
          <a:xfrm xmlns:a="http://schemas.openxmlformats.org/drawingml/2006/main">
            <a:off x="1123950" y="628650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2C4694"/>
                </a:solidFill>
                <a:latin typeface="Arial"/>
                <a:ea typeface="Arial"/>
                <a:cs typeface="Arial"/>
              </a:defRPr>
            </a:pPr>
            <a:r>
              <a:rPr sz="1575" b="1">
                <a:solidFill>
                  <a:srgbClr val="2C4694"/>
                </a:solidFill>
                <a:latin typeface="Arial"/>
                <a:ea typeface="Arial"/>
                <a:cs typeface="Arial"/>
              </a:rPr>
              <a:t>Each brand shows its score interpretation, final recommendation, and status.</a:t>
            </a:r>
          </a:p>
        </p:txBody>
      </p:sp>
    </p:spTree>
    <p:extLst>
      <p:ext uri="{BB962C8B-B14F-4D97-AF65-F5344CB8AC3E}">
        <p14:creationId xmlns:p14="http://schemas.microsoft.com/office/powerpoint/2010/main" val="17737303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906052-E4DE-47D4-B15A-A2BE3E2648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2256F9-57FC-40D3-97C9-04AACCFA691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506BB4"/>
                </a:solidFill>
                <a:latin typeface="Arial"/>
                <a:ea typeface="Arial"/>
                <a:cs typeface="Arial"/>
              </a:defRPr>
            </a:pPr>
            <a:r>
              <a:rPr sz="1125" b="1">
                <a:solidFill>
                  <a:srgbClr val="506BB4"/>
                </a:solidFill>
                <a:latin typeface="Arial"/>
                <a:ea typeface="Arial"/>
                <a:cs typeface="Arial"/>
              </a:rPr>
              <a:t>PORTFOLIO CONTROL</a:t>
            </a:r>
          </a:p>
        </p:txBody>
      </p:sp>
      <p:sp>
        <p:nvSpPr>
          <p:cNvPr id="3" name="">
            <a:extLst xmlns:a="http://schemas.openxmlformats.org/drawingml/2006/main">
              <a:ext uri="{FF2B5EF4-FFF2-40B4-BE49-F238E27FC236}">
                <a16:creationId xmlns:a16="http://schemas.microsoft.com/office/drawing/2014/main" id="{FC325753-2789-4CA9-A514-EA1B112EF9A7}"/>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541"/>
                </a:solidFill>
                <a:latin typeface="Arial"/>
                <a:ea typeface="Arial"/>
                <a:cs typeface="Arial"/>
              </a:defRPr>
            </a:pPr>
            <a:r>
              <a:rPr sz="3300" b="1">
                <a:solidFill>
                  <a:srgbClr val="182541"/>
                </a:solidFill>
                <a:latin typeface="Arial"/>
                <a:ea typeface="Arial"/>
                <a:cs typeface="Arial"/>
              </a:rPr>
              <a:t>Portfolio register</a:t>
            </a:r>
          </a:p>
        </p:txBody>
      </p:sp>
      <p:sp>
        <p:nvSpPr>
          <p:cNvPr id="4" name="">
            <a:extLst xmlns:a="http://schemas.openxmlformats.org/drawingml/2006/main">
              <a:ext uri="{FF2B5EF4-FFF2-40B4-BE49-F238E27FC236}">
                <a16:creationId xmlns:a16="http://schemas.microsoft.com/office/drawing/2014/main" id="{88E8243E-E185-4927-A2D1-3FB7E7FD7AE5}"/>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695788-C77E-434B-9D1B-BF564146ED0A}"/>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4748B"/>
                </a:solidFill>
                <a:latin typeface="Arial"/>
                <a:ea typeface="Arial"/>
                <a:cs typeface="Arial"/>
              </a:defRPr>
            </a:pPr>
            <a:r>
              <a:rPr sz="1050" b="0">
                <a:solidFill>
                  <a:srgbClr val="64748B"/>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DD10BB61-AA94-4002-B50B-43177505991A}"/>
              </a:ext>
            </a:extLst>
          </p:cNvPr>
          <p:cNvSpPr>
            <a:spLocks xmlns:a="http://schemas.openxmlformats.org/drawingml/2006/main" noGrp="1"/>
          </p:cNvSpPr>
          <p:nvPr/>
        </p:nvSpPr>
        <p:spPr>
          <a:xfrm xmlns:a="http://schemas.openxmlformats.org/drawingml/2006/main">
            <a:off x="609600" y="1504950"/>
            <a:ext cx="371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82541"/>
                </a:solidFill>
                <a:latin typeface="Arial"/>
                <a:ea typeface="Arial"/>
                <a:cs typeface="Arial"/>
              </a:defRPr>
            </a:pPr>
            <a:r>
              <a:rPr sz="2325" b="1">
                <a:solidFill>
                  <a:srgbClr val="182541"/>
                </a:solidFill>
                <a:latin typeface="Arial"/>
                <a:ea typeface="Arial"/>
                <a:cs typeface="Arial"/>
              </a:rPr>
              <a:t>A shared view of all active brands</a:t>
            </a:r>
          </a:p>
        </p:txBody>
      </p:sp>
      <p:sp>
        <p:nvSpPr>
          <p:cNvPr id="7" name="">
            <a:extLst xmlns:a="http://schemas.openxmlformats.org/drawingml/2006/main">
              <a:ext uri="{FF2B5EF4-FFF2-40B4-BE49-F238E27FC236}">
                <a16:creationId xmlns:a16="http://schemas.microsoft.com/office/drawing/2014/main" id="{CA4F7952-8524-4FCF-89F8-1C4C3C5D340B}"/>
              </a:ext>
            </a:extLst>
          </p:cNvPr>
          <p:cNvSpPr>
            <a:spLocks xmlns:a="http://schemas.openxmlformats.org/drawingml/2006/main" noGrp="1"/>
          </p:cNvSpPr>
          <p:nvPr/>
        </p:nvSpPr>
        <p:spPr>
          <a:xfrm xmlns:a="http://schemas.openxmlformats.org/drawingml/2006/main">
            <a:off x="609600" y="2362200"/>
            <a:ext cx="3714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Filter by category, family, commercial owner, recommendation, or status.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Compare completeness before a review meeting.</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See the main scores and comments in one table.</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Open the assessment page to update a record.</a:t>
            </a:r>
          </a:p>
        </p:txBody>
      </p:sp>
      <p:sp>
        <p:nvSpPr>
          <p:cNvPr id="8" name="">
            <a:extLst xmlns:a="http://schemas.openxmlformats.org/drawingml/2006/main">
              <a:ext uri="{FF2B5EF4-FFF2-40B4-BE49-F238E27FC236}">
                <a16:creationId xmlns:a16="http://schemas.microsoft.com/office/drawing/2014/main" id="{46F4F325-EA17-4299-8BBF-424D869FE350}"/>
              </a:ext>
            </a:extLst>
          </p:cNvPr>
          <p:cNvSpPr>
            <a:spLocks xmlns:a="http://schemas.openxmlformats.org/drawingml/2006/main" noGrp="1"/>
          </p:cNvSpPr>
          <p:nvPr/>
        </p:nvSpPr>
        <p:spPr>
          <a:xfrm xmlns:a="http://schemas.openxmlformats.org/drawingml/2006/main">
            <a:off x="609600" y="55626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6856A"/>
                </a:solidFill>
                <a:latin typeface="Arial"/>
                <a:ea typeface="Arial"/>
                <a:cs typeface="Arial"/>
              </a:defRPr>
            </a:pPr>
            <a:r>
              <a:rPr sz="1500" b="1">
                <a:solidFill>
                  <a:srgbClr val="16856A"/>
                </a:solidFill>
                <a:latin typeface="Arial"/>
                <a:ea typeface="Arial"/>
                <a:cs typeface="Arial"/>
              </a:rPr>
              <a:t>This screen creates a simple operating list for the commercial team.</a:t>
            </a:r>
          </a:p>
        </p:txBody>
      </p:sp>
      <p:sp>
        <p:nvSpPr>
          <p:cNvPr id="9" name="">
            <a:extLst xmlns:a="http://schemas.openxmlformats.org/drawingml/2006/main">
              <a:ext uri="{FF2B5EF4-FFF2-40B4-BE49-F238E27FC236}">
                <a16:creationId xmlns:a16="http://schemas.microsoft.com/office/drawing/2014/main" id="{29973B16-620F-4D2A-AA39-C711078D45CA}"/>
              </a:ext>
            </a:extLst>
          </p:cNvPr>
          <p:cNvSpPr>
            <a:spLocks xmlns:a="http://schemas.openxmlformats.org/drawingml/2006/main" noGrp="1"/>
          </p:cNvSpPr>
          <p:nvPr/>
        </p:nvSpPr>
        <p:spPr>
          <a:xfrm xmlns:a="http://schemas.openxmlformats.org/drawingml/2006/main">
            <a:off x="4638675" y="1381125"/>
            <a:ext cx="69913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8e09eabbbe64e2e"/>
          <a:stretch xmlns:a="http://schemas.openxmlformats.org/drawingml/2006/main"/>
        </p:blipFill>
        <p:spPr>
          <a:xfrm xmlns:a="http://schemas.openxmlformats.org/drawingml/2006/main">
            <a:off x="4686300" y="1762720"/>
            <a:ext cx="6896100" cy="4094559"/>
          </a:xfrm>
          <a:prstGeom xmlns:a="http://schemas.openxmlformats.org/drawingml/2006/main" prst="roundRect">
            <a:avLst/>
          </a:prstGeom>
        </p:spPr>
      </p:pic>
    </p:spTree>
    <p:extLst>
      <p:ext uri="{BB962C8B-B14F-4D97-AF65-F5344CB8AC3E}">
        <p14:creationId xmlns:p14="http://schemas.microsoft.com/office/powerpoint/2010/main" val="17679571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7D6C39-2A4D-4181-A13D-7D6A1CCE66B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3335E5-7268-42CE-B7B2-94CD01A3D06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506BB4"/>
                </a:solidFill>
                <a:latin typeface="Arial"/>
                <a:ea typeface="Arial"/>
                <a:cs typeface="Arial"/>
              </a:defRPr>
            </a:pPr>
            <a:r>
              <a:rPr sz="1125" b="1">
                <a:solidFill>
                  <a:srgbClr val="506BB4"/>
                </a:solidFill>
                <a:latin typeface="Arial"/>
                <a:ea typeface="Arial"/>
                <a:cs typeface="Arial"/>
              </a:rPr>
              <a:t>ANALYSIS</a:t>
            </a:r>
          </a:p>
        </p:txBody>
      </p:sp>
      <p:sp>
        <p:nvSpPr>
          <p:cNvPr id="3" name="">
            <a:extLst xmlns:a="http://schemas.openxmlformats.org/drawingml/2006/main">
              <a:ext uri="{FF2B5EF4-FFF2-40B4-BE49-F238E27FC236}">
                <a16:creationId xmlns:a16="http://schemas.microsoft.com/office/drawing/2014/main" id="{F1FE7BA9-3825-4373-BFEB-B628122DCF1B}"/>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541"/>
                </a:solidFill>
                <a:latin typeface="Arial"/>
                <a:ea typeface="Arial"/>
                <a:cs typeface="Arial"/>
              </a:defRPr>
            </a:pPr>
            <a:r>
              <a:rPr sz="3300" b="1">
                <a:solidFill>
                  <a:srgbClr val="182541"/>
                </a:solidFill>
                <a:latin typeface="Arial"/>
                <a:ea typeface="Arial"/>
                <a:cs typeface="Arial"/>
              </a:rPr>
              <a:t>Multi-brand comparison</a:t>
            </a:r>
          </a:p>
        </p:txBody>
      </p:sp>
      <p:sp>
        <p:nvSpPr>
          <p:cNvPr id="4" name="">
            <a:extLst xmlns:a="http://schemas.openxmlformats.org/drawingml/2006/main">
              <a:ext uri="{FF2B5EF4-FFF2-40B4-BE49-F238E27FC236}">
                <a16:creationId xmlns:a16="http://schemas.microsoft.com/office/drawing/2014/main" id="{E2893C74-E83E-4303-ABA5-E3CAA54BBB77}"/>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E9861A1-270C-4C88-8D52-B0421F6EB345}"/>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4748B"/>
                </a:solidFill>
                <a:latin typeface="Arial"/>
                <a:ea typeface="Arial"/>
                <a:cs typeface="Arial"/>
              </a:defRPr>
            </a:pPr>
            <a:r>
              <a:rPr sz="1050" b="0">
                <a:solidFill>
                  <a:srgbClr val="64748B"/>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45988844-43D4-49BD-AAEB-EE03576C8A58}"/>
              </a:ext>
            </a:extLst>
          </p:cNvPr>
          <p:cNvSpPr>
            <a:spLocks xmlns:a="http://schemas.openxmlformats.org/drawingml/2006/main" noGrp="1"/>
          </p:cNvSpPr>
          <p:nvPr/>
        </p:nvSpPr>
        <p:spPr>
          <a:xfrm xmlns:a="http://schemas.openxmlformats.org/drawingml/2006/main">
            <a:off x="561975" y="1381125"/>
            <a:ext cx="73342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4f25682b3ce4600"/>
          <a:stretch xmlns:a="http://schemas.openxmlformats.org/drawingml/2006/main"/>
        </p:blipFill>
        <p:spPr>
          <a:xfrm xmlns:a="http://schemas.openxmlformats.org/drawingml/2006/main">
            <a:off x="609600" y="1660922"/>
            <a:ext cx="7239000" cy="4298156"/>
          </a:xfrm>
          <a:prstGeom xmlns:a="http://schemas.openxmlformats.org/drawingml/2006/main" prst="roundRect">
            <a:avLst>
              <a:gd name="adj" fmla="val 2400"/>
            </a:avLst>
          </a:prstGeom>
        </p:spPr>
      </p:pic>
      <p:sp>
        <p:nvSpPr>
          <p:cNvPr id="8" name="">
            <a:extLst xmlns:a="http://schemas.openxmlformats.org/drawingml/2006/main">
              <a:ext uri="{FF2B5EF4-FFF2-40B4-BE49-F238E27FC236}">
                <a16:creationId xmlns:a16="http://schemas.microsoft.com/office/drawing/2014/main" id="{229CDD03-DAFC-483F-A0E3-3E60D5B744A7}"/>
              </a:ext>
            </a:extLst>
          </p:cNvPr>
          <p:cNvSpPr>
            <a:spLocks xmlns:a="http://schemas.openxmlformats.org/drawingml/2006/main" noGrp="1"/>
          </p:cNvSpPr>
          <p:nvPr/>
        </p:nvSpPr>
        <p:spPr>
          <a:xfrm xmlns:a="http://schemas.openxmlformats.org/drawingml/2006/main">
            <a:off x="8248650" y="157162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2541"/>
                </a:solidFill>
                <a:latin typeface="Arial"/>
                <a:ea typeface="Arial"/>
                <a:cs typeface="Arial"/>
              </a:defRPr>
            </a:pPr>
            <a:r>
              <a:rPr sz="2250" b="1">
                <a:solidFill>
                  <a:srgbClr val="182541"/>
                </a:solidFill>
                <a:latin typeface="Arial"/>
                <a:ea typeface="Arial"/>
                <a:cs typeface="Arial"/>
              </a:rPr>
              <a:t>One chart, several brands</a:t>
            </a:r>
          </a:p>
        </p:txBody>
      </p:sp>
      <p:sp>
        <p:nvSpPr>
          <p:cNvPr id="9" name="">
            <a:extLst xmlns:a="http://schemas.openxmlformats.org/drawingml/2006/main">
              <a:ext uri="{FF2B5EF4-FFF2-40B4-BE49-F238E27FC236}">
                <a16:creationId xmlns:a16="http://schemas.microsoft.com/office/drawing/2014/main" id="{6E02D522-BA06-44A9-B4B0-AE940512CBAC}"/>
              </a:ext>
            </a:extLst>
          </p:cNvPr>
          <p:cNvSpPr>
            <a:spLocks xmlns:a="http://schemas.openxmlformats.org/drawingml/2006/main" noGrp="1"/>
          </p:cNvSpPr>
          <p:nvPr/>
        </p:nvSpPr>
        <p:spPr>
          <a:xfrm xmlns:a="http://schemas.openxmlformats.org/drawingml/2006/main">
            <a:off x="8248650" y="2324100"/>
            <a:ext cx="3048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Select up to eight brands.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Each brand uses a different color.</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Compare five strategic pillars on one radar.</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Use the other tabs for ranking and heatmaps.</a:t>
            </a:r>
          </a:p>
        </p:txBody>
      </p:sp>
      <p:sp>
        <p:nvSpPr>
          <p:cNvPr id="10" name="">
            <a:extLst xmlns:a="http://schemas.openxmlformats.org/drawingml/2006/main">
              <a:ext uri="{FF2B5EF4-FFF2-40B4-BE49-F238E27FC236}">
                <a16:creationId xmlns:a16="http://schemas.microsoft.com/office/drawing/2014/main" id="{334937C5-3A72-4EA1-BB11-4C61842E4FE7}"/>
              </a:ext>
            </a:extLst>
          </p:cNvPr>
          <p:cNvSpPr>
            <a:spLocks xmlns:a="http://schemas.openxmlformats.org/drawingml/2006/main" noGrp="1"/>
          </p:cNvSpPr>
          <p:nvPr/>
        </p:nvSpPr>
        <p:spPr>
          <a:xfrm xmlns:a="http://schemas.openxmlformats.org/drawingml/2006/main">
            <a:off x="8248650" y="5219700"/>
            <a:ext cx="304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2C4694"/>
                </a:solidFill>
                <a:latin typeface="Arial"/>
                <a:ea typeface="Arial"/>
                <a:cs typeface="Arial"/>
              </a:defRPr>
            </a:pPr>
            <a:r>
              <a:rPr sz="1500" b="1">
                <a:solidFill>
                  <a:srgbClr val="2C4694"/>
                </a:solidFill>
                <a:latin typeface="Arial"/>
                <a:ea typeface="Arial"/>
                <a:cs typeface="Arial"/>
              </a:rPr>
              <a:t>The legend and hover details make each profile easy to identify.</a:t>
            </a:r>
          </a:p>
        </p:txBody>
      </p:sp>
    </p:spTree>
    <p:extLst>
      <p:ext uri="{BB962C8B-B14F-4D97-AF65-F5344CB8AC3E}">
        <p14:creationId xmlns:p14="http://schemas.microsoft.com/office/powerpoint/2010/main" val="13501715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EBA66D-A17F-41A8-80B7-E842F131640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AC0DF5-0F45-48FC-B3B8-4686A02CB50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506BB4"/>
                </a:solidFill>
                <a:latin typeface="Arial"/>
                <a:ea typeface="Arial"/>
                <a:cs typeface="Arial"/>
              </a:defRPr>
            </a:pPr>
            <a:r>
              <a:rPr sz="1125" b="1">
                <a:solidFill>
                  <a:srgbClr val="506BB4"/>
                </a:solidFill>
                <a:latin typeface="Arial"/>
                <a:ea typeface="Arial"/>
                <a:cs typeface="Arial"/>
              </a:rPr>
              <a:t>DATA STORAGE</a:t>
            </a:r>
          </a:p>
        </p:txBody>
      </p:sp>
      <p:sp>
        <p:nvSpPr>
          <p:cNvPr id="3" name="">
            <a:extLst xmlns:a="http://schemas.openxmlformats.org/drawingml/2006/main">
              <a:ext uri="{FF2B5EF4-FFF2-40B4-BE49-F238E27FC236}">
                <a16:creationId xmlns:a16="http://schemas.microsoft.com/office/drawing/2014/main" id="{3E16FF49-BDF9-458C-AA24-D4838C8F10EF}"/>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541"/>
                </a:solidFill>
                <a:latin typeface="Arial"/>
                <a:ea typeface="Arial"/>
                <a:cs typeface="Arial"/>
              </a:defRPr>
            </a:pPr>
            <a:r>
              <a:rPr sz="3300" b="1">
                <a:solidFill>
                  <a:srgbClr val="182541"/>
                </a:solidFill>
                <a:latin typeface="Arial"/>
                <a:ea typeface="Arial"/>
                <a:cs typeface="Arial"/>
              </a:rPr>
              <a:t>Persistent SQLite database</a:t>
            </a:r>
          </a:p>
        </p:txBody>
      </p:sp>
      <p:sp>
        <p:nvSpPr>
          <p:cNvPr id="4" name="">
            <a:extLst xmlns:a="http://schemas.openxmlformats.org/drawingml/2006/main">
              <a:ext uri="{FF2B5EF4-FFF2-40B4-BE49-F238E27FC236}">
                <a16:creationId xmlns:a16="http://schemas.microsoft.com/office/drawing/2014/main" id="{29881D56-57C0-41FB-A748-AB468638EC1E}"/>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3A445C-6F24-4B3C-A4D8-22BD76AE5E6A}"/>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4748B"/>
                </a:solidFill>
                <a:latin typeface="Arial"/>
                <a:ea typeface="Arial"/>
                <a:cs typeface="Arial"/>
              </a:defRPr>
            </a:pPr>
            <a:r>
              <a:rPr sz="1050" b="0">
                <a:solidFill>
                  <a:srgbClr val="64748B"/>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3548B6A3-0077-4B61-BAE9-E159E7D0C483}"/>
              </a:ext>
            </a:extLst>
          </p:cNvPr>
          <p:cNvSpPr>
            <a:spLocks xmlns:a="http://schemas.openxmlformats.org/drawingml/2006/main" noGrp="1"/>
          </p:cNvSpPr>
          <p:nvPr/>
        </p:nvSpPr>
        <p:spPr>
          <a:xfrm xmlns:a="http://schemas.openxmlformats.org/drawingml/2006/main">
            <a:off x="609600" y="14859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82541"/>
                </a:solidFill>
                <a:latin typeface="Arial"/>
                <a:ea typeface="Arial"/>
                <a:cs typeface="Arial"/>
              </a:defRPr>
            </a:pPr>
            <a:r>
              <a:rPr sz="2325" b="1">
                <a:solidFill>
                  <a:srgbClr val="182541"/>
                </a:solidFill>
                <a:latin typeface="Arial"/>
                <a:ea typeface="Arial"/>
                <a:cs typeface="Arial"/>
              </a:rPr>
              <a:t>The database starts automatically with the app</a:t>
            </a:r>
          </a:p>
        </p:txBody>
      </p:sp>
      <p:sp>
        <p:nvSpPr>
          <p:cNvPr id="7" name="">
            <a:extLst xmlns:a="http://schemas.openxmlformats.org/drawingml/2006/main">
              <a:ext uri="{FF2B5EF4-FFF2-40B4-BE49-F238E27FC236}">
                <a16:creationId xmlns:a16="http://schemas.microsoft.com/office/drawing/2014/main" id="{5E265296-0DDA-457F-BBA5-B63FB9E04849}"/>
              </a:ext>
            </a:extLst>
          </p:cNvPr>
          <p:cNvSpPr>
            <a:spLocks xmlns:a="http://schemas.openxmlformats.org/drawingml/2006/main" noGrp="1"/>
          </p:cNvSpPr>
          <p:nvPr/>
        </p:nvSpPr>
        <p:spPr>
          <a:xfrm xmlns:a="http://schemas.openxmlformats.org/drawingml/2006/main">
            <a:off x="609600" y="2428875"/>
            <a:ext cx="4000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Every save or update writes the complete assessment.</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Brand names stay unique in the database.</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The app stores scoring settings as well as brand records.</a:t>
            </a:r>
          </a:p>
          <a:p xmlns:a="http://schemas.openxmlformats.org/drawingml/2006/main">
            <a:pPr marL="228600" indent="-114300">
              <a:spcAft>
                <a:spcPts val="1200"/>
              </a:spcAft>
              <a:buChar char="•"/>
              <a:defRPr sz="1650">
                <a:solidFill>
                  <a:srgbClr val="152039"/>
                </a:solidFill>
                <a:latin typeface="Arial"/>
                <a:ea typeface="Arial"/>
                <a:cs typeface="Arial"/>
              </a:defRPr>
            </a:pPr>
            <a:r>
              <a:rPr sz="1650">
                <a:solidFill>
                  <a:srgbClr val="152039"/>
                </a:solidFill>
                <a:latin typeface="Arial"/>
                <a:ea typeface="Arial"/>
                <a:cs typeface="Arial"/>
              </a:rPr>
              <a:t>DB Browser for SQLite provides a direct read-only view.</a:t>
            </a:r>
          </a:p>
        </p:txBody>
      </p:sp>
      <p:sp>
        <p:nvSpPr>
          <p:cNvPr id="8" name="">
            <a:extLst xmlns:a="http://schemas.openxmlformats.org/drawingml/2006/main">
              <a:ext uri="{FF2B5EF4-FFF2-40B4-BE49-F238E27FC236}">
                <a16:creationId xmlns:a16="http://schemas.microsoft.com/office/drawing/2014/main" id="{B3588EA8-A840-4356-9AF5-8BD97FA97973}"/>
              </a:ext>
            </a:extLst>
          </p:cNvPr>
          <p:cNvSpPr>
            <a:spLocks xmlns:a="http://schemas.openxmlformats.org/drawingml/2006/main" noGrp="1"/>
          </p:cNvSpPr>
          <p:nvPr/>
        </p:nvSpPr>
        <p:spPr>
          <a:xfrm xmlns:a="http://schemas.openxmlformats.org/drawingml/2006/main">
            <a:off x="609600" y="54102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506BB4"/>
                </a:solidFill>
                <a:latin typeface="Arial"/>
                <a:ea typeface="Arial"/>
                <a:cs typeface="Arial"/>
              </a:defRPr>
            </a:pPr>
            <a:r>
              <a:rPr sz="1350" b="1">
                <a:solidFill>
                  <a:srgbClr val="506BB4"/>
                </a:solidFill>
                <a:latin typeface="Arial"/>
                <a:ea typeface="Arial"/>
                <a:cs typeface="Arial"/>
              </a:rPr>
              <a:t>Default file</a:t>
            </a:r>
          </a:p>
        </p:txBody>
      </p:sp>
      <p:sp>
        <p:nvSpPr>
          <p:cNvPr id="9" name="">
            <a:extLst xmlns:a="http://schemas.openxmlformats.org/drawingml/2006/main">
              <a:ext uri="{FF2B5EF4-FFF2-40B4-BE49-F238E27FC236}">
                <a16:creationId xmlns:a16="http://schemas.microsoft.com/office/drawing/2014/main" id="{D57A9E60-4F76-4003-8F25-8B44126EFB76}"/>
              </a:ext>
            </a:extLst>
          </p:cNvPr>
          <p:cNvSpPr>
            <a:spLocks xmlns:a="http://schemas.openxmlformats.org/drawingml/2006/main" noGrp="1"/>
          </p:cNvSpPr>
          <p:nvPr/>
        </p:nvSpPr>
        <p:spPr>
          <a:xfrm xmlns:a="http://schemas.openxmlformats.org/drawingml/2006/main">
            <a:off x="609600" y="57340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152039"/>
                </a:solidFill>
                <a:latin typeface="Arial"/>
                <a:ea typeface="Arial"/>
                <a:cs typeface="Arial"/>
              </a:defRPr>
            </a:pPr>
            <a:r>
              <a:rPr sz="1650" b="1">
                <a:solidFill>
                  <a:srgbClr val="152039"/>
                </a:solidFill>
                <a:latin typeface="Arial"/>
                <a:ea typeface="Arial"/>
                <a:cs typeface="Arial"/>
              </a:rPr>
              <a:t>data/brand_scorecard.db</a:t>
            </a:r>
          </a:p>
        </p:txBody>
      </p:sp>
      <p:sp>
        <p:nvSpPr>
          <p:cNvPr id="10" name="">
            <a:extLst xmlns:a="http://schemas.openxmlformats.org/drawingml/2006/main">
              <a:ext uri="{FF2B5EF4-FFF2-40B4-BE49-F238E27FC236}">
                <a16:creationId xmlns:a16="http://schemas.microsoft.com/office/drawing/2014/main" id="{D7D0A00B-FA5B-4FE0-BACE-B20FCEA05CC3}"/>
              </a:ext>
            </a:extLst>
          </p:cNvPr>
          <p:cNvSpPr>
            <a:spLocks xmlns:a="http://schemas.openxmlformats.org/drawingml/2006/main" noGrp="1"/>
          </p:cNvSpPr>
          <p:nvPr/>
        </p:nvSpPr>
        <p:spPr>
          <a:xfrm xmlns:a="http://schemas.openxmlformats.org/drawingml/2006/main">
            <a:off x="4857750" y="1381125"/>
            <a:ext cx="6772275"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81040741c4e4ea1"/>
          <a:stretch xmlns:a="http://schemas.openxmlformats.org/drawingml/2006/main"/>
        </p:blipFill>
        <p:spPr>
          <a:xfrm xmlns:a="http://schemas.openxmlformats.org/drawingml/2006/main">
            <a:off x="4905375" y="2123338"/>
            <a:ext cx="6677025" cy="3373325"/>
          </a:xfrm>
          <a:prstGeom xmlns:a="http://schemas.openxmlformats.org/drawingml/2006/main" prst="roundRect">
            <a:avLst>
              <a:gd name="adj" fmla="val 2400"/>
            </a:avLst>
          </a:prstGeom>
        </p:spPr>
      </p:pic>
    </p:spTree>
    <p:extLst>
      <p:ext uri="{BB962C8B-B14F-4D97-AF65-F5344CB8AC3E}">
        <p14:creationId xmlns:p14="http://schemas.microsoft.com/office/powerpoint/2010/main" val="9533514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120F0B3-9F24-4DE1-9C51-2451A732938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A7F3C6-2406-49BD-99E8-A7E895B3305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506BB4"/>
                </a:solidFill>
                <a:latin typeface="Arial"/>
                <a:ea typeface="Arial"/>
                <a:cs typeface="Arial"/>
              </a:defRPr>
            </a:pPr>
            <a:r>
              <a:rPr sz="1125" b="1">
                <a:solidFill>
                  <a:srgbClr val="506BB4"/>
                </a:solidFill>
                <a:latin typeface="Arial"/>
                <a:ea typeface="Arial"/>
                <a:cs typeface="Arial"/>
              </a:rPr>
              <a:t>DATA EXCHANGE</a:t>
            </a:r>
          </a:p>
        </p:txBody>
      </p:sp>
      <p:sp>
        <p:nvSpPr>
          <p:cNvPr id="3" name="">
            <a:extLst xmlns:a="http://schemas.openxmlformats.org/drawingml/2006/main">
              <a:ext uri="{FF2B5EF4-FFF2-40B4-BE49-F238E27FC236}">
                <a16:creationId xmlns:a16="http://schemas.microsoft.com/office/drawing/2014/main" id="{921AA722-7673-4DF5-A634-A5F4C1D6462D}"/>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541"/>
                </a:solidFill>
                <a:latin typeface="Arial"/>
                <a:ea typeface="Arial"/>
                <a:cs typeface="Arial"/>
              </a:defRPr>
            </a:pPr>
            <a:r>
              <a:rPr sz="3300" b="1">
                <a:solidFill>
                  <a:srgbClr val="182541"/>
                </a:solidFill>
                <a:latin typeface="Arial"/>
                <a:ea typeface="Arial"/>
                <a:cs typeface="Arial"/>
              </a:rPr>
              <a:t>Import and export</a:t>
            </a:r>
          </a:p>
        </p:txBody>
      </p:sp>
      <p:sp>
        <p:nvSpPr>
          <p:cNvPr id="4" name="">
            <a:extLst xmlns:a="http://schemas.openxmlformats.org/drawingml/2006/main">
              <a:ext uri="{FF2B5EF4-FFF2-40B4-BE49-F238E27FC236}">
                <a16:creationId xmlns:a16="http://schemas.microsoft.com/office/drawing/2014/main" id="{BFE755BB-B0CB-4FD4-872B-A154703C6F2B}"/>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DCCF43-AF27-4F63-B1EA-29513825C675}"/>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4748B"/>
                </a:solidFill>
                <a:latin typeface="Arial"/>
                <a:ea typeface="Arial"/>
                <a:cs typeface="Arial"/>
              </a:defRPr>
            </a:pPr>
            <a:r>
              <a:rPr sz="1050" b="0">
                <a:solidFill>
                  <a:srgbClr val="64748B"/>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87D76659-B963-4C0B-B58A-53BED5D6A55E}"/>
              </a:ext>
            </a:extLst>
          </p:cNvPr>
          <p:cNvSpPr>
            <a:spLocks xmlns:a="http://schemas.openxmlformats.org/drawingml/2006/main" noGrp="1"/>
          </p:cNvSpPr>
          <p:nvPr/>
        </p:nvSpPr>
        <p:spPr>
          <a:xfrm xmlns:a="http://schemas.openxmlformats.org/drawingml/2006/main">
            <a:off x="561975" y="1381125"/>
            <a:ext cx="7143750" cy="485775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DDE3ED"/>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6af56b7d9824ff8"/>
          <a:stretch xmlns:a="http://schemas.openxmlformats.org/drawingml/2006/main"/>
        </p:blipFill>
        <p:spPr>
          <a:xfrm xmlns:a="http://schemas.openxmlformats.org/drawingml/2006/main">
            <a:off x="609600" y="1717477"/>
            <a:ext cx="7048500" cy="4185047"/>
          </a:xfrm>
          <a:prstGeom xmlns:a="http://schemas.openxmlformats.org/drawingml/2006/main" prst="roundRect">
            <a:avLst/>
          </a:prstGeom>
        </p:spPr>
      </p:pic>
      <p:sp>
        <p:nvSpPr>
          <p:cNvPr id="8" name="">
            <a:extLst xmlns:a="http://schemas.openxmlformats.org/drawingml/2006/main">
              <a:ext uri="{FF2B5EF4-FFF2-40B4-BE49-F238E27FC236}">
                <a16:creationId xmlns:a16="http://schemas.microsoft.com/office/drawing/2014/main" id="{59C10ED4-A2DE-4852-98FA-54128F274793}"/>
              </a:ext>
            </a:extLst>
          </p:cNvPr>
          <p:cNvSpPr>
            <a:spLocks xmlns:a="http://schemas.openxmlformats.org/drawingml/2006/main" noGrp="1"/>
          </p:cNvSpPr>
          <p:nvPr/>
        </p:nvSpPr>
        <p:spPr>
          <a:xfrm xmlns:a="http://schemas.openxmlformats.org/drawingml/2006/main">
            <a:off x="8058150" y="15621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82541"/>
                </a:solidFill>
                <a:latin typeface="Arial"/>
                <a:ea typeface="Arial"/>
                <a:cs typeface="Arial"/>
              </a:defRPr>
            </a:pPr>
            <a:r>
              <a:rPr sz="2250" b="1">
                <a:solidFill>
                  <a:srgbClr val="182541"/>
                </a:solidFill>
                <a:latin typeface="Arial"/>
                <a:ea typeface="Arial"/>
                <a:cs typeface="Arial"/>
              </a:rPr>
              <a:t>A flexible daily workflow</a:t>
            </a:r>
          </a:p>
        </p:txBody>
      </p:sp>
      <p:sp>
        <p:nvSpPr>
          <p:cNvPr id="9" name="">
            <a:extLst xmlns:a="http://schemas.openxmlformats.org/drawingml/2006/main">
              <a:ext uri="{FF2B5EF4-FFF2-40B4-BE49-F238E27FC236}">
                <a16:creationId xmlns:a16="http://schemas.microsoft.com/office/drawing/2014/main" id="{25E93A0B-696F-4992-8D0F-BC4F6D71D095}"/>
              </a:ext>
            </a:extLst>
          </p:cNvPr>
          <p:cNvSpPr>
            <a:spLocks xmlns:a="http://schemas.openxmlformats.org/drawingml/2006/main" noGrp="1"/>
          </p:cNvSpPr>
          <p:nvPr/>
        </p:nvSpPr>
        <p:spPr>
          <a:xfrm xmlns:a="http://schemas.openxmlformats.org/drawingml/2006/main">
            <a:off x="8058150" y="23241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2C4694"/>
                </a:solidFill>
                <a:latin typeface="Arial"/>
                <a:ea typeface="Arial"/>
                <a:cs typeface="Arial"/>
              </a:defRPr>
            </a:pPr>
            <a:r>
              <a:rPr sz="2175" b="1">
                <a:solidFill>
                  <a:srgbClr val="2C4694"/>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3CEA87C8-4364-4127-B9CF-0A5ACD7EFD6F}"/>
              </a:ext>
            </a:extLst>
          </p:cNvPr>
          <p:cNvSpPr>
            <a:spLocks xmlns:a="http://schemas.openxmlformats.org/drawingml/2006/main" noGrp="1"/>
          </p:cNvSpPr>
          <p:nvPr/>
        </p:nvSpPr>
        <p:spPr>
          <a:xfrm xmlns:a="http://schemas.openxmlformats.org/drawingml/2006/main">
            <a:off x="859155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2039"/>
                </a:solidFill>
                <a:latin typeface="Arial"/>
                <a:ea typeface="Arial"/>
                <a:cs typeface="Arial"/>
              </a:defRPr>
            </a:pPr>
            <a:r>
              <a:rPr sz="1875" b="1">
                <a:solidFill>
                  <a:srgbClr val="152039"/>
                </a:solidFill>
                <a:latin typeface="Arial"/>
                <a:ea typeface="Arial"/>
                <a:cs typeface="Arial"/>
              </a:rPr>
              <a:t>Import</a:t>
            </a:r>
          </a:p>
        </p:txBody>
      </p:sp>
      <p:sp>
        <p:nvSpPr>
          <p:cNvPr id="11" name="">
            <a:extLst xmlns:a="http://schemas.openxmlformats.org/drawingml/2006/main">
              <a:ext uri="{FF2B5EF4-FFF2-40B4-BE49-F238E27FC236}">
                <a16:creationId xmlns:a16="http://schemas.microsoft.com/office/drawing/2014/main" id="{5DE6B1BF-F4DC-4EBA-94CA-6ECACFD044A4}"/>
              </a:ext>
            </a:extLst>
          </p:cNvPr>
          <p:cNvSpPr>
            <a:spLocks xmlns:a="http://schemas.openxmlformats.org/drawingml/2006/main" noGrp="1"/>
          </p:cNvSpPr>
          <p:nvPr/>
        </p:nvSpPr>
        <p:spPr>
          <a:xfrm xmlns:a="http://schemas.openxmlformats.org/drawingml/2006/main">
            <a:off x="8591550" y="2667000"/>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4748B"/>
                </a:solidFill>
                <a:latin typeface="Arial"/>
                <a:ea typeface="Arial"/>
                <a:cs typeface="Arial"/>
              </a:defRPr>
            </a:pPr>
            <a:r>
              <a:rPr sz="1425" b="0">
                <a:solidFill>
                  <a:srgbClr val="64748B"/>
                </a:solidFill>
                <a:latin typeface="Arial"/>
                <a:ea typeface="Arial"/>
                <a:cs typeface="Arial"/>
              </a:rPr>
              <a:t>Load historical or batch data from CSV or Excel.</a:t>
            </a:r>
          </a:p>
        </p:txBody>
      </p:sp>
      <p:sp>
        <p:nvSpPr>
          <p:cNvPr id="12" name="">
            <a:extLst xmlns:a="http://schemas.openxmlformats.org/drawingml/2006/main">
              <a:ext uri="{FF2B5EF4-FFF2-40B4-BE49-F238E27FC236}">
                <a16:creationId xmlns:a16="http://schemas.microsoft.com/office/drawing/2014/main" id="{6221444E-F530-4142-A5B5-EBC1D72768C3}"/>
              </a:ext>
            </a:extLst>
          </p:cNvPr>
          <p:cNvSpPr>
            <a:spLocks xmlns:a="http://schemas.openxmlformats.org/drawingml/2006/main" noGrp="1"/>
          </p:cNvSpPr>
          <p:nvPr/>
        </p:nvSpPr>
        <p:spPr>
          <a:xfrm xmlns:a="http://schemas.openxmlformats.org/drawingml/2006/main">
            <a:off x="8058150" y="33909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2C4694"/>
                </a:solidFill>
                <a:latin typeface="Arial"/>
                <a:ea typeface="Arial"/>
                <a:cs typeface="Arial"/>
              </a:defRPr>
            </a:pPr>
            <a:r>
              <a:rPr sz="2175" b="1">
                <a:solidFill>
                  <a:srgbClr val="2C4694"/>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732B7D4A-3939-4B9C-9F59-D45C4F2AE4D1}"/>
              </a:ext>
            </a:extLst>
          </p:cNvPr>
          <p:cNvSpPr>
            <a:spLocks xmlns:a="http://schemas.openxmlformats.org/drawingml/2006/main" noGrp="1"/>
          </p:cNvSpPr>
          <p:nvPr/>
        </p:nvSpPr>
        <p:spPr>
          <a:xfrm xmlns:a="http://schemas.openxmlformats.org/drawingml/2006/main">
            <a:off x="8591550" y="33909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2039"/>
                </a:solidFill>
                <a:latin typeface="Arial"/>
                <a:ea typeface="Arial"/>
                <a:cs typeface="Arial"/>
              </a:defRPr>
            </a:pPr>
            <a:r>
              <a:rPr sz="1875" b="1">
                <a:solidFill>
                  <a:srgbClr val="152039"/>
                </a:solidFill>
                <a:latin typeface="Arial"/>
                <a:ea typeface="Arial"/>
                <a:cs typeface="Arial"/>
              </a:rPr>
              <a:t>Work</a:t>
            </a:r>
          </a:p>
        </p:txBody>
      </p:sp>
      <p:sp>
        <p:nvSpPr>
          <p:cNvPr id="14" name="">
            <a:extLst xmlns:a="http://schemas.openxmlformats.org/drawingml/2006/main">
              <a:ext uri="{FF2B5EF4-FFF2-40B4-BE49-F238E27FC236}">
                <a16:creationId xmlns:a16="http://schemas.microsoft.com/office/drawing/2014/main" id="{711F0A09-E4A4-4F60-B442-269F31EFD9FF}"/>
              </a:ext>
            </a:extLst>
          </p:cNvPr>
          <p:cNvSpPr>
            <a:spLocks xmlns:a="http://schemas.openxmlformats.org/drawingml/2006/main" noGrp="1"/>
          </p:cNvSpPr>
          <p:nvPr/>
        </p:nvSpPr>
        <p:spPr>
          <a:xfrm xmlns:a="http://schemas.openxmlformats.org/drawingml/2006/main">
            <a:off x="8591550" y="3733800"/>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4748B"/>
                </a:solidFill>
                <a:latin typeface="Arial"/>
                <a:ea typeface="Arial"/>
                <a:cs typeface="Arial"/>
              </a:defRPr>
            </a:pPr>
            <a:r>
              <a:rPr sz="1425" b="0">
                <a:solidFill>
                  <a:srgbClr val="64748B"/>
                </a:solidFill>
                <a:latin typeface="Arial"/>
                <a:ea typeface="Arial"/>
                <a:cs typeface="Arial"/>
              </a:rPr>
              <a:t>Review and update brands in the application.</a:t>
            </a:r>
          </a:p>
        </p:txBody>
      </p:sp>
      <p:sp>
        <p:nvSpPr>
          <p:cNvPr id="15" name="">
            <a:extLst xmlns:a="http://schemas.openxmlformats.org/drawingml/2006/main">
              <a:ext uri="{FF2B5EF4-FFF2-40B4-BE49-F238E27FC236}">
                <a16:creationId xmlns:a16="http://schemas.microsoft.com/office/drawing/2014/main" id="{2DE976ED-6958-4CB4-951D-D86F9B3D7704}"/>
              </a:ext>
            </a:extLst>
          </p:cNvPr>
          <p:cNvSpPr>
            <a:spLocks xmlns:a="http://schemas.openxmlformats.org/drawingml/2006/main" noGrp="1"/>
          </p:cNvSpPr>
          <p:nvPr/>
        </p:nvSpPr>
        <p:spPr>
          <a:xfrm xmlns:a="http://schemas.openxmlformats.org/drawingml/2006/main">
            <a:off x="8058150" y="4457700"/>
            <a:ext cx="400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2C4694"/>
                </a:solidFill>
                <a:latin typeface="Arial"/>
                <a:ea typeface="Arial"/>
                <a:cs typeface="Arial"/>
              </a:defRPr>
            </a:pPr>
            <a:r>
              <a:rPr sz="2175" b="1">
                <a:solidFill>
                  <a:srgbClr val="2C4694"/>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05F66D49-2A61-425F-B44A-CF64A49F4809}"/>
              </a:ext>
            </a:extLst>
          </p:cNvPr>
          <p:cNvSpPr>
            <a:spLocks xmlns:a="http://schemas.openxmlformats.org/drawingml/2006/main" noGrp="1"/>
          </p:cNvSpPr>
          <p:nvPr/>
        </p:nvSpPr>
        <p:spPr>
          <a:xfrm xmlns:a="http://schemas.openxmlformats.org/drawingml/2006/main">
            <a:off x="8591550" y="4457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2039"/>
                </a:solidFill>
                <a:latin typeface="Arial"/>
                <a:ea typeface="Arial"/>
                <a:cs typeface="Arial"/>
              </a:defRPr>
            </a:pPr>
            <a:r>
              <a:rPr sz="1875" b="1">
                <a:solidFill>
                  <a:srgbClr val="152039"/>
                </a:solidFill>
                <a:latin typeface="Arial"/>
                <a:ea typeface="Arial"/>
                <a:cs typeface="Arial"/>
              </a:rPr>
              <a:t>Export</a:t>
            </a:r>
          </a:p>
        </p:txBody>
      </p:sp>
      <p:sp>
        <p:nvSpPr>
          <p:cNvPr id="17" name="">
            <a:extLst xmlns:a="http://schemas.openxmlformats.org/drawingml/2006/main">
              <a:ext uri="{FF2B5EF4-FFF2-40B4-BE49-F238E27FC236}">
                <a16:creationId xmlns:a16="http://schemas.microsoft.com/office/drawing/2014/main" id="{96D54C48-F7DC-4BF1-94A9-E4AFADF583B7}"/>
              </a:ext>
            </a:extLst>
          </p:cNvPr>
          <p:cNvSpPr>
            <a:spLocks xmlns:a="http://schemas.openxmlformats.org/drawingml/2006/main" noGrp="1"/>
          </p:cNvSpPr>
          <p:nvPr/>
        </p:nvSpPr>
        <p:spPr>
          <a:xfrm xmlns:a="http://schemas.openxmlformats.org/drawingml/2006/main">
            <a:off x="8591550" y="4800600"/>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64748B"/>
                </a:solidFill>
                <a:latin typeface="Arial"/>
                <a:ea typeface="Arial"/>
                <a:cs typeface="Arial"/>
              </a:defRPr>
            </a:pPr>
            <a:r>
              <a:rPr sz="1425" b="0">
                <a:solidFill>
                  <a:srgbClr val="64748B"/>
                </a:solidFill>
                <a:latin typeface="Arial"/>
                <a:ea typeface="Arial"/>
                <a:cs typeface="Arial"/>
              </a:rPr>
              <a:t>Create a CSV extract or a complete Excel review pack.</a:t>
            </a:r>
          </a:p>
        </p:txBody>
      </p:sp>
      <p:sp>
        <p:nvSpPr>
          <p:cNvPr id="18" name="">
            <a:extLst xmlns:a="http://schemas.openxmlformats.org/drawingml/2006/main">
              <a:ext uri="{FF2B5EF4-FFF2-40B4-BE49-F238E27FC236}">
                <a16:creationId xmlns:a16="http://schemas.microsoft.com/office/drawing/2014/main" id="{14BDA7EA-04FE-499C-AE9F-F0D2EC9308B1}"/>
              </a:ext>
            </a:extLst>
          </p:cNvPr>
          <p:cNvSpPr>
            <a:spLocks xmlns:a="http://schemas.openxmlformats.org/drawingml/2006/main" noGrp="1"/>
          </p:cNvSpPr>
          <p:nvPr/>
        </p:nvSpPr>
        <p:spPr>
          <a:xfrm xmlns:a="http://schemas.openxmlformats.org/drawingml/2006/main">
            <a:off x="8058150" y="567690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6856A"/>
                </a:solidFill>
                <a:latin typeface="Arial"/>
                <a:ea typeface="Arial"/>
                <a:cs typeface="Arial"/>
              </a:defRPr>
            </a:pPr>
            <a:r>
              <a:rPr sz="1500" b="1">
                <a:solidFill>
                  <a:srgbClr val="16856A"/>
                </a:solidFill>
                <a:latin typeface="Arial"/>
                <a:ea typeface="Arial"/>
                <a:cs typeface="Arial"/>
              </a:rPr>
              <a:t>The database remains the main source between imports and exports.</a:t>
            </a:r>
          </a:p>
        </p:txBody>
      </p:sp>
    </p:spTree>
    <p:extLst>
      <p:ext uri="{BB962C8B-B14F-4D97-AF65-F5344CB8AC3E}">
        <p14:creationId xmlns:p14="http://schemas.microsoft.com/office/powerpoint/2010/main" val="1235949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26C687E-6B1E-4930-9154-7C7A9BFC6B7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C469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232292-81C0-4530-A591-74E337D7AA9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506BB4"/>
                </a:solidFill>
                <a:latin typeface="Arial"/>
                <a:ea typeface="Arial"/>
                <a:cs typeface="Arial"/>
              </a:defRPr>
            </a:pPr>
            <a:r>
              <a:rPr sz="1125" b="1">
                <a:solidFill>
                  <a:srgbClr val="506BB4"/>
                </a:solidFill>
                <a:latin typeface="Arial"/>
                <a:ea typeface="Arial"/>
                <a:cs typeface="Arial"/>
              </a:rPr>
              <a:t>GOVERNANCE</a:t>
            </a:r>
          </a:p>
        </p:txBody>
      </p:sp>
      <p:sp>
        <p:nvSpPr>
          <p:cNvPr id="3" name="">
            <a:extLst xmlns:a="http://schemas.openxmlformats.org/drawingml/2006/main">
              <a:ext uri="{FF2B5EF4-FFF2-40B4-BE49-F238E27FC236}">
                <a16:creationId xmlns:a16="http://schemas.microsoft.com/office/drawing/2014/main" id="{4525C947-6432-4BAA-B872-428A4D27ED5B}"/>
              </a:ext>
            </a:extLst>
          </p:cNvPr>
          <p:cNvSpPr>
            <a:spLocks xmlns:a="http://schemas.openxmlformats.org/drawingml/2006/main" noGrp="1"/>
          </p:cNvSpPr>
          <p:nvPr/>
        </p:nvSpPr>
        <p:spPr>
          <a:xfrm xmlns:a="http://schemas.openxmlformats.org/drawingml/2006/main">
            <a:off x="609600" y="60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82541"/>
                </a:solidFill>
                <a:latin typeface="Arial"/>
                <a:ea typeface="Arial"/>
                <a:cs typeface="Arial"/>
              </a:defRPr>
            </a:pPr>
            <a:r>
              <a:rPr sz="3300" b="1">
                <a:solidFill>
                  <a:srgbClr val="182541"/>
                </a:solidFill>
                <a:latin typeface="Arial"/>
                <a:ea typeface="Arial"/>
                <a:cs typeface="Arial"/>
              </a:rPr>
              <a:t>Controls and data safety</a:t>
            </a:r>
          </a:p>
        </p:txBody>
      </p:sp>
      <p:sp>
        <p:nvSpPr>
          <p:cNvPr id="4" name="">
            <a:extLst xmlns:a="http://schemas.openxmlformats.org/drawingml/2006/main">
              <a:ext uri="{FF2B5EF4-FFF2-40B4-BE49-F238E27FC236}">
                <a16:creationId xmlns:a16="http://schemas.microsoft.com/office/drawing/2014/main" id="{E527FF34-3DFF-49B7-A3E5-18498D8361A2}"/>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BAC828-FA9D-4A7C-B088-FE536C9D41DC}"/>
              </a:ext>
            </a:extLst>
          </p:cNvPr>
          <p:cNvSpPr>
            <a:spLocks xmlns:a="http://schemas.openxmlformats.org/drawingml/2006/main" noGrp="1"/>
          </p:cNvSpPr>
          <p:nvPr/>
        </p:nvSpPr>
        <p:spPr>
          <a:xfrm xmlns:a="http://schemas.openxmlformats.org/drawingml/2006/main">
            <a:off x="11144250" y="6381750"/>
            <a:ext cx="438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64748B"/>
                </a:solidFill>
                <a:latin typeface="Arial"/>
                <a:ea typeface="Arial"/>
                <a:cs typeface="Arial"/>
              </a:defRPr>
            </a:pPr>
            <a:r>
              <a:rPr sz="1050" b="0">
                <a:solidFill>
                  <a:srgbClr val="64748B"/>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57B8B05F-9F50-469F-A3AA-F0147E7C5397}"/>
              </a:ext>
            </a:extLst>
          </p:cNvPr>
          <p:cNvSpPr>
            <a:spLocks xmlns:a="http://schemas.openxmlformats.org/drawingml/2006/main" noGrp="1"/>
          </p:cNvSpPr>
          <p:nvPr/>
        </p:nvSpPr>
        <p:spPr>
          <a:xfrm xmlns:a="http://schemas.openxmlformats.org/drawingml/2006/main">
            <a:off x="742950" y="16668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06BB4"/>
                </a:solidFill>
                <a:latin typeface="Arial"/>
                <a:ea typeface="Arial"/>
                <a:cs typeface="Arial"/>
              </a:defRPr>
            </a:pPr>
            <a:r>
              <a:rPr sz="1200" b="1">
                <a:solidFill>
                  <a:srgbClr val="506BB4"/>
                </a:solidFill>
                <a:latin typeface="Arial"/>
                <a:ea typeface="Arial"/>
                <a:cs typeface="Arial"/>
              </a:rPr>
              <a:t>SAVE</a:t>
            </a:r>
          </a:p>
        </p:txBody>
      </p:sp>
      <p:sp>
        <p:nvSpPr>
          <p:cNvPr id="7" name="">
            <a:extLst xmlns:a="http://schemas.openxmlformats.org/drawingml/2006/main">
              <a:ext uri="{FF2B5EF4-FFF2-40B4-BE49-F238E27FC236}">
                <a16:creationId xmlns:a16="http://schemas.microsoft.com/office/drawing/2014/main" id="{C88D3F29-4214-4BBC-B428-3E4220CA97E8}"/>
              </a:ext>
            </a:extLst>
          </p:cNvPr>
          <p:cNvSpPr>
            <a:spLocks xmlns:a="http://schemas.openxmlformats.org/drawingml/2006/main" noGrp="1"/>
          </p:cNvSpPr>
          <p:nvPr/>
        </p:nvSpPr>
        <p:spPr>
          <a:xfrm xmlns:a="http://schemas.openxmlformats.org/drawingml/2006/main">
            <a:off x="742950" y="20288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82541"/>
                </a:solidFill>
                <a:latin typeface="Arial"/>
                <a:ea typeface="Arial"/>
                <a:cs typeface="Arial"/>
              </a:defRPr>
            </a:pPr>
            <a:r>
              <a:rPr sz="2175" b="1">
                <a:solidFill>
                  <a:srgbClr val="182541"/>
                </a:solidFill>
                <a:latin typeface="Arial"/>
                <a:ea typeface="Arial"/>
                <a:cs typeface="Arial"/>
              </a:rPr>
              <a:t>Automatic persistence</a:t>
            </a:r>
          </a:p>
        </p:txBody>
      </p:sp>
      <p:sp>
        <p:nvSpPr>
          <p:cNvPr id="8" name="">
            <a:extLst xmlns:a="http://schemas.openxmlformats.org/drawingml/2006/main">
              <a:ext uri="{FF2B5EF4-FFF2-40B4-BE49-F238E27FC236}">
                <a16:creationId xmlns:a16="http://schemas.microsoft.com/office/drawing/2014/main" id="{B9502A43-9383-41A5-B7E5-A4298844757B}"/>
              </a:ext>
            </a:extLst>
          </p:cNvPr>
          <p:cNvSpPr>
            <a:spLocks xmlns:a="http://schemas.openxmlformats.org/drawingml/2006/main" noGrp="1"/>
          </p:cNvSpPr>
          <p:nvPr/>
        </p:nvSpPr>
        <p:spPr>
          <a:xfrm xmlns:a="http://schemas.openxmlformats.org/drawingml/2006/main">
            <a:off x="742950" y="2524125"/>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4748B"/>
                </a:solidFill>
                <a:latin typeface="Arial"/>
                <a:ea typeface="Arial"/>
                <a:cs typeface="Arial"/>
              </a:defRPr>
            </a:pPr>
            <a:r>
              <a:rPr sz="1575" b="0">
                <a:solidFill>
                  <a:srgbClr val="64748B"/>
                </a:solidFill>
                <a:latin typeface="Arial"/>
                <a:ea typeface="Arial"/>
                <a:cs typeface="Arial"/>
              </a:rPr>
              <a:t>Saved assessments remain available after the application closes.</a:t>
            </a:r>
          </a:p>
        </p:txBody>
      </p:sp>
      <p:sp>
        <p:nvSpPr>
          <p:cNvPr id="9" name="">
            <a:extLst xmlns:a="http://schemas.openxmlformats.org/drawingml/2006/main">
              <a:ext uri="{FF2B5EF4-FFF2-40B4-BE49-F238E27FC236}">
                <a16:creationId xmlns:a16="http://schemas.microsoft.com/office/drawing/2014/main" id="{90F14F9D-9FA9-42A6-9697-F16131785215}"/>
              </a:ext>
            </a:extLst>
          </p:cNvPr>
          <p:cNvSpPr>
            <a:spLocks xmlns:a="http://schemas.openxmlformats.org/drawingml/2006/main" noGrp="1"/>
          </p:cNvSpPr>
          <p:nvPr/>
        </p:nvSpPr>
        <p:spPr>
          <a:xfrm xmlns:a="http://schemas.openxmlformats.org/drawingml/2006/main">
            <a:off x="5857875" y="1666875"/>
            <a:ext cx="19050" cy="14287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6589A71-C4E2-4264-B0E8-73EB5D92DE2D}"/>
              </a:ext>
            </a:extLst>
          </p:cNvPr>
          <p:cNvSpPr>
            <a:spLocks xmlns:a="http://schemas.openxmlformats.org/drawingml/2006/main" noGrp="1"/>
          </p:cNvSpPr>
          <p:nvPr/>
        </p:nvSpPr>
        <p:spPr>
          <a:xfrm xmlns:a="http://schemas.openxmlformats.org/drawingml/2006/main">
            <a:off x="6172200" y="16668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06BB4"/>
                </a:solidFill>
                <a:latin typeface="Arial"/>
                <a:ea typeface="Arial"/>
                <a:cs typeface="Arial"/>
              </a:defRPr>
            </a:pPr>
            <a:r>
              <a:rPr sz="1200" b="1">
                <a:solidFill>
                  <a:srgbClr val="506BB4"/>
                </a:solidFill>
                <a:latin typeface="Arial"/>
                <a:ea typeface="Arial"/>
                <a:cs typeface="Arial"/>
              </a:rPr>
              <a:t>UPDATE</a:t>
            </a:r>
          </a:p>
        </p:txBody>
      </p:sp>
      <p:sp>
        <p:nvSpPr>
          <p:cNvPr id="11" name="">
            <a:extLst xmlns:a="http://schemas.openxmlformats.org/drawingml/2006/main">
              <a:ext uri="{FF2B5EF4-FFF2-40B4-BE49-F238E27FC236}">
                <a16:creationId xmlns:a16="http://schemas.microsoft.com/office/drawing/2014/main" id="{2CC002E8-04FF-4E2B-A3AD-2940C32B39BF}"/>
              </a:ext>
            </a:extLst>
          </p:cNvPr>
          <p:cNvSpPr>
            <a:spLocks xmlns:a="http://schemas.openxmlformats.org/drawingml/2006/main" noGrp="1"/>
          </p:cNvSpPr>
          <p:nvPr/>
        </p:nvSpPr>
        <p:spPr>
          <a:xfrm xmlns:a="http://schemas.openxmlformats.org/drawingml/2006/main">
            <a:off x="6172200" y="20288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82541"/>
                </a:solidFill>
                <a:latin typeface="Arial"/>
                <a:ea typeface="Arial"/>
                <a:cs typeface="Arial"/>
              </a:defRPr>
            </a:pPr>
            <a:r>
              <a:rPr sz="2175" b="1">
                <a:solidFill>
                  <a:srgbClr val="182541"/>
                </a:solidFill>
                <a:latin typeface="Arial"/>
                <a:ea typeface="Arial"/>
                <a:cs typeface="Arial"/>
              </a:rPr>
              <a:t>Controlled changes</a:t>
            </a:r>
          </a:p>
        </p:txBody>
      </p:sp>
      <p:sp>
        <p:nvSpPr>
          <p:cNvPr id="12" name="">
            <a:extLst xmlns:a="http://schemas.openxmlformats.org/drawingml/2006/main">
              <a:ext uri="{FF2B5EF4-FFF2-40B4-BE49-F238E27FC236}">
                <a16:creationId xmlns:a16="http://schemas.microsoft.com/office/drawing/2014/main" id="{1B667425-8EF8-490A-AFD7-EFB3B306419C}"/>
              </a:ext>
            </a:extLst>
          </p:cNvPr>
          <p:cNvSpPr>
            <a:spLocks xmlns:a="http://schemas.openxmlformats.org/drawingml/2006/main" noGrp="1"/>
          </p:cNvSpPr>
          <p:nvPr/>
        </p:nvSpPr>
        <p:spPr>
          <a:xfrm xmlns:a="http://schemas.openxmlformats.org/drawingml/2006/main">
            <a:off x="6172200" y="2524125"/>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4748B"/>
                </a:solidFill>
                <a:latin typeface="Arial"/>
                <a:ea typeface="Arial"/>
                <a:cs typeface="Arial"/>
              </a:defRPr>
            </a:pPr>
            <a:r>
              <a:rPr sz="1575" b="0">
                <a:solidFill>
                  <a:srgbClr val="64748B"/>
                </a:solidFill>
                <a:latin typeface="Arial"/>
                <a:ea typeface="Arial"/>
                <a:cs typeface="Arial"/>
              </a:rPr>
              <a:t>Existing brands can be edited without creating duplicate records.</a:t>
            </a:r>
          </a:p>
        </p:txBody>
      </p:sp>
      <p:sp>
        <p:nvSpPr>
          <p:cNvPr id="13" name="">
            <a:extLst xmlns:a="http://schemas.openxmlformats.org/drawingml/2006/main">
              <a:ext uri="{FF2B5EF4-FFF2-40B4-BE49-F238E27FC236}">
                <a16:creationId xmlns:a16="http://schemas.microsoft.com/office/drawing/2014/main" id="{6F589C9A-FCA4-47E5-BAC9-1E85A1D8D4CA}"/>
              </a:ext>
            </a:extLst>
          </p:cNvPr>
          <p:cNvSpPr>
            <a:spLocks xmlns:a="http://schemas.openxmlformats.org/drawingml/2006/main" noGrp="1"/>
          </p:cNvSpPr>
          <p:nvPr/>
        </p:nvSpPr>
        <p:spPr>
          <a:xfrm xmlns:a="http://schemas.openxmlformats.org/drawingml/2006/main">
            <a:off x="742950" y="37147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C34343"/>
                </a:solidFill>
                <a:latin typeface="Arial"/>
                <a:ea typeface="Arial"/>
                <a:cs typeface="Arial"/>
              </a:defRPr>
            </a:pPr>
            <a:r>
              <a:rPr sz="1200" b="1">
                <a:solidFill>
                  <a:srgbClr val="C34343"/>
                </a:solidFill>
                <a:latin typeface="Arial"/>
                <a:ea typeface="Arial"/>
                <a:cs typeface="Arial"/>
              </a:rPr>
              <a:t>DELETE</a:t>
            </a:r>
          </a:p>
        </p:txBody>
      </p:sp>
      <p:sp>
        <p:nvSpPr>
          <p:cNvPr id="14" name="">
            <a:extLst xmlns:a="http://schemas.openxmlformats.org/drawingml/2006/main">
              <a:ext uri="{FF2B5EF4-FFF2-40B4-BE49-F238E27FC236}">
                <a16:creationId xmlns:a16="http://schemas.microsoft.com/office/drawing/2014/main" id="{A33DA446-6C46-4501-85AF-FCA2472CBB37}"/>
              </a:ext>
            </a:extLst>
          </p:cNvPr>
          <p:cNvSpPr>
            <a:spLocks xmlns:a="http://schemas.openxmlformats.org/drawingml/2006/main" noGrp="1"/>
          </p:cNvSpPr>
          <p:nvPr/>
        </p:nvSpPr>
        <p:spPr>
          <a:xfrm xmlns:a="http://schemas.openxmlformats.org/drawingml/2006/main">
            <a:off x="742950" y="40767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82541"/>
                </a:solidFill>
                <a:latin typeface="Arial"/>
                <a:ea typeface="Arial"/>
                <a:cs typeface="Arial"/>
              </a:defRPr>
            </a:pPr>
            <a:r>
              <a:rPr sz="2175" b="1">
                <a:solidFill>
                  <a:srgbClr val="182541"/>
                </a:solidFill>
                <a:latin typeface="Arial"/>
                <a:ea typeface="Arial"/>
                <a:cs typeface="Arial"/>
              </a:rPr>
              <a:t>Explicit confirmation</a:t>
            </a:r>
          </a:p>
        </p:txBody>
      </p:sp>
      <p:sp>
        <p:nvSpPr>
          <p:cNvPr id="15" name="">
            <a:extLst xmlns:a="http://schemas.openxmlformats.org/drawingml/2006/main">
              <a:ext uri="{FF2B5EF4-FFF2-40B4-BE49-F238E27FC236}">
                <a16:creationId xmlns:a16="http://schemas.microsoft.com/office/drawing/2014/main" id="{8C78B696-A08E-42CF-AFC2-85BF279E45FA}"/>
              </a:ext>
            </a:extLst>
          </p:cNvPr>
          <p:cNvSpPr>
            <a:spLocks xmlns:a="http://schemas.openxmlformats.org/drawingml/2006/main" noGrp="1"/>
          </p:cNvSpPr>
          <p:nvPr/>
        </p:nvSpPr>
        <p:spPr>
          <a:xfrm xmlns:a="http://schemas.openxmlformats.org/drawingml/2006/main">
            <a:off x="742950" y="457200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4748B"/>
                </a:solidFill>
                <a:latin typeface="Arial"/>
                <a:ea typeface="Arial"/>
                <a:cs typeface="Arial"/>
              </a:defRPr>
            </a:pPr>
            <a:r>
              <a:rPr sz="1575" b="0">
                <a:solidFill>
                  <a:srgbClr val="64748B"/>
                </a:solidFill>
                <a:latin typeface="Arial"/>
                <a:ea typeface="Arial"/>
                <a:cs typeface="Arial"/>
              </a:rPr>
              <a:t>The delete button stays disabled until the user confirms the action.</a:t>
            </a:r>
          </a:p>
        </p:txBody>
      </p:sp>
      <p:sp>
        <p:nvSpPr>
          <p:cNvPr id="16" name="">
            <a:extLst xmlns:a="http://schemas.openxmlformats.org/drawingml/2006/main">
              <a:ext uri="{FF2B5EF4-FFF2-40B4-BE49-F238E27FC236}">
                <a16:creationId xmlns:a16="http://schemas.microsoft.com/office/drawing/2014/main" id="{35BB755B-3CB4-4A1C-9792-C821A6458677}"/>
              </a:ext>
            </a:extLst>
          </p:cNvPr>
          <p:cNvSpPr>
            <a:spLocks xmlns:a="http://schemas.openxmlformats.org/drawingml/2006/main" noGrp="1"/>
          </p:cNvSpPr>
          <p:nvPr/>
        </p:nvSpPr>
        <p:spPr>
          <a:xfrm xmlns:a="http://schemas.openxmlformats.org/drawingml/2006/main">
            <a:off x="5857875" y="3714750"/>
            <a:ext cx="19050" cy="1428750"/>
          </a:xfrm>
          <a:prstGeom xmlns:a="http://schemas.openxmlformats.org/drawingml/2006/main" prst="rect">
            <a:avLst/>
          </a:prstGeom>
          <a:solidFill xmlns:a="http://schemas.openxmlformats.org/drawingml/2006/main">
            <a:srgbClr val="DDE3E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12AEF13-E6C9-4A83-BF56-761154EA7AF7}"/>
              </a:ext>
            </a:extLst>
          </p:cNvPr>
          <p:cNvSpPr>
            <a:spLocks xmlns:a="http://schemas.openxmlformats.org/drawingml/2006/main" noGrp="1"/>
          </p:cNvSpPr>
          <p:nvPr/>
        </p:nvSpPr>
        <p:spPr>
          <a:xfrm xmlns:a="http://schemas.openxmlformats.org/drawingml/2006/main">
            <a:off x="6172200" y="37147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06BB4"/>
                </a:solidFill>
                <a:latin typeface="Arial"/>
                <a:ea typeface="Arial"/>
                <a:cs typeface="Arial"/>
              </a:defRPr>
            </a:pPr>
            <a:r>
              <a:rPr sz="1200" b="1">
                <a:solidFill>
                  <a:srgbClr val="506BB4"/>
                </a:solidFill>
                <a:latin typeface="Arial"/>
                <a:ea typeface="Arial"/>
                <a:cs typeface="Arial"/>
              </a:rPr>
              <a:t>BACKUP</a:t>
            </a:r>
          </a:p>
        </p:txBody>
      </p:sp>
      <p:sp>
        <p:nvSpPr>
          <p:cNvPr id="18" name="">
            <a:extLst xmlns:a="http://schemas.openxmlformats.org/drawingml/2006/main">
              <a:ext uri="{FF2B5EF4-FFF2-40B4-BE49-F238E27FC236}">
                <a16:creationId xmlns:a16="http://schemas.microsoft.com/office/drawing/2014/main" id="{79977CA0-94D1-47DB-A136-AA6DF8E41E0F}"/>
              </a:ext>
            </a:extLst>
          </p:cNvPr>
          <p:cNvSpPr>
            <a:spLocks xmlns:a="http://schemas.openxmlformats.org/drawingml/2006/main" noGrp="1"/>
          </p:cNvSpPr>
          <p:nvPr/>
        </p:nvSpPr>
        <p:spPr>
          <a:xfrm xmlns:a="http://schemas.openxmlformats.org/drawingml/2006/main">
            <a:off x="6172200" y="40767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82541"/>
                </a:solidFill>
                <a:latin typeface="Arial"/>
                <a:ea typeface="Arial"/>
                <a:cs typeface="Arial"/>
              </a:defRPr>
            </a:pPr>
            <a:r>
              <a:rPr sz="2175" b="1">
                <a:solidFill>
                  <a:srgbClr val="182541"/>
                </a:solidFill>
                <a:latin typeface="Arial"/>
                <a:ea typeface="Arial"/>
                <a:cs typeface="Arial"/>
              </a:rPr>
              <a:t>Portable outputs</a:t>
            </a:r>
          </a:p>
        </p:txBody>
      </p:sp>
      <p:sp>
        <p:nvSpPr>
          <p:cNvPr id="19" name="">
            <a:extLst xmlns:a="http://schemas.openxmlformats.org/drawingml/2006/main">
              <a:ext uri="{FF2B5EF4-FFF2-40B4-BE49-F238E27FC236}">
                <a16:creationId xmlns:a16="http://schemas.microsoft.com/office/drawing/2014/main" id="{EDC97ADA-4250-4CE7-9829-46446AD5C9B6}"/>
              </a:ext>
            </a:extLst>
          </p:cNvPr>
          <p:cNvSpPr>
            <a:spLocks xmlns:a="http://schemas.openxmlformats.org/drawingml/2006/main" noGrp="1"/>
          </p:cNvSpPr>
          <p:nvPr/>
        </p:nvSpPr>
        <p:spPr>
          <a:xfrm xmlns:a="http://schemas.openxmlformats.org/drawingml/2006/main">
            <a:off x="6172200" y="4572000"/>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4748B"/>
                </a:solidFill>
                <a:latin typeface="Arial"/>
                <a:ea typeface="Arial"/>
                <a:cs typeface="Arial"/>
              </a:defRPr>
            </a:pPr>
            <a:r>
              <a:rPr sz="1575" b="0">
                <a:solidFill>
                  <a:srgbClr val="64748B"/>
                </a:solidFill>
                <a:latin typeface="Arial"/>
                <a:ea typeface="Arial"/>
                <a:cs typeface="Arial"/>
              </a:rPr>
              <a:t>CSV and Excel exports support reviews and backup routines.</a:t>
            </a:r>
          </a:p>
        </p:txBody>
      </p:sp>
      <p:sp>
        <p:nvSpPr>
          <p:cNvPr id="20" name="">
            <a:extLst xmlns:a="http://schemas.openxmlformats.org/drawingml/2006/main">
              <a:ext uri="{FF2B5EF4-FFF2-40B4-BE49-F238E27FC236}">
                <a16:creationId xmlns:a16="http://schemas.microsoft.com/office/drawing/2014/main" id="{474E13F8-4C8D-4A01-B9EE-37A9A704A402}"/>
              </a:ext>
            </a:extLst>
          </p:cNvPr>
          <p:cNvSpPr>
            <a:spLocks xmlns:a="http://schemas.openxmlformats.org/drawingml/2006/main" noGrp="1"/>
          </p:cNvSpPr>
          <p:nvPr/>
        </p:nvSpPr>
        <p:spPr>
          <a:xfrm xmlns:a="http://schemas.openxmlformats.org/drawingml/2006/main">
            <a:off x="1524000" y="6019800"/>
            <a:ext cx="914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16856A"/>
                </a:solidFill>
                <a:latin typeface="Arial"/>
                <a:ea typeface="Arial"/>
                <a:cs typeface="Arial"/>
              </a:defRPr>
            </a:pPr>
            <a:r>
              <a:rPr sz="1650" b="1">
                <a:solidFill>
                  <a:srgbClr val="16856A"/>
                </a:solidFill>
                <a:latin typeface="Arial"/>
                <a:ea typeface="Arial"/>
                <a:cs typeface="Arial"/>
              </a:rPr>
              <a:t>Recommended rule: use the application for changes and DB Browser for inspection.</a:t>
            </a:r>
          </a:p>
        </p:txBody>
      </p:sp>
    </p:spTree>
    <p:extLst>
      <p:ext uri="{BB962C8B-B14F-4D97-AF65-F5344CB8AC3E}">
        <p14:creationId xmlns:p14="http://schemas.microsoft.com/office/powerpoint/2010/main" val="920843026"/>
      </p:ext>
    </p:extLst>
  </p:cSld>
</p:sld>
</file>

<file path=ppt/slides/slide14.xml><?xml version="1.0" encoding="utf-8"?>
<p:sld xmlns:p="http://schemas.openxmlformats.org/presentationml/2006/main">
  <p:cSld>
    <p:bg>
      <p:bgPr>
        <a:solidFill xmlns:a="http://schemas.openxmlformats.org/drawingml/2006/main">
          <a:srgbClr val="18254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A4D2B4-BEB8-467A-9010-B582158F7F56}"/>
              </a:ext>
            </a:extLst>
          </p:cNvPr>
          <p:cNvSpPr>
            <a:spLocks xmlns:a="http://schemas.openxmlformats.org/drawingml/2006/main" noGrp="1"/>
          </p:cNvSpPr>
          <p:nvPr/>
        </p:nvSpPr>
        <p:spPr>
          <a:xfrm xmlns:a="http://schemas.openxmlformats.org/drawingml/2006/main">
            <a:off x="666750" y="552450"/>
            <a:ext cx="904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Business value and next steps</a:t>
            </a:r>
          </a:p>
        </p:txBody>
      </p:sp>
      <p:sp>
        <p:nvSpPr>
          <p:cNvPr id="2" name="">
            <a:extLst xmlns:a="http://schemas.openxmlformats.org/drawingml/2006/main">
              <a:ext uri="{FF2B5EF4-FFF2-40B4-BE49-F238E27FC236}">
                <a16:creationId xmlns:a16="http://schemas.microsoft.com/office/drawing/2014/main" id="{38CD07ED-8C6A-437B-AF53-F81B08BE6E15}"/>
              </a:ext>
            </a:extLst>
          </p:cNvPr>
          <p:cNvSpPr>
            <a:spLocks xmlns:a="http://schemas.openxmlformats.org/drawingml/2006/main" noGrp="1"/>
          </p:cNvSpPr>
          <p:nvPr/>
        </p:nvSpPr>
        <p:spPr>
          <a:xfrm xmlns:a="http://schemas.openxmlformats.org/drawingml/2006/main">
            <a:off x="666750" y="1333500"/>
            <a:ext cx="10858500" cy="19050"/>
          </a:xfrm>
          <a:prstGeom xmlns:a="http://schemas.openxmlformats.org/drawingml/2006/main" prst="rect">
            <a:avLst/>
          </a:prstGeom>
          <a:solidFill xmlns:a="http://schemas.openxmlformats.org/drawingml/2006/main">
            <a:srgbClr val="41547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0760DE-D9FA-4F29-978F-2887230EEDC9}"/>
              </a:ext>
            </a:extLst>
          </p:cNvPr>
          <p:cNvSpPr>
            <a:spLocks xmlns:a="http://schemas.openxmlformats.org/drawingml/2006/main" noGrp="1"/>
          </p:cNvSpPr>
          <p:nvPr/>
        </p:nvSpPr>
        <p:spPr>
          <a:xfrm xmlns:a="http://schemas.openxmlformats.org/drawingml/2006/main">
            <a:off x="666750" y="1790700"/>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AFC3FF"/>
                </a:solidFill>
                <a:latin typeface="Arial"/>
                <a:ea typeface="Arial"/>
                <a:cs typeface="Arial"/>
              </a:defRPr>
            </a:pPr>
            <a:r>
              <a:rPr sz="2250" b="1">
                <a:solidFill>
                  <a:srgbClr val="AFC3FF"/>
                </a:solidFill>
                <a:latin typeface="Arial"/>
                <a:ea typeface="Arial"/>
                <a:cs typeface="Arial"/>
              </a:rPr>
              <a:t>Business value</a:t>
            </a:r>
          </a:p>
        </p:txBody>
      </p:sp>
      <p:sp>
        <p:nvSpPr>
          <p:cNvPr id="4" name="">
            <a:extLst xmlns:a="http://schemas.openxmlformats.org/drawingml/2006/main">
              <a:ext uri="{FF2B5EF4-FFF2-40B4-BE49-F238E27FC236}">
                <a16:creationId xmlns:a16="http://schemas.microsoft.com/office/drawing/2014/main" id="{B2126BDD-1906-4A19-856C-95BF4B1BE2E7}"/>
              </a:ext>
            </a:extLst>
          </p:cNvPr>
          <p:cNvSpPr>
            <a:spLocks xmlns:a="http://schemas.openxmlformats.org/drawingml/2006/main" noGrp="1"/>
          </p:cNvSpPr>
          <p:nvPr/>
        </p:nvSpPr>
        <p:spPr>
          <a:xfrm xmlns:a="http://schemas.openxmlformats.org/drawingml/2006/main">
            <a:off x="666750" y="240030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Faster preparation for brand review meetings.</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Comparable scores across the full portfolio.</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Clear ownership and visible assessment status.</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Reusable data for analysis and reporting.</a:t>
            </a:r>
          </a:p>
        </p:txBody>
      </p:sp>
      <p:sp>
        <p:nvSpPr>
          <p:cNvPr id="5" name="">
            <a:extLst xmlns:a="http://schemas.openxmlformats.org/drawingml/2006/main">
              <a:ext uri="{FF2B5EF4-FFF2-40B4-BE49-F238E27FC236}">
                <a16:creationId xmlns:a16="http://schemas.microsoft.com/office/drawing/2014/main" id="{1794A754-7DA0-4295-B35C-8458EA719708}"/>
              </a:ext>
            </a:extLst>
          </p:cNvPr>
          <p:cNvSpPr>
            <a:spLocks xmlns:a="http://schemas.openxmlformats.org/drawingml/2006/main" noGrp="1"/>
          </p:cNvSpPr>
          <p:nvPr/>
        </p:nvSpPr>
        <p:spPr>
          <a:xfrm xmlns:a="http://schemas.openxmlformats.org/drawingml/2006/main">
            <a:off x="5943600" y="1714500"/>
            <a:ext cx="19050" cy="3714750"/>
          </a:xfrm>
          <a:prstGeom xmlns:a="http://schemas.openxmlformats.org/drawingml/2006/main" prst="rect">
            <a:avLst/>
          </a:prstGeom>
          <a:solidFill xmlns:a="http://schemas.openxmlformats.org/drawingml/2006/main">
            <a:srgbClr val="41547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3D72832-8291-429F-B356-3CFED1688DEB}"/>
              </a:ext>
            </a:extLst>
          </p:cNvPr>
          <p:cNvSpPr>
            <a:spLocks xmlns:a="http://schemas.openxmlformats.org/drawingml/2006/main" noGrp="1"/>
          </p:cNvSpPr>
          <p:nvPr/>
        </p:nvSpPr>
        <p:spPr>
          <a:xfrm xmlns:a="http://schemas.openxmlformats.org/drawingml/2006/main">
            <a:off x="6477000" y="1790700"/>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AFC3FF"/>
                </a:solidFill>
                <a:latin typeface="Arial"/>
                <a:ea typeface="Arial"/>
                <a:cs typeface="Arial"/>
              </a:defRPr>
            </a:pPr>
            <a:r>
              <a:rPr sz="2250" b="1">
                <a:solidFill>
                  <a:srgbClr val="AFC3FF"/>
                </a:solidFill>
                <a:latin typeface="Arial"/>
                <a:ea typeface="Arial"/>
                <a:cs typeface="Arial"/>
              </a:rPr>
              <a:t>Suggested next steps</a:t>
            </a:r>
          </a:p>
        </p:txBody>
      </p:sp>
      <p:sp>
        <p:nvSpPr>
          <p:cNvPr id="7" name="">
            <a:extLst xmlns:a="http://schemas.openxmlformats.org/drawingml/2006/main">
              <a:ext uri="{FF2B5EF4-FFF2-40B4-BE49-F238E27FC236}">
                <a16:creationId xmlns:a16="http://schemas.microsoft.com/office/drawing/2014/main" id="{228133B0-5214-4C53-A8C4-B26C973B84F0}"/>
              </a:ext>
            </a:extLst>
          </p:cNvPr>
          <p:cNvSpPr>
            <a:spLocks xmlns:a="http://schemas.openxmlformats.org/drawingml/2006/main" noGrp="1"/>
          </p:cNvSpPr>
          <p:nvPr/>
        </p:nvSpPr>
        <p:spPr>
          <a:xfrm xmlns:a="http://schemas.openxmlformats.org/drawingml/2006/main">
            <a:off x="6477000" y="240030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Confirm the users and their access needs.</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Choose a shared deployment for the commercial team.</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Agree on a regular review and backup cycle.</a:t>
            </a:r>
          </a:p>
          <a:p xmlns:a="http://schemas.openxmlformats.org/drawingml/2006/main">
            <a:pPr marL="228600" indent="-114300">
              <a:spcAft>
                <a:spcPts val="1200"/>
              </a:spcAft>
              <a:buChar char="•"/>
              <a:defRPr sz="1725">
                <a:solidFill>
                  <a:srgbClr val="FFFFFF"/>
                </a:solidFill>
                <a:latin typeface="Arial"/>
                <a:ea typeface="Arial"/>
                <a:cs typeface="Arial"/>
              </a:defRPr>
            </a:pPr>
            <a:r>
              <a:rPr sz="1725">
                <a:solidFill>
                  <a:srgbClr val="FFFFFF"/>
                </a:solidFill>
                <a:latin typeface="Arial"/>
                <a:ea typeface="Arial"/>
                <a:cs typeface="Arial"/>
              </a:rPr>
              <a:t>Train users with a small set of real brands.</a:t>
            </a:r>
          </a:p>
        </p:txBody>
      </p:sp>
      <p:sp>
        <p:nvSpPr>
          <p:cNvPr id="8" name="">
            <a:extLst xmlns:a="http://schemas.openxmlformats.org/drawingml/2006/main">
              <a:ext uri="{FF2B5EF4-FFF2-40B4-BE49-F238E27FC236}">
                <a16:creationId xmlns:a16="http://schemas.microsoft.com/office/drawing/2014/main" id="{2744AF18-980F-49EB-92F4-C114EF8A78C5}"/>
              </a:ext>
            </a:extLst>
          </p:cNvPr>
          <p:cNvSpPr>
            <a:spLocks xmlns:a="http://schemas.openxmlformats.org/drawingml/2006/main" noGrp="1"/>
          </p:cNvSpPr>
          <p:nvPr/>
        </p:nvSpPr>
        <p:spPr>
          <a:xfrm xmlns:a="http://schemas.openxmlformats.org/drawingml/2006/main">
            <a:off x="666750" y="5857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The result is one consistent process from assessment to decision.</a:t>
            </a:r>
          </a:p>
        </p:txBody>
      </p:sp>
    </p:spTree>
    <p:extLst>
      <p:ext uri="{BB962C8B-B14F-4D97-AF65-F5344CB8AC3E}">
        <p14:creationId xmlns:p14="http://schemas.microsoft.com/office/powerpoint/2010/main" val="2043181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80975" dist="69343" dir="4443276">
              <a:srgbClr val="182541">
                <a:alpha val="1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2026-09-17T12:51:07.7740000Z</dcterms:created>
  <dcterms:modified xsi:type="dcterms:W3CDTF">2026-09-17T12:51:07.7740000Z</dcterms:modified>
</coreProperties>
</file>